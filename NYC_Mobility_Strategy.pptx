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Entries</c:v>
                </c:pt>
              </c:strCache>
            </c:strRef>
          </c:tx>
          <c:spPr>
            <a:solidFill>
              <a:srgbClr val="B8B8B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dPt>
            <c:idx val="0"/>
            <c:invertIfNegative val="0"/>
            <c:bubble3D val="0"/>
            <c:spPr>
              <a:solidFill>
                <a:srgbClr val="B8B8B8"/>
              </a:solidFill>
              <a:effectLst/>
            </c:spPr>
          </c:dPt>
          <c:dPt>
            <c:idx val="1"/>
            <c:invertIfNegative val="0"/>
            <c:bubble3D val="0"/>
            <c:spPr>
              <a:solidFill>
                <a:srgbClr val="2B2B2B"/>
              </a:solidFill>
              <a:effectLst/>
            </c:spPr>
          </c:dPt>
          <c:cat>
            <c:multiLvlStrRef>
              <c:f>Sheet1!$A$2:$A$3</c:f>
              <c:multiLvlStrCache>
                <c:ptCount val="2"/>
                <c:lvl>
                  <c:pt idx="0">
                    <c:v>Before tolling: about 600,000</c:v>
                  </c:pt>
                  <c:pt idx="1">
                    <c:v>After tolling: about 533,000</c:v>
                  </c:pt>
                </c:lvl>
              </c:multiLvlStrCache>
            </c:multiLvlStrRef>
          </c:cat>
          <c:val>
            <c:numRef>
              <c:f>Sheet1!$B$2:$B$3</c:f>
              <c:numCache>
                <c:formatCode>General</c:formatCode>
                <c:ptCount val="2"/>
                <c:pt idx="0">
                  <c:v>600000</c:v>
                </c:pt>
                <c:pt idx="1">
                  <c:v>533000</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8000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highlight</c:v>
                </c:pt>
              </c:strCache>
            </c:strRef>
          </c:tx>
          <c:spPr>
            <a:solidFill>
              <a:srgbClr val="2B2B2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Brooklyn  389,000</c:v>
                  </c:pt>
                  <c:pt idx="1">
                    <c:v>Queens  265,000</c:v>
                  </c:pt>
                  <c:pt idx="2">
                    <c:v>Bronx  138,000</c:v>
                  </c:pt>
                  <c:pt idx="3">
                    <c:v>Staten Island  47,000</c:v>
                  </c:pt>
                </c:lvl>
              </c:multiLvlStrCache>
            </c:multiLvlStrRef>
          </c:cat>
          <c:val>
            <c:numRef>
              <c:f>Sheet1!$B$2:$B$5</c:f>
              <c:numCache>
                <c:formatCode>General</c:formatCode>
                <c:ptCount val="4"/>
                <c:pt idx="0">
                  <c:v>389274</c:v>
                </c:pt>
                <c:pt idx="1">
                  <c:v>264568</c:v>
                </c:pt>
                <c:pt idx="2">
                  <c:v>0</c:v>
                </c:pt>
                <c:pt idx="3">
                  <c:v>0</c:v>
                </c:pt>
              </c:numCache>
            </c:numRef>
          </c:val>
        </c:ser>
        <c:ser>
          <c:idx val="1"/>
          <c:order val="1"/>
          <c:tx>
            <c:strRef>
              <c:f>Sheet1!$C$1</c:f>
              <c:strCache>
                <c:ptCount val="1"/>
                <c:pt idx="0">
                  <c:v>other</c:v>
                </c:pt>
              </c:strCache>
            </c:strRef>
          </c:tx>
          <c:spPr>
            <a:solidFill>
              <a:srgbClr val="B8B8B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Brooklyn  389,000</c:v>
                  </c:pt>
                  <c:pt idx="1">
                    <c:v>Queens  265,000</c:v>
                  </c:pt>
                  <c:pt idx="2">
                    <c:v>Bronx  138,000</c:v>
                  </c:pt>
                  <c:pt idx="3">
                    <c:v>Staten Island  47,000</c:v>
                  </c:pt>
                </c:lvl>
              </c:multiLvlStrCache>
            </c:multiLvlStrRef>
          </c:cat>
          <c:val>
            <c:numRef>
              <c:f>Sheet1!$C$2:$C$5</c:f>
              <c:numCache>
                <c:formatCode>General</c:formatCode>
                <c:ptCount val="4"/>
                <c:pt idx="0">
                  <c:v>0</c:v>
                </c:pt>
                <c:pt idx="1">
                  <c:v>0</c:v>
                </c:pt>
                <c:pt idx="2">
                  <c:v>137519</c:v>
                </c:pt>
                <c:pt idx="3">
                  <c:v>46867</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highlight</c:v>
                </c:pt>
              </c:strCache>
            </c:strRef>
          </c:tx>
          <c:spPr>
            <a:solidFill>
              <a:srgbClr val="C8532A"/>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Bronx  102,000</c:v>
                  </c:pt>
                  <c:pt idx="1">
                    <c:v>Brooklyn  42,000</c:v>
                  </c:pt>
                  <c:pt idx="2">
                    <c:v>Queens  36,000</c:v>
                  </c:pt>
                  <c:pt idx="3">
                    <c:v>Staten Island  9,000</c:v>
                  </c:pt>
                </c:lvl>
              </c:multiLvlStrCache>
            </c:multiLvlStrRef>
          </c:cat>
          <c:val>
            <c:numRef>
              <c:f>Sheet1!$B$2:$B$5</c:f>
              <c:numCache>
                <c:formatCode>General</c:formatCode>
                <c:ptCount val="4"/>
                <c:pt idx="0">
                  <c:v>102489</c:v>
                </c:pt>
                <c:pt idx="1">
                  <c:v>0</c:v>
                </c:pt>
                <c:pt idx="2">
                  <c:v>0</c:v>
                </c:pt>
                <c:pt idx="3">
                  <c:v>0</c:v>
                </c:pt>
              </c:numCache>
            </c:numRef>
          </c:val>
        </c:ser>
        <c:ser>
          <c:idx val="1"/>
          <c:order val="1"/>
          <c:tx>
            <c:strRef>
              <c:f>Sheet1!$C$1</c:f>
              <c:strCache>
                <c:ptCount val="1"/>
                <c:pt idx="0">
                  <c:v>other</c:v>
                </c:pt>
              </c:strCache>
            </c:strRef>
          </c:tx>
          <c:spPr>
            <a:solidFill>
              <a:srgbClr val="B8B8B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Bronx  102,000</c:v>
                  </c:pt>
                  <c:pt idx="1">
                    <c:v>Brooklyn  42,000</c:v>
                  </c:pt>
                  <c:pt idx="2">
                    <c:v>Queens  36,000</c:v>
                  </c:pt>
                  <c:pt idx="3">
                    <c:v>Staten Island  9,000</c:v>
                  </c:pt>
                </c:lvl>
              </c:multiLvlStrCache>
            </c:multiLvlStrRef>
          </c:cat>
          <c:val>
            <c:numRef>
              <c:f>Sheet1!$C$2:$C$5</c:f>
              <c:numCache>
                <c:formatCode>General</c:formatCode>
                <c:ptCount val="4"/>
                <c:pt idx="0">
                  <c:v>0</c:v>
                </c:pt>
                <c:pt idx="1">
                  <c:v>42408</c:v>
                </c:pt>
                <c:pt idx="2">
                  <c:v>36439</c:v>
                </c:pt>
                <c:pt idx="3">
                  <c:v>8901</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Walking and transfers</c:v>
                </c:pt>
              </c:strCache>
            </c:strRef>
          </c:tx>
          <c:spPr>
            <a:solidFill>
              <a:srgbClr val="C8532A"/>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Sheet1!$B$2:$B$4</c:f>
              <c:numCache>
                <c:formatCode>General</c:formatCode>
                <c:ptCount val="3"/>
                <c:pt idx="0">
                  <c:v>17.7</c:v>
                </c:pt>
                <c:pt idx="1">
                  <c:v>18.9</c:v>
                </c:pt>
                <c:pt idx="2">
                  <c:v>8.4</c:v>
                </c:pt>
              </c:numCache>
            </c:numRef>
          </c:val>
        </c:ser>
        <c:ser>
          <c:idx val="1"/>
          <c:order val="1"/>
          <c:tx>
            <c:strRef>
              <c:f>Sheet1!$C$1</c:f>
              <c:strCache>
                <c:ptCount val="1"/>
                <c:pt idx="0">
                  <c:v>Waiting</c:v>
                </c:pt>
              </c:strCache>
            </c:strRef>
          </c:tx>
          <c:spPr>
            <a:solidFill>
              <a:srgbClr val="6B3A22"/>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Sheet1!$C$2:$C$4</c:f>
              <c:numCache>
                <c:formatCode>General</c:formatCode>
                <c:ptCount val="3"/>
                <c:pt idx="0">
                  <c:v>2.5</c:v>
                </c:pt>
                <c:pt idx="1">
                  <c:v>3.5</c:v>
                </c:pt>
                <c:pt idx="2">
                  <c:v>4.3</c:v>
                </c:pt>
              </c:numCache>
            </c:numRef>
          </c:val>
        </c:ser>
        <c:ser>
          <c:idx val="2"/>
          <c:order val="2"/>
          <c:tx>
            <c:strRef>
              <c:f>Sheet1!$D$1</c:f>
              <c:strCache>
                <c:ptCount val="1"/>
                <c:pt idx="0">
                  <c:v>Bus</c:v>
                </c:pt>
              </c:strCache>
            </c:strRef>
          </c:tx>
          <c:spPr>
            <a:solidFill>
              <a:srgbClr val="8A8A8A"/>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Sheet1!$D$2:$D$4</c:f>
              <c:numCache>
                <c:formatCode>General</c:formatCode>
                <c:ptCount val="3"/>
                <c:pt idx="0">
                  <c:v>6.9</c:v>
                </c:pt>
                <c:pt idx="1">
                  <c:v>0</c:v>
                </c:pt>
                <c:pt idx="2">
                  <c:v>16</c:v>
                </c:pt>
              </c:numCache>
            </c:numRef>
          </c:val>
        </c:ser>
        <c:ser>
          <c:idx val="3"/>
          <c:order val="3"/>
          <c:tx>
            <c:strRef>
              <c:f>Sheet1!$E$1</c:f>
              <c:strCache>
                <c:ptCount val="1"/>
                <c:pt idx="0">
                  <c:v>Commuter rail</c:v>
                </c:pt>
              </c:strCache>
            </c:strRef>
          </c:tx>
          <c:spPr>
            <a:solidFill>
              <a:srgbClr val="5C5C5C"/>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Sheet1!$E$2:$E$4</c:f>
              <c:numCache>
                <c:formatCode>General</c:formatCode>
                <c:ptCount val="3"/>
                <c:pt idx="0">
                  <c:v>0</c:v>
                </c:pt>
                <c:pt idx="1">
                  <c:v>27</c:v>
                </c:pt>
                <c:pt idx="2">
                  <c:v>0</c:v>
                </c:pt>
              </c:numCache>
            </c:numRef>
          </c:val>
        </c:ser>
        <c:ser>
          <c:idx val="4"/>
          <c:order val="4"/>
          <c:tx>
            <c:strRef>
              <c:f>Sheet1!$F$1</c:f>
              <c:strCache>
                <c:ptCount val="1"/>
                <c:pt idx="0">
                  <c:v>Subway</c:v>
                </c:pt>
              </c:strCache>
            </c:strRef>
          </c:tx>
          <c:spPr>
            <a:solidFill>
              <a:srgbClr val="2B2B2B"/>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Sheet1!$F$2:$F$4</c:f>
              <c:numCache>
                <c:formatCode>General</c:formatCode>
                <c:ptCount val="3"/>
                <c:pt idx="0">
                  <c:v>28.5</c:v>
                </c:pt>
                <c:pt idx="1">
                  <c:v>12.5</c:v>
                </c:pt>
                <c:pt idx="2">
                  <c:v>42.5</c:v>
                </c:pt>
              </c:numCache>
            </c:numRef>
          </c:val>
        </c:ser>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scaling>
        <c:delete val="0"/>
        <c:axPos val="b"/>
        <c:majorGridlines>
          <c:spPr>
            <a:ln w="9525"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majorUnit val="15"/>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ok</c:v>
                </c:pt>
              </c:strCache>
            </c:strRef>
          </c:tx>
          <c:spPr>
            <a:solidFill>
              <a:srgbClr val="2B2B2B"/>
            </a:solidFill>
            <a:effectLst/>
          </c:spPr>
          <c:invertIfNegative val="0"/>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Union Turnpike</c:v>
                  </c:pt>
                  <c:pt idx="1">
                    <c:v>Throggs Neck (spring 2025)</c:v>
                  </c:pt>
                  <c:pt idx="2">
                    <c:v>Corona</c:v>
                  </c:pt>
                  <c:pt idx="3">
                    <c:v>Metropolitan Avenue</c:v>
                  </c:pt>
                </c:lvl>
              </c:multiLvlStrCache>
            </c:multiLvlStrRef>
          </c:cat>
          <c:val>
            <c:numRef>
              <c:f>Sheet1!$B$2:$B$5</c:f>
              <c:numCache>
                <c:formatCode>General</c:formatCode>
                <c:ptCount val="4"/>
                <c:pt idx="0">
                  <c:v>11.43</c:v>
                </c:pt>
                <c:pt idx="1">
                  <c:v>0</c:v>
                </c:pt>
                <c:pt idx="2">
                  <c:v>7.84</c:v>
                </c:pt>
                <c:pt idx="3">
                  <c:v>7.59</c:v>
                </c:pt>
              </c:numCache>
            </c:numRef>
          </c:val>
        </c:ser>
        <c:ser>
          <c:idx val="1"/>
          <c:order val="1"/>
          <c:tx>
            <c:strRef>
              <c:f>Sheet1!$C$1</c:f>
              <c:strCache>
                <c:ptCount val="1"/>
                <c:pt idx="0">
                  <c:v>focus</c:v>
                </c:pt>
              </c:strCache>
            </c:strRef>
          </c:tx>
          <c:spPr>
            <a:solidFill>
              <a:srgbClr val="C8532A"/>
            </a:solidFill>
            <a:effectLst/>
          </c:spPr>
          <c:invertIfNegative val="0"/>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Union Turnpike</c:v>
                  </c:pt>
                  <c:pt idx="1">
                    <c:v>Throggs Neck (spring 2025)</c:v>
                  </c:pt>
                  <c:pt idx="2">
                    <c:v>Corona</c:v>
                  </c:pt>
                  <c:pt idx="3">
                    <c:v>Metropolitan Avenue</c:v>
                  </c:pt>
                </c:lvl>
              </c:multiLvlStrCache>
            </c:multiLvlStrRef>
          </c:cat>
          <c:val>
            <c:numRef>
              <c:f>Sheet1!$C$2:$C$5</c:f>
              <c:numCache>
                <c:formatCode>General</c:formatCode>
                <c:ptCount val="4"/>
                <c:pt idx="0">
                  <c:v>0</c:v>
                </c:pt>
                <c:pt idx="1">
                  <c:v>7.92</c:v>
                </c:pt>
                <c:pt idx="2">
                  <c:v>0</c:v>
                </c:pt>
                <c:pt idx="3">
                  <c:v>0</c:v>
                </c:pt>
              </c:numCache>
            </c:numRef>
          </c:val>
        </c:ser>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ok</c:v>
                </c:pt>
              </c:strCache>
            </c:strRef>
          </c:tx>
          <c:spPr>
            <a:solidFill>
              <a:srgbClr val="2B2B2B"/>
            </a:solidFill>
            <a:effectLst/>
          </c:spPr>
          <c:invertIfNegative val="0"/>
          <c:dLbls>
            <c:numFmt formatCode="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Union Turnpike</c:v>
                  </c:pt>
                  <c:pt idx="1">
                    <c:v>Fresh Meadows</c:v>
                  </c:pt>
                  <c:pt idx="2">
                    <c:v>Throggs Neck</c:v>
                  </c:pt>
                  <c:pt idx="3">
                    <c:v>Corona</c:v>
                  </c:pt>
                </c:lvl>
              </c:multiLvlStrCache>
            </c:multiLvlStrRef>
          </c:cat>
          <c:val>
            <c:numRef>
              <c:f>Sheet1!$B$2:$B$5</c:f>
              <c:numCache>
                <c:formatCode>General</c:formatCode>
                <c:ptCount val="4"/>
                <c:pt idx="0">
                  <c:v>79.9</c:v>
                </c:pt>
                <c:pt idx="1">
                  <c:v>70.1</c:v>
                </c:pt>
                <c:pt idx="2">
                  <c:v>0</c:v>
                </c:pt>
                <c:pt idx="3">
                  <c:v>0</c:v>
                </c:pt>
              </c:numCache>
            </c:numRef>
          </c:val>
        </c:ser>
        <c:ser>
          <c:idx val="1"/>
          <c:order val="1"/>
          <c:tx>
            <c:strRef>
              <c:f>Sheet1!$C$1</c:f>
              <c:strCache>
                <c:ptCount val="1"/>
                <c:pt idx="0">
                  <c:v>below</c:v>
                </c:pt>
              </c:strCache>
            </c:strRef>
          </c:tx>
          <c:spPr>
            <a:solidFill>
              <a:srgbClr val="C8532A"/>
            </a:solidFill>
            <a:effectLst/>
          </c:spPr>
          <c:invertIfNegative val="0"/>
          <c:dLbls>
            <c:numFmt formatCode="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Union Turnpike</c:v>
                  </c:pt>
                  <c:pt idx="1">
                    <c:v>Fresh Meadows</c:v>
                  </c:pt>
                  <c:pt idx="2">
                    <c:v>Throggs Neck</c:v>
                  </c:pt>
                  <c:pt idx="3">
                    <c:v>Corona</c:v>
                  </c:pt>
                </c:lvl>
              </c:multiLvlStrCache>
            </c:multiLvlStrRef>
          </c:cat>
          <c:val>
            <c:numRef>
              <c:f>Sheet1!$C$2:$C$5</c:f>
              <c:numCache>
                <c:formatCode>General</c:formatCode>
                <c:ptCount val="4"/>
                <c:pt idx="0">
                  <c:v>0</c:v>
                </c:pt>
                <c:pt idx="1">
                  <c:v>0</c:v>
                </c:pt>
                <c:pt idx="2">
                  <c:v>67.1</c:v>
                </c:pt>
                <c:pt idx="3">
                  <c:v>66.3</c:v>
                </c:pt>
              </c:numCache>
            </c:numRef>
          </c:val>
        </c:ser>
        <c:dLbls>
          <c:numFmt formatCode="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 (estimated)</c:v>
                </c:pt>
              </c:strCache>
            </c:strRef>
          </c:tx>
          <c:spPr>
            <a:solidFill>
              <a:srgbClr val="B8B8B8"/>
            </a:solidFill>
            <a:effectLst/>
          </c:spPr>
          <c:invertIfNegative val="0"/>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Hillcrest</c:v>
                  </c:pt>
                  <c:pt idx="1">
                    <c:v>Utopia Parkway</c:v>
                  </c:pt>
                  <c:pt idx="2">
                    <c:v>188th Street</c:v>
                  </c:pt>
                  <c:pt idx="3">
                    <c:v>Cunningham Park</c:v>
                  </c:pt>
                  <c:pt idx="4">
                    <c:v>Oakland Gardens</c:v>
                  </c:pt>
                  <c:pt idx="5">
                    <c:v>Glen Oaks</c:v>
                  </c:pt>
                </c:lvl>
              </c:multiLvlStrCache>
            </c:multiLvlStrRef>
          </c:cat>
          <c:val>
            <c:numRef>
              <c:f>Sheet1!$B$2:$B$7</c:f>
              <c:numCache>
                <c:formatCode>General</c:formatCode>
                <c:ptCount val="6"/>
                <c:pt idx="0">
                  <c:v>52.3</c:v>
                </c:pt>
                <c:pt idx="1">
                  <c:v>55.3</c:v>
                </c:pt>
                <c:pt idx="2">
                  <c:v>59.9</c:v>
                </c:pt>
                <c:pt idx="3">
                  <c:v>63.7</c:v>
                </c:pt>
                <c:pt idx="4">
                  <c:v>70</c:v>
                </c:pt>
                <c:pt idx="5">
                  <c:v>82</c:v>
                </c:pt>
              </c:numCache>
            </c:numRef>
          </c:val>
        </c:ser>
        <c:ser>
          <c:idx val="1"/>
          <c:order val="1"/>
          <c:tx>
            <c:strRef>
              <c:f>Sheet1!$C$1</c:f>
              <c:strCache>
                <c:ptCount val="1"/>
                <c:pt idx="0">
                  <c:v>With a faster bus and an easier transfer</c:v>
                </c:pt>
              </c:strCache>
            </c:strRef>
          </c:tx>
          <c:spPr>
            <a:solidFill>
              <a:srgbClr val="C8532A"/>
            </a:solidFill>
            <a:effectLst/>
          </c:spPr>
          <c:invertIfNegative val="0"/>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Hillcrest</c:v>
                  </c:pt>
                  <c:pt idx="1">
                    <c:v>Utopia Parkway</c:v>
                  </c:pt>
                  <c:pt idx="2">
                    <c:v>188th Street</c:v>
                  </c:pt>
                  <c:pt idx="3">
                    <c:v>Cunningham Park</c:v>
                  </c:pt>
                  <c:pt idx="4">
                    <c:v>Oakland Gardens</c:v>
                  </c:pt>
                  <c:pt idx="5">
                    <c:v>Glen Oaks</c:v>
                  </c:pt>
                </c:lvl>
              </c:multiLvlStrCache>
            </c:multiLvlStrRef>
          </c:cat>
          <c:val>
            <c:numRef>
              <c:f>Sheet1!$C$2:$C$7</c:f>
              <c:numCache>
                <c:formatCode>General</c:formatCode>
                <c:ptCount val="6"/>
                <c:pt idx="0">
                  <c:v>46.1</c:v>
                </c:pt>
                <c:pt idx="1">
                  <c:v>48.3</c:v>
                </c:pt>
                <c:pt idx="2">
                  <c:v>52</c:v>
                </c:pt>
                <c:pt idx="3">
                  <c:v>55</c:v>
                </c:pt>
                <c:pt idx="4">
                  <c:v>60.1</c:v>
                </c:pt>
                <c:pt idx="5">
                  <c:v>69.5</c:v>
                </c:pt>
              </c:numCache>
            </c:numRef>
          </c:val>
        </c:ser>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5"/>
          <c:min val="0"/>
        </c:scaling>
        <c:delete val="0"/>
        <c:axPos val="b"/>
        <c:majorGridlines>
          <c:spPr>
            <a:ln w="9525"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briefing: show what congestion pricing has changed, where outer-borough transit still falls short, and ask for a decision on a phased pilot. Reading order: each slide ends with a line that leads into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as the whole argument. What has happened: pricing reduced traffic without causing citywide gridlock. What is still wrong: outer-borough transit trips are long, mostly because of walking, waiting and transfers, and the local bus in Throggs Neck (Bx8) is slow and below the on-time target. Central question (can pricing achieve more mode shift if transit improves?): yes where transit removes a real barrier, but the size cannot be estimated from current data; earlier project mode-shift estimates were withdrawn because no calibrated choice model exists, so the pilot must measure it against an unchanged control road. What we recommend: start in Eastern Queens, where residents work in the zone and we have trip results for the corridors. Abbreviations: MTA = Metropolitan Transportation Authority; NYC DOT = New York City Department of Transportation. Data: Census LODES 2023 (jobs), ACS 2018-2022 (commuting), OpenTripPlanner (trip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Each section answers one question, and each slide ends with a line that leads into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comparison is rounded: about 600,000 entries a day before tolling and 533,000 after, a fall of about 67,000 or 11 percent. The map shows the official zone and the 12 crossings, sized by 2025 weekday entries. Crossing counts come from a separate detection dataset (NY Open Data t6yz-b64h) and should not be subtracted from the official numbers. FDR Drive = Franklin D. Roosevelt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shows where the 1.24 million NYC residents who work in the zone live; the darkest tracts send more than 1,000 workers each. Jobs show where workers live; they do not show who drives. Car-driver trips per day: Bronx 102,489 (25.6 percent mode share), Brooklyn 42,408, Queens 36,439, Staten Island 8,901. Jobs source: Census LEHD LODES 2023. Zone jobs held by NYC residents total 1,239,262: Brooklyn 389,274, Queens 264,568, Bronx 137,519, Staten Island 46,867, Manhattan 401,034. Brooklyn plus Queens = 653,842 (52.8%).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Census tracts used. Eastern Queens (7): 36081137700, 36081126700, 36081134701, 36081134702, 36081141700, 36081044400, 36081157902. East Bronx (4): 36005013000, 36005013200, 36005011800, 36005016000. Southeast Queens (3): 36081062000, 36081063800, 36081065600. Cunningham Park (36081134700, a 2010 tract) split into 36081134701 (395 jobs) and 36081134702 (376 jobs) in 2020. Shares are of 9,457, 4,998 and 2,387 resident workers. Example trips: Fresh Meadows to Midtown East (trip M01), Rosedale to Lower Manhattan (M02), Throggs Neck to Grand Central (M07). Rosedale fares: Long Island Rail Road $5 to $7 plus $2.90 subway. Staten Island is not included: the project found its gap is structural (no rail link across the harbour, reliance on express buses and the ferry), which bus priority or feeder fixes cannot solve. Of the 14 tracts, 3 East Bronx tracts pass the project screen (at least 310 zone jobs and at least 50 percent drive alone). Selection: the tracts surround the three corridors with verified trip-planner results (Fresh Meadows and Union Turnpike, Throggs Neck, Rosedale); no Brooklyn area is included because the Brooklyn test trip (Mill Basin) did not go to the zone. Weighted drive-alone rates: Eastern Queens 41.5%, East Bronx 57.0%, Southeast Queens 52.2%.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and subway legs are fast; the time is lost getting to the stop, waiting and changing. Walking is 31.8 percent of the Fresh Meadows trip. At Rosedale the Long Island Rail Road covers 14 miles in 27 minutes, then an 8.5-minute outdoor walk between the two Nostrand Avenue stations and a second fare ($5 to $7 plus $2.90 subway). Trip IDs: M01 Fresh Meadows, M02 Rosedale, M07 Throggs Neck. The bus on Crosby Avenue is the Bx8; the Fresh Meadows bus is the Q30. Model: OpenTripPlanner v2; file OTP_VERIFIED_10_OD_ITINERARIES.csv.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 codes. Fresh Meadows bus = Q30. Throggs Neck bus = Bx8. Union Turnpike bus = Q46. Corona bus = Q58. Metropolitan Avenue bus = Q54. Speeds: Q46 11.43, Q58 7.84, Q54 7.59 mph (NY Open Data kufs-yh3x, August 2026, 7 to 9 a.m.); Bx8 7.92 mph trip-weighted, 7 to 10 a.m., March to June 2025 (mta_bus_segment_speeds_2025.csv), a different period, so compare with care. Q30 has no speed record in either file. Peak wait assessment, August 2026 (mta_bus_aug2026_wait_assessment.csv): Q46 79.9 percent, Q30 70.1 percent, Bx8 67.1 percent; Q58 66.3 percent from the 29-route table. Off-peak: Q46 89.5, Q30 79.1, Bx8 70.9 percent. Neither the Q30 nor the Bx8 is in the 29-route monitored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per place. Fresh Meadows: 17.7 of 55.6 minutes is walking; the bus ride (Q30) is only 6.9 minutes. Fix covers Utopia Parkway and 188th Street between 73rd Avenue and Union Turnpike, plus shelters with live arrival clocks and timing buses to meet the F train at 169th Street. Union Turnpike: the what-if test saves 6.2 to 12.5 minutes on the Q46 bus; also tap-to-pay readers at the 5 busiest stops. Throggs Neck: 57 percent drive alone; the Bx8 bus averaged 7.9 mph (March to June 2025) and was on time 67 percent of the time at peak (August 2026); the lane would be on Crosby Avenue approaching Buhre Avenue, plus a sheltered transfer there. Rosedale: an 8.5-minute outdoor walk between the Nostrand Avenue stations and a second fare; also clear signs, lighting and lifts. Union Turnpike: in the what-if model the bus ride is 14 to 41 minutes of each 52 to 82 minute trip, plus an 8-minute transfer. Fresh Meadows has two routes: the Q30 north-south bus to the F train (slide 7) and the Q46 along Union Turnpike (slides 9 and 10). Toll revenue is limited by law to MTA capital projects (Public Authorities Law section 553-j). Model: Stage 5 scenario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Union Turnpike (Q46 bus): savings range from 6.2 minutes (Hillcrest, 11.9 percent) to 12.5 minutes (Glen Oaks, 15.2 percent), average 8.7 minutes or 13.5 percent; trips still take 46 to 70 minutes. Method: bus ride divided by 1.30, plus 3.0 minutes off the 8-minute transfer (stage5_od_scenario_results.csv). Throggs Neck (Bx8 bus, trip M07): the same 30 percent speed-up applied to the 16.0-minute bus ride gives 12.3 minutes, a saving of 3.7 minutes, so 71.2 becomes 67.5 minutes (5.2 percent). No transfer saving is applied because the bus-to-train change at Buhre Avenue is a 3.1-minute walk; even with a 3-minute saving added, the total would be about 6.7 minutes (9 percent). This is simple arithmetic on one trip, not a model run, and the Bx8 speed is from March to June 2025. Rosedale is not tested because its barrier is the outdoor transfer and second fare, not bus speed. Neither test estimates how many drivers would switch; the project withdrew earlier mode-shift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success measures: door-to-door time, ridership, car entries into the zone, net emissions, and change against an untreated comparison road such as Hillside Avenue. Interborough Express = a planned rail line between Brooklyn and Queens. MTA Bus = the MTA's bus operating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first decision unlocks the Eastern Queens pilot. The second puts the Fresh Meadows bus (Q30, no speed record) and the Throggs Neck bus (Bx8, last measured in spring 2025) into regular tracking before work in the Bronx. The third fixes the yardstick in advance so results can be judged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change minus 0.37 mph (minus 1.0 percent); mean minus 0.88 mph. BQE = Brooklyn-Queens Expressway; segment 4616229 southbound fell from 42.23 to 21.53 mph while state deck repairs were under way; the speed data alone cannot show the cause. Dataset: NYC DOT traffic speeds, Socrata i4gi-tjb9. Data check: 8.4 million readings carried only two status codes, and valid readings had no zero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B2B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9601200" cy="1645920"/>
          </a:xfrm>
          <a:prstGeom prst="rect">
            <a:avLst/>
          </a:prstGeom>
          <a:noFill/>
          <a:ln/>
        </p:spPr>
        <p:txBody>
          <a:bodyPr wrap="square" rtlCol="0"/>
          <a:lstStyle>
            <a:lvl1pPr algn="l" indent="0" marL="0">
              <a:buNone/>
              <a:defRPr lang="en-US" sz="3600" b="1" dirty="0">
                <a:solidFill>
                  <a:schemeClr val="bg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3" name="Text 0"/>
          <p:cNvSpPr/>
          <p:nvPr>
            <p:ph idx="101" type="body" hasCustomPrompt="1"/>
          </p:nvPr>
        </p:nvSpPr>
        <p:spPr>
          <a:xfrm>
            <a:off x="548640" y="3840480"/>
            <a:ext cx="9601200" cy="822960"/>
          </a:xfrm>
          <a:prstGeom prst="rect">
            <a:avLst/>
          </a:prstGeom>
          <a:noFill/>
          <a:ln/>
        </p:spPr>
        <p:txBody>
          <a:bodyPr wrap="square" rtlCol="0"/>
          <a:lstStyle>
            <a:lvl1pPr algn="l" indent="0" marL="0">
              <a:buNone/>
              <a:defRPr lang="en-US" sz="1800" dirty="0">
                <a:solidFill>
                  <a:srgbClr val="D9D9D9"/>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rtlCol="0"/>
          <a:lstStyle>
            <a:lvl1pPr algn="l" indent="0" marL="0">
              <a:buNone/>
              <a:defRPr lang="en-US" sz="2400" b="1" dirty="0">
                <a:solidFill>
                  <a:schemeClr val="tx1"/>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saka07.github.io/nyc-mobility-atlas/"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saka07.github.io/nyc-mobility-atlas/Exhibit_1_Congestion_Pricing.html" TargetMode="External"/><Relationship Id="rId1" Type="http://schemas.openxmlformats.org/officeDocument/2006/relationships/chart" Target="/ppt/charts/chart1.xml"/><Relationship Id="rId2" Type="http://schemas.openxmlformats.org/officeDocument/2006/relationships/image" Target="../media/image-4-1.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hyperlink" Target="https://saka07.github.io/nyc-mobility-atlas/Exhibit_3_Travel_Origins.html" TargetMode="External"/><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5-1.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saka07.github.io/nyc-mobility-atlas/Exhibit_3_Travel_Origins.html" TargetMode="External"/><Relationship Id="rId1"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saka07.github.io/nyc-mobility-atlas/Exhibit_4_Transit_Journeys.html" TargetMode="External"/><Relationship Id="rId1"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saka07.github.io/nyc-mobility-atlas/" TargetMode="External"/><Relationship Id="rId1" Type="http://schemas.openxmlformats.org/officeDocument/2006/relationships/chart" Target="/ppt/charts/chart5.xml"/><Relationship Id="rId2"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saka07.github.io/nyc-mobility-atlas/Exhibit_6_Government_Decision.html" TargetMode="Externa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saka07.github.io/nyc-mobility-atlas/Exhibit_5_Improvement_Scenarios.html" TargetMode="External"/><Relationship Id="rId1" Type="http://schemas.openxmlformats.org/officeDocument/2006/relationships/chart" Target="/ppt/charts/chart7.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saka07.github.io/nyc-mobility-atlas/Exhibit_6_Government_Decision.html" TargetMode="Externa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aka07.github.io/nyc-mobility-atlas/Exhibit_2_Highway_Speeds.html" TargetMode="External"/><Relationship Id="rId1" Type="http://schemas.openxmlformats.org/officeDocument/2006/relationships/image" Target="../media/image-13-1.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9601200" cy="1645920"/>
          </a:xfrm>
          <a:prstGeom prst="rect">
            <a:avLst/>
          </a:prstGeom>
          <a:noFill/>
          <a:ln/>
        </p:spPr>
        <p:txBody>
          <a:bodyPr wrap="square" lIns="0" tIns="0" rIns="0" bIns="0" rtlCol="0" anchor="b"/>
          <a:lstStyle/>
          <a:p>
            <a:pPr algn="l" indent="0" marL="0">
              <a:buNone/>
            </a:pPr>
            <a:r>
              <a:rPr lang="en-US" sz="3600" b="1" dirty="0">
                <a:solidFill>
                  <a:schemeClr val="bg1"/>
                </a:solidFill>
                <a:latin typeface="Arial" pitchFamily="34" charset="0"/>
                <a:ea typeface="Arial" pitchFamily="34" charset="-122"/>
                <a:cs typeface="Arial" pitchFamily="34" charset="-120"/>
              </a:rPr>
              <a:t>Congestion pricing is cutting traffic. Where should transit improve next?</a:t>
            </a:r>
            <a:endParaRPr lang="en-US" sz="3600" dirty="0"/>
          </a:p>
        </p:txBody>
      </p:sp>
      <p:sp>
        <p:nvSpPr>
          <p:cNvPr id="3" name="Text 0"/>
          <p:cNvSpPr/>
          <p:nvPr>
            <p:ph idx="101" type="body" hasCustomPrompt="1"/>
          </p:nvPr>
        </p:nvSpPr>
        <p:spPr>
          <a:xfrm>
            <a:off x="548640" y="3840480"/>
            <a:ext cx="9601200" cy="822960"/>
          </a:xfrm>
          <a:prstGeom prst="rect">
            <a:avLst/>
          </a:prstGeom>
          <a:noFill/>
          <a:ln/>
        </p:spPr>
        <p:txBody>
          <a:bodyPr wrap="square" lIns="0" tIns="0" rIns="0" bIns="0" rtlCol="0" anchor="t"/>
          <a:lstStyle/>
          <a:p>
            <a:pPr algn="l" indent="0" marL="0">
              <a:buNone/>
            </a:pPr>
            <a:r>
              <a:rPr lang="en-US" sz="1800" dirty="0">
                <a:solidFill>
                  <a:srgbClr val="D9D9D9"/>
                </a:solidFill>
              </a:rPr>
              <a:t>What the first six months show, and a step-by-step plan for outer-borough commuters</a:t>
            </a:r>
            <a:endParaRPr lang="en-US" sz="1800" dirty="0"/>
          </a:p>
        </p:txBody>
      </p:sp>
      <p:sp>
        <p:nvSpPr>
          <p:cNvPr id="4" name="Text 2"/>
          <p:cNvSpPr txBox="1"/>
          <p:nvPr/>
        </p:nvSpPr>
        <p:spPr>
          <a:xfrm>
            <a:off x="548640" y="6035040"/>
            <a:ext cx="7315200" cy="320040"/>
          </a:xfrm>
          <a:prstGeom prst="rect">
            <a:avLst/>
          </a:prstGeom>
          <a:noFill/>
          <a:ln/>
        </p:spPr>
        <p:txBody>
          <a:bodyPr wrap="square" lIns="0" tIns="0" rIns="0" bIns="0" rtlCol="0" anchor="ctr"/>
          <a:lstStyle/>
          <a:p>
            <a:pPr indent="0" marL="0">
              <a:buNone/>
            </a:pPr>
            <a:r>
              <a:rPr lang="en-US" sz="1200" dirty="0">
                <a:solidFill>
                  <a:srgbClr val="B8B8B8"/>
                </a:solidFill>
              </a:rPr>
              <a:t>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Better transit could move more people out of cars; we recommend testing it first in Eastern Queens</a:t>
            </a:r>
            <a:endParaRPr lang="en-US" sz="2400" dirty="0"/>
          </a:p>
        </p:txBody>
      </p:sp>
      <p:sp>
        <p:nvSpPr>
          <p:cNvPr id="3" name="rule"/>
          <p:cNvSpPr/>
          <p:nvPr/>
        </p:nvSpPr>
        <p:spPr>
          <a:xfrm>
            <a:off x="548640" y="1463040"/>
            <a:ext cx="11094415" cy="0"/>
          </a:xfrm>
          <a:prstGeom prst="line">
            <a:avLst/>
          </a:prstGeom>
          <a:noFill/>
          <a:ln w="9525">
            <a:solidFill>
              <a:srgbClr val="2B2B2B"/>
            </a:solidFill>
            <a:prstDash val="solid"/>
          </a:ln>
        </p:spPr>
      </p:sp>
      <p:sp>
        <p:nvSpPr>
          <p:cNvPr id="4" name="Text 2"/>
          <p:cNvSpPr txBox="1"/>
          <p:nvPr/>
        </p:nvSpPr>
        <p:spPr>
          <a:xfrm>
            <a:off x="548640" y="1572768"/>
            <a:ext cx="2103120" cy="457200"/>
          </a:xfrm>
          <a:prstGeom prst="rect">
            <a:avLst/>
          </a:prstGeom>
          <a:noFill/>
          <a:ln/>
        </p:spPr>
        <p:txBody>
          <a:bodyPr wrap="square" lIns="0" tIns="0" rIns="0" bIns="0" rtlCol="0" anchor="t"/>
          <a:lstStyle/>
          <a:p>
            <a:pPr indent="0" marL="0">
              <a:buNone/>
            </a:pPr>
            <a:r>
              <a:rPr lang="en-US" sz="1200" b="1" spc="100" kern="0" dirty="0">
                <a:solidFill>
                  <a:schemeClr val="accent2"/>
                </a:solidFill>
              </a:rPr>
              <a:t>WHAT HAS HAPPENED</a:t>
            </a:r>
            <a:endParaRPr lang="en-US" sz="1200" dirty="0"/>
          </a:p>
        </p:txBody>
      </p:sp>
      <p:sp>
        <p:nvSpPr>
          <p:cNvPr id="5" name="Text 3"/>
          <p:cNvSpPr txBox="1"/>
          <p:nvPr/>
        </p:nvSpPr>
        <p:spPr>
          <a:xfrm>
            <a:off x="2834640" y="1554480"/>
            <a:ext cx="8808415" cy="804672"/>
          </a:xfrm>
          <a:prstGeom prst="rect">
            <a:avLst/>
          </a:prstGeom>
          <a:noFill/>
          <a:ln/>
        </p:spPr>
        <p:txBody>
          <a:bodyPr wrap="square" lIns="0" tIns="0" rIns="0" bIns="0" rtlCol="0" anchor="t"/>
          <a:lstStyle/>
          <a:p>
            <a:pPr indent="0" marL="0">
              <a:buNone/>
            </a:pPr>
            <a:r>
              <a:rPr lang="en-US" sz="1400" b="1" dirty="0">
                <a:solidFill>
                  <a:schemeClr val="tx1"/>
                </a:solidFill>
              </a:rPr>
              <a:t>Congestion pricing is reducing traffic. </a:t>
            </a:r>
            <a:pPr indent="0" marL="0">
              <a:buNone/>
            </a:pPr>
            <a:r>
              <a:rPr lang="en-US" sz="1400" dirty="0">
                <a:solidFill>
                  <a:schemeClr val="tx1"/>
                </a:solidFill>
              </a:rPr>
              <a:t>About 67,000 fewer vehicles a day (11% fewer) entered the congestion zone in the first six months. Highway speeds across the city changed by less than half a mile an hour.</a:t>
            </a:r>
            <a:endParaRPr lang="en-US" sz="1400" dirty="0"/>
          </a:p>
        </p:txBody>
      </p:sp>
      <p:sp>
        <p:nvSpPr>
          <p:cNvPr id="6" name="rule"/>
          <p:cNvSpPr/>
          <p:nvPr/>
        </p:nvSpPr>
        <p:spPr>
          <a:xfrm>
            <a:off x="548640" y="2487168"/>
            <a:ext cx="11094415" cy="0"/>
          </a:xfrm>
          <a:prstGeom prst="line">
            <a:avLst/>
          </a:prstGeom>
          <a:noFill/>
          <a:ln w="9525">
            <a:solidFill>
              <a:srgbClr val="2B2B2B"/>
            </a:solidFill>
            <a:prstDash val="solid"/>
          </a:ln>
        </p:spPr>
      </p:sp>
      <p:sp>
        <p:nvSpPr>
          <p:cNvPr id="7" name="Text 5"/>
          <p:cNvSpPr txBox="1"/>
          <p:nvPr/>
        </p:nvSpPr>
        <p:spPr>
          <a:xfrm>
            <a:off x="548640" y="2596896"/>
            <a:ext cx="2103120" cy="457200"/>
          </a:xfrm>
          <a:prstGeom prst="rect">
            <a:avLst/>
          </a:prstGeom>
          <a:noFill/>
          <a:ln/>
        </p:spPr>
        <p:txBody>
          <a:bodyPr wrap="square" lIns="0" tIns="0" rIns="0" bIns="0" rtlCol="0" anchor="t"/>
          <a:lstStyle/>
          <a:p>
            <a:pPr indent="0" marL="0">
              <a:buNone/>
            </a:pPr>
            <a:r>
              <a:rPr lang="en-US" sz="1200" b="1" spc="100" kern="0" dirty="0">
                <a:solidFill>
                  <a:schemeClr val="accent2"/>
                </a:solidFill>
              </a:rPr>
              <a:t>WHAT IS STILL WRONG</a:t>
            </a:r>
            <a:endParaRPr lang="en-US" sz="1200" dirty="0"/>
          </a:p>
        </p:txBody>
      </p:sp>
      <p:sp>
        <p:nvSpPr>
          <p:cNvPr id="8" name="Text 6"/>
          <p:cNvSpPr txBox="1"/>
          <p:nvPr/>
        </p:nvSpPr>
        <p:spPr>
          <a:xfrm>
            <a:off x="2834640" y="2578608"/>
            <a:ext cx="8808415" cy="804672"/>
          </a:xfrm>
          <a:prstGeom prst="rect">
            <a:avLst/>
          </a:prstGeom>
          <a:noFill/>
          <a:ln/>
        </p:spPr>
        <p:txBody>
          <a:bodyPr wrap="square" lIns="0" tIns="0" rIns="0" bIns="0" rtlCol="0" anchor="t"/>
          <a:lstStyle/>
          <a:p>
            <a:pPr indent="0" marL="0">
              <a:buNone/>
            </a:pPr>
            <a:r>
              <a:rPr lang="en-US" sz="1400" b="1" dirty="0">
                <a:solidFill>
                  <a:schemeClr val="tx1"/>
                </a:solidFill>
              </a:rPr>
              <a:t>Many outer-borough commuters still drive, and their transit trips are long. </a:t>
            </a:r>
            <a:pPr indent="0" marL="0">
              <a:buNone/>
            </a:pPr>
            <a:r>
              <a:rPr lang="en-US" sz="1400" dirty="0">
                <a:solidFill>
                  <a:schemeClr val="tx1"/>
                </a:solidFill>
              </a:rPr>
              <a:t>In the three areas we studied, 42% to 57% of workers drive to work alone. Estimated transit trips to Manhattan take 56 to 71 minutes, and 13 to 22 of those minutes are spent walking and waiting.</a:t>
            </a:r>
            <a:endParaRPr lang="en-US" sz="1400" dirty="0"/>
          </a:p>
        </p:txBody>
      </p:sp>
      <p:sp>
        <p:nvSpPr>
          <p:cNvPr id="9" name="rule"/>
          <p:cNvSpPr/>
          <p:nvPr/>
        </p:nvSpPr>
        <p:spPr>
          <a:xfrm>
            <a:off x="548640" y="3511296"/>
            <a:ext cx="11094415" cy="0"/>
          </a:xfrm>
          <a:prstGeom prst="line">
            <a:avLst/>
          </a:prstGeom>
          <a:noFill/>
          <a:ln w="9525">
            <a:solidFill>
              <a:srgbClr val="2B2B2B"/>
            </a:solidFill>
            <a:prstDash val="solid"/>
          </a:ln>
        </p:spPr>
      </p:sp>
      <p:sp>
        <p:nvSpPr>
          <p:cNvPr id="10" name="Text 8"/>
          <p:cNvSpPr txBox="1"/>
          <p:nvPr/>
        </p:nvSpPr>
        <p:spPr>
          <a:xfrm>
            <a:off x="548640" y="3621024"/>
            <a:ext cx="2103120" cy="457200"/>
          </a:xfrm>
          <a:prstGeom prst="rect">
            <a:avLst/>
          </a:prstGeom>
          <a:noFill/>
          <a:ln/>
        </p:spPr>
        <p:txBody>
          <a:bodyPr wrap="square" lIns="0" tIns="0" rIns="0" bIns="0" rtlCol="0" anchor="t"/>
          <a:lstStyle/>
          <a:p>
            <a:pPr indent="0" marL="0">
              <a:buNone/>
            </a:pPr>
            <a:r>
              <a:rPr lang="en-US" sz="1200" b="1" spc="100" kern="0" dirty="0">
                <a:solidFill>
                  <a:schemeClr val="accent2"/>
                </a:solidFill>
              </a:rPr>
              <a:t>WHAT WE RECOMMEND</a:t>
            </a:r>
            <a:endParaRPr lang="en-US" sz="1200" dirty="0"/>
          </a:p>
        </p:txBody>
      </p:sp>
      <p:sp>
        <p:nvSpPr>
          <p:cNvPr id="11" name="Text 9"/>
          <p:cNvSpPr txBox="1"/>
          <p:nvPr/>
        </p:nvSpPr>
        <p:spPr>
          <a:xfrm>
            <a:off x="2834640" y="3602736"/>
            <a:ext cx="8808415" cy="804672"/>
          </a:xfrm>
          <a:prstGeom prst="rect">
            <a:avLst/>
          </a:prstGeom>
          <a:noFill/>
          <a:ln/>
        </p:spPr>
        <p:txBody>
          <a:bodyPr wrap="square" lIns="0" tIns="0" rIns="0" bIns="0" rtlCol="0" anchor="t"/>
          <a:lstStyle/>
          <a:p>
            <a:pPr indent="0" marL="0">
              <a:buNone/>
            </a:pPr>
            <a:r>
              <a:rPr lang="en-US" sz="1400" b="1" dirty="0">
                <a:solidFill>
                  <a:schemeClr val="tx1"/>
                </a:solidFill>
              </a:rPr>
              <a:t>Test it, starting in Eastern Queens. </a:t>
            </a:r>
            <a:pPr indent="0" marL="0">
              <a:buNone/>
            </a:pPr>
            <a:r>
              <a:rPr lang="en-US" sz="1400" dirty="0">
                <a:solidFill>
                  <a:schemeClr val="tx1"/>
                </a:solidFill>
              </a:rPr>
              <a:t>No current data can show how many drivers would switch, so a pilot should measure it. In a what-if test, trips from six Union Turnpike starting points to Midtown East at 8 a.m. were 6.2 to 12.5 minutes shorter.</a:t>
            </a:r>
            <a:endParaRPr lang="en-US" sz="1400" dirty="0"/>
          </a:p>
        </p:txBody>
      </p:sp>
      <p:sp>
        <p:nvSpPr>
          <p:cNvPr id="12" name="decision"/>
          <p:cNvSpPr/>
          <p:nvPr/>
        </p:nvSpPr>
        <p:spPr>
          <a:xfrm>
            <a:off x="548640" y="4608576"/>
            <a:ext cx="11094415" cy="713232"/>
          </a:xfrm>
          <a:prstGeom prst="rect">
            <a:avLst/>
          </a:prstGeom>
          <a:solidFill>
            <a:schemeClr val="accent1"/>
          </a:solidFill>
          <a:ln/>
        </p:spPr>
      </p:sp>
      <p:sp>
        <p:nvSpPr>
          <p:cNvPr id="13" name="Text 11"/>
          <p:cNvSpPr txBox="1"/>
          <p:nvPr/>
        </p:nvSpPr>
        <p:spPr>
          <a:xfrm>
            <a:off x="822960" y="4608576"/>
            <a:ext cx="10545775" cy="713232"/>
          </a:xfrm>
          <a:prstGeom prst="rect">
            <a:avLst/>
          </a:prstGeom>
          <a:noFill/>
          <a:ln/>
        </p:spPr>
        <p:txBody>
          <a:bodyPr wrap="square" lIns="0" tIns="0" rIns="0" bIns="0" rtlCol="0" anchor="ctr"/>
          <a:lstStyle/>
          <a:p>
            <a:pPr indent="0" marL="0">
              <a:buNone/>
            </a:pPr>
            <a:r>
              <a:rPr lang="en-US" sz="1500" b="1" dirty="0">
                <a:solidFill>
                  <a:schemeClr val="bg1"/>
                </a:solidFill>
              </a:rPr>
              <a:t>Decision requested:  </a:t>
            </a:r>
            <a:pPr indent="0" marL="0">
              <a:buNone/>
            </a:pPr>
            <a:r>
              <a:rPr lang="en-US" sz="1500" dirty="0">
                <a:solidFill>
                  <a:schemeClr val="bg1"/>
                </a:solidFill>
              </a:rPr>
              <a:t>approve the first phase in Eastern Queens, and add the Fresh Meadows and Throggs Neck buses to regular speed tracking.</a:t>
            </a:r>
            <a:endParaRPr lang="en-US" sz="1500" dirty="0"/>
          </a:p>
        </p:txBody>
      </p:sp>
      <p:sp>
        <p:nvSpPr>
          <p:cNvPr id="14"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the four questions this briefing answers.</a:t>
            </a:r>
            <a:endParaRPr lang="en-US" sz="1300" dirty="0"/>
          </a:p>
        </p:txBody>
      </p:sp>
      <p:sp>
        <p:nvSpPr>
          <p:cNvPr id="15"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MTA six-month tolling report (2025); NYC DOT speed data; U.S. Census employment data (2023) and American Community Survey (2018–2022); trip-planner model.</a:t>
            </a:r>
            <a:endParaRPr lang="en-US" sz="900" dirty="0"/>
          </a:p>
        </p:txBody>
      </p:sp>
      <p:sp>
        <p:nvSpPr>
          <p:cNvPr id="16" name="exhibit link">
            <a:hlinkClick r:id="rId1" tooltip="All exhibi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All exhibi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18"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This briefing answers four questions, one after another</a:t>
            </a:r>
            <a:endParaRPr lang="en-US" sz="2400" dirty="0"/>
          </a:p>
        </p:txBody>
      </p:sp>
      <p:sp>
        <p:nvSpPr>
          <p:cNvPr id="3" name="rule"/>
          <p:cNvSpPr/>
          <p:nvPr/>
        </p:nvSpPr>
        <p:spPr>
          <a:xfrm>
            <a:off x="548640" y="1508760"/>
            <a:ext cx="11094415" cy="0"/>
          </a:xfrm>
          <a:prstGeom prst="line">
            <a:avLst/>
          </a:prstGeom>
          <a:noFill/>
          <a:ln w="9525">
            <a:solidFill>
              <a:srgbClr val="D9D9D9"/>
            </a:solidFill>
            <a:prstDash val="solid"/>
          </a:ln>
        </p:spPr>
      </p:sp>
      <p:sp>
        <p:nvSpPr>
          <p:cNvPr id="4" name="Text 2"/>
          <p:cNvSpPr txBox="1"/>
          <p:nvPr/>
        </p:nvSpPr>
        <p:spPr>
          <a:xfrm>
            <a:off x="548640" y="1618488"/>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01</a:t>
            </a:r>
            <a:endParaRPr lang="en-US" sz="2800" dirty="0"/>
          </a:p>
        </p:txBody>
      </p:sp>
      <p:sp>
        <p:nvSpPr>
          <p:cNvPr id="5" name="Text 3"/>
          <p:cNvSpPr txBox="1"/>
          <p:nvPr/>
        </p:nvSpPr>
        <p:spPr>
          <a:xfrm>
            <a:off x="1463040" y="1581912"/>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What has congestion pricing changed so far?</a:t>
            </a:r>
            <a:endParaRPr lang="en-US" sz="1800" dirty="0"/>
          </a:p>
          <a:p>
            <a:pPr indent="0" marL="0">
              <a:buNone/>
            </a:pPr>
            <a:r>
              <a:rPr lang="en-US" sz="1500" dirty="0">
                <a:solidFill>
                  <a:srgbClr val="5C5C5C"/>
                </a:solidFill>
              </a:rPr>
              <a:t>Traffic into the zone, and who travels to Manhattan</a:t>
            </a:r>
            <a:endParaRPr lang="en-US" sz="1800" dirty="0"/>
          </a:p>
        </p:txBody>
      </p:sp>
      <p:sp>
        <p:nvSpPr>
          <p:cNvPr id="6" name="Text 4"/>
          <p:cNvSpPr txBox="1"/>
          <p:nvPr/>
        </p:nvSpPr>
        <p:spPr>
          <a:xfrm>
            <a:off x="9814255" y="1618488"/>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4–5</a:t>
            </a:r>
            <a:endParaRPr lang="en-US" sz="1300" dirty="0"/>
          </a:p>
        </p:txBody>
      </p:sp>
      <p:sp>
        <p:nvSpPr>
          <p:cNvPr id="7" name="rule"/>
          <p:cNvSpPr/>
          <p:nvPr/>
        </p:nvSpPr>
        <p:spPr>
          <a:xfrm>
            <a:off x="548640" y="2331720"/>
            <a:ext cx="11094415" cy="0"/>
          </a:xfrm>
          <a:prstGeom prst="line">
            <a:avLst/>
          </a:prstGeom>
          <a:noFill/>
          <a:ln w="9525">
            <a:solidFill>
              <a:srgbClr val="D9D9D9"/>
            </a:solidFill>
            <a:prstDash val="solid"/>
          </a:ln>
        </p:spPr>
      </p:sp>
      <p:sp>
        <p:nvSpPr>
          <p:cNvPr id="8" name="Text 6"/>
          <p:cNvSpPr txBox="1"/>
          <p:nvPr/>
        </p:nvSpPr>
        <p:spPr>
          <a:xfrm>
            <a:off x="548640" y="2441448"/>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02</a:t>
            </a:r>
            <a:endParaRPr lang="en-US" sz="2800" dirty="0"/>
          </a:p>
        </p:txBody>
      </p:sp>
      <p:sp>
        <p:nvSpPr>
          <p:cNvPr id="9" name="Text 7"/>
          <p:cNvSpPr txBox="1"/>
          <p:nvPr/>
        </p:nvSpPr>
        <p:spPr>
          <a:xfrm>
            <a:off x="1463040" y="2404872"/>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Where does transit still fall short, and why?</a:t>
            </a:r>
            <a:endParaRPr lang="en-US" sz="1800" dirty="0"/>
          </a:p>
          <a:p>
            <a:pPr indent="0" marL="0">
              <a:buNone/>
            </a:pPr>
            <a:r>
              <a:rPr lang="en-US" sz="1500" dirty="0">
                <a:solidFill>
                  <a:srgbClr val="5C5C5C"/>
                </a:solidFill>
              </a:rPr>
              <a:t>Three areas, door-to-door trip times and local bus performance</a:t>
            </a:r>
            <a:endParaRPr lang="en-US" sz="1800" dirty="0"/>
          </a:p>
        </p:txBody>
      </p:sp>
      <p:sp>
        <p:nvSpPr>
          <p:cNvPr id="10" name="Text 8"/>
          <p:cNvSpPr txBox="1"/>
          <p:nvPr/>
        </p:nvSpPr>
        <p:spPr>
          <a:xfrm>
            <a:off x="9814255" y="2441448"/>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6–8</a:t>
            </a:r>
            <a:endParaRPr lang="en-US" sz="1300" dirty="0"/>
          </a:p>
        </p:txBody>
      </p:sp>
      <p:sp>
        <p:nvSpPr>
          <p:cNvPr id="11" name="rule"/>
          <p:cNvSpPr/>
          <p:nvPr/>
        </p:nvSpPr>
        <p:spPr>
          <a:xfrm>
            <a:off x="548640" y="3154680"/>
            <a:ext cx="11094415" cy="0"/>
          </a:xfrm>
          <a:prstGeom prst="line">
            <a:avLst/>
          </a:prstGeom>
          <a:noFill/>
          <a:ln w="9525">
            <a:solidFill>
              <a:srgbClr val="D9D9D9"/>
            </a:solidFill>
            <a:prstDash val="solid"/>
          </a:ln>
        </p:spPr>
      </p:sp>
      <p:sp>
        <p:nvSpPr>
          <p:cNvPr id="12" name="Text 10"/>
          <p:cNvSpPr txBox="1"/>
          <p:nvPr/>
        </p:nvSpPr>
        <p:spPr>
          <a:xfrm>
            <a:off x="548640" y="3264408"/>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03</a:t>
            </a:r>
            <a:endParaRPr lang="en-US" sz="2800" dirty="0"/>
          </a:p>
        </p:txBody>
      </p:sp>
      <p:sp>
        <p:nvSpPr>
          <p:cNvPr id="13" name="Text 11"/>
          <p:cNvSpPr txBox="1"/>
          <p:nvPr/>
        </p:nvSpPr>
        <p:spPr>
          <a:xfrm>
            <a:off x="1463040" y="3227832"/>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What should be built, and where?</a:t>
            </a:r>
            <a:endParaRPr lang="en-US" sz="1800" dirty="0"/>
          </a:p>
          <a:p>
            <a:pPr indent="0" marL="0">
              <a:buNone/>
            </a:pPr>
            <a:r>
              <a:rPr lang="en-US" sz="1500" dirty="0">
                <a:solidFill>
                  <a:srgbClr val="5C5C5C"/>
                </a:solidFill>
              </a:rPr>
              <a:t>A fix for each area, and a what-if test on Union Turnpike</a:t>
            </a:r>
            <a:endParaRPr lang="en-US" sz="1800" dirty="0"/>
          </a:p>
        </p:txBody>
      </p:sp>
      <p:sp>
        <p:nvSpPr>
          <p:cNvPr id="14" name="Text 12"/>
          <p:cNvSpPr txBox="1"/>
          <p:nvPr/>
        </p:nvSpPr>
        <p:spPr>
          <a:xfrm>
            <a:off x="9814255" y="3264408"/>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9–10</a:t>
            </a:r>
            <a:endParaRPr lang="en-US" sz="1300" dirty="0"/>
          </a:p>
        </p:txBody>
      </p:sp>
      <p:sp>
        <p:nvSpPr>
          <p:cNvPr id="15" name="rule"/>
          <p:cNvSpPr/>
          <p:nvPr/>
        </p:nvSpPr>
        <p:spPr>
          <a:xfrm>
            <a:off x="548640" y="3977640"/>
            <a:ext cx="11094415" cy="0"/>
          </a:xfrm>
          <a:prstGeom prst="line">
            <a:avLst/>
          </a:prstGeom>
          <a:noFill/>
          <a:ln w="9525">
            <a:solidFill>
              <a:srgbClr val="D9D9D9"/>
            </a:solidFill>
            <a:prstDash val="solid"/>
          </a:ln>
        </p:spPr>
      </p:sp>
      <p:sp>
        <p:nvSpPr>
          <p:cNvPr id="16" name="Text 14"/>
          <p:cNvSpPr txBox="1"/>
          <p:nvPr/>
        </p:nvSpPr>
        <p:spPr>
          <a:xfrm>
            <a:off x="548640" y="4087368"/>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04</a:t>
            </a:r>
            <a:endParaRPr lang="en-US" sz="2800" dirty="0"/>
          </a:p>
        </p:txBody>
      </p:sp>
      <p:sp>
        <p:nvSpPr>
          <p:cNvPr id="17" name="Text 15"/>
          <p:cNvSpPr txBox="1"/>
          <p:nvPr/>
        </p:nvSpPr>
        <p:spPr>
          <a:xfrm>
            <a:off x="1463040" y="4050792"/>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In what order, and what is decided today?</a:t>
            </a:r>
            <a:endParaRPr lang="en-US" sz="1800" dirty="0"/>
          </a:p>
          <a:p>
            <a:pPr indent="0" marL="0">
              <a:buNone/>
            </a:pPr>
            <a:r>
              <a:rPr lang="en-US" sz="1500" dirty="0">
                <a:solidFill>
                  <a:srgbClr val="5C5C5C"/>
                </a:solidFill>
              </a:rPr>
              <a:t>A three-phase plan, three decisions and the first 90 days</a:t>
            </a:r>
            <a:endParaRPr lang="en-US" sz="1800" dirty="0"/>
          </a:p>
        </p:txBody>
      </p:sp>
      <p:sp>
        <p:nvSpPr>
          <p:cNvPr id="18" name="Text 16"/>
          <p:cNvSpPr txBox="1"/>
          <p:nvPr/>
        </p:nvSpPr>
        <p:spPr>
          <a:xfrm>
            <a:off x="9814255" y="4087368"/>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11–12</a:t>
            </a:r>
            <a:endParaRPr lang="en-US" sz="1300" dirty="0"/>
          </a:p>
        </p:txBody>
      </p:sp>
      <p:sp>
        <p:nvSpPr>
          <p:cNvPr id="19" name="rule"/>
          <p:cNvSpPr/>
          <p:nvPr/>
        </p:nvSpPr>
        <p:spPr>
          <a:xfrm>
            <a:off x="548640" y="4800600"/>
            <a:ext cx="11094415" cy="0"/>
          </a:xfrm>
          <a:prstGeom prst="line">
            <a:avLst/>
          </a:prstGeom>
          <a:noFill/>
          <a:ln w="9525">
            <a:solidFill>
              <a:srgbClr val="D9D9D9"/>
            </a:solidFill>
            <a:prstDash val="solid"/>
          </a:ln>
        </p:spPr>
      </p:sp>
      <p:sp>
        <p:nvSpPr>
          <p:cNvPr id="20" name="Text 18"/>
          <p:cNvSpPr txBox="1"/>
          <p:nvPr/>
        </p:nvSpPr>
        <p:spPr>
          <a:xfrm>
            <a:off x="1463040" y="4892040"/>
            <a:ext cx="8229600" cy="320040"/>
          </a:xfrm>
          <a:prstGeom prst="rect">
            <a:avLst/>
          </a:prstGeom>
          <a:noFill/>
          <a:ln/>
        </p:spPr>
        <p:txBody>
          <a:bodyPr wrap="square" lIns="0" tIns="0" rIns="0" bIns="0" rtlCol="0" anchor="ctr"/>
          <a:lstStyle/>
          <a:p>
            <a:pPr indent="0" marL="0">
              <a:buNone/>
            </a:pPr>
            <a:r>
              <a:rPr lang="en-US" sz="1300" dirty="0">
                <a:solidFill>
                  <a:schemeClr val="accent4"/>
                </a:solidFill>
              </a:rPr>
              <a:t>Appendix: how highway speeds changed after tolling (slide 13)</a:t>
            </a:r>
            <a:endParaRPr lang="en-US" sz="1300" dirty="0"/>
          </a:p>
        </p:txBody>
      </p:sp>
      <p:sp>
        <p:nvSpPr>
          <p:cNvPr id="21"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what congestion pricing has changed so far.</a:t>
            </a:r>
            <a:endParaRPr lang="en-US" sz="1300" dirty="0"/>
          </a:p>
        </p:txBody>
      </p:sp>
      <p:sp>
        <p:nvSpPr>
          <p:cNvPr id="2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Congestion pricing cut the number of vehicles entering the zone by about 11% in six months</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Vehicles entering Manhattan south of 60th Street. Left: the official before-and-after estimate. Right: 2025 weekday counts at each crossing.</a:t>
            </a:r>
            <a:endParaRPr lang="en-US" sz="1400" dirty="0"/>
          </a:p>
        </p:txBody>
      </p:sp>
      <p:sp>
        <p:nvSpPr>
          <p:cNvPr id="4" name="panel"/>
          <p:cNvSpPr/>
          <p:nvPr/>
        </p:nvSpPr>
        <p:spPr>
          <a:xfrm>
            <a:off x="548640" y="1783080"/>
            <a:ext cx="4023360" cy="4023360"/>
          </a:xfrm>
          <a:prstGeom prst="rect">
            <a:avLst/>
          </a:prstGeom>
          <a:solidFill>
            <a:schemeClr val="bg2"/>
          </a:solidFill>
          <a:ln/>
        </p:spPr>
      </p:sp>
      <p:sp>
        <p:nvSpPr>
          <p:cNvPr id="5" name="Text 3"/>
          <p:cNvSpPr txBox="1"/>
          <p:nvPr/>
        </p:nvSpPr>
        <p:spPr>
          <a:xfrm>
            <a:off x="777240" y="1947672"/>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Vehicles entering the zone each day</a:t>
            </a:r>
            <a:endParaRPr lang="en-US" sz="1400" dirty="0"/>
          </a:p>
        </p:txBody>
      </p:sp>
      <p:graphicFrame>
        <p:nvGraphicFramePr>
          <p:cNvPr id="6" name="Chart 0" descr=""/>
          <p:cNvGraphicFramePr/>
          <p:nvPr/>
        </p:nvGraphicFramePr>
        <p:xfrm>
          <a:off x="685800" y="2331720"/>
          <a:ext cx="3749040" cy="3337560"/>
        </p:xfrm>
        <a:graphic xmlns:a="http://schemas.openxmlformats.org/drawingml/2006/main">
          <a:graphicData uri="http://schemas.openxmlformats.org/drawingml/2006/chart">
            <c:chart xmlns:c="http://schemas.openxmlformats.org/drawingml/2006/chart" r:id="rId1"/>
          </a:graphicData>
        </a:graphic>
      </p:graphicFrame>
      <p:sp>
        <p:nvSpPr>
          <p:cNvPr id="7" name="callout"/>
          <p:cNvSpPr txBox="1"/>
          <p:nvPr/>
        </p:nvSpPr>
        <p:spPr>
          <a:xfrm>
            <a:off x="2468880" y="2423160"/>
            <a:ext cx="1874520" cy="457200"/>
          </a:xfrm>
          <a:prstGeom prst="rect">
            <a:avLst/>
          </a:prstGeom>
          <a:solidFill>
            <a:srgbClr val="FFFFFF"/>
          </a:solidFill>
          <a:ln w="12700">
            <a:solidFill>
              <a:srgbClr val="C8532A"/>
            </a:solidFill>
          </a:ln>
        </p:spPr>
        <p:txBody>
          <a:bodyPr wrap="square" lIns="50800" tIns="50800" rIns="50800" bIns="50800" rtlCol="0" anchor="ctr"/>
          <a:lstStyle/>
          <a:p>
            <a:pPr algn="ctr" indent="0" marL="0">
              <a:buNone/>
            </a:pPr>
            <a:r>
              <a:rPr lang="en-US" sz="1200" b="1" dirty="0">
                <a:solidFill>
                  <a:schemeClr val="accent3"/>
                </a:solidFill>
              </a:rPr>
              <a:t>−67,000 a day (−11%)</a:t>
            </a:r>
            <a:endParaRPr lang="en-US" sz="1200" dirty="0"/>
          </a:p>
        </p:txBody>
      </p:sp>
      <p:sp>
        <p:nvSpPr>
          <p:cNvPr id="8" name="panel"/>
          <p:cNvSpPr/>
          <p:nvPr/>
        </p:nvSpPr>
        <p:spPr>
          <a:xfrm>
            <a:off x="4846320" y="1783080"/>
            <a:ext cx="6796735" cy="4023360"/>
          </a:xfrm>
          <a:prstGeom prst="rect">
            <a:avLst/>
          </a:prstGeom>
          <a:solidFill>
            <a:schemeClr val="bg2"/>
          </a:solidFill>
          <a:ln/>
        </p:spPr>
      </p:sp>
      <p:sp>
        <p:nvSpPr>
          <p:cNvPr id="9" name="Text 6"/>
          <p:cNvSpPr txBox="1"/>
          <p:nvPr/>
        </p:nvSpPr>
        <p:spPr>
          <a:xfrm>
            <a:off x="5074920" y="1947672"/>
            <a:ext cx="6339535" cy="292608"/>
          </a:xfrm>
          <a:prstGeom prst="rect">
            <a:avLst/>
          </a:prstGeom>
          <a:noFill/>
          <a:ln/>
        </p:spPr>
        <p:txBody>
          <a:bodyPr wrap="square" lIns="0" tIns="0" rIns="0" bIns="0" rtlCol="0" anchor="ctr"/>
          <a:lstStyle/>
          <a:p>
            <a:pPr indent="0" marL="0">
              <a:buNone/>
            </a:pPr>
            <a:r>
              <a:rPr lang="en-US" sz="1400" b="1" dirty="0">
                <a:solidFill>
                  <a:schemeClr val="tx1"/>
                </a:solidFill>
              </a:rPr>
              <a:t>Where vehicles enter: average weekday entries, 2025</a:t>
            </a:r>
            <a:endParaRPr lang="en-US" sz="1400" dirty="0"/>
          </a:p>
        </p:txBody>
      </p:sp>
      <p:pic>
        <p:nvPicPr>
          <p:cNvPr id="10" name="zone map" descr="Map of the congestion zone with circles sized by weekday entries at each of 12 crossings">    </p:cNvPr>
          <p:cNvPicPr>
            <a:picLocks noChangeAspect="1"/>
          </p:cNvPicPr>
          <p:nvPr/>
        </p:nvPicPr>
        <p:blipFill>
          <a:blip r:embed="rId2"/>
          <a:stretch>
            <a:fillRect/>
          </a:stretch>
        </p:blipFill>
        <p:spPr>
          <a:xfrm>
            <a:off x="5029200" y="2286000"/>
            <a:ext cx="3357978" cy="3383280"/>
          </a:xfrm>
          <a:prstGeom prst="rect">
            <a:avLst/>
          </a:prstGeom>
        </p:spPr>
      </p:pic>
      <p:sp>
        <p:nvSpPr>
          <p:cNvPr id="11" name="Text 7"/>
          <p:cNvSpPr txBox="1"/>
          <p:nvPr/>
        </p:nvSpPr>
        <p:spPr>
          <a:xfrm>
            <a:off x="8707218" y="2331720"/>
            <a:ext cx="2707238" cy="274320"/>
          </a:xfrm>
          <a:prstGeom prst="rect">
            <a:avLst/>
          </a:prstGeom>
          <a:noFill/>
          <a:ln/>
        </p:spPr>
        <p:txBody>
          <a:bodyPr wrap="square" lIns="0" tIns="0" rIns="0" bIns="0" rtlCol="0" anchor="ctr"/>
          <a:lstStyle/>
          <a:p>
            <a:pPr indent="0" marL="0">
              <a:buNone/>
            </a:pPr>
            <a:r>
              <a:rPr lang="en-US" sz="1300" b="1" dirty="0">
                <a:solidFill>
                  <a:schemeClr val="tx1"/>
                </a:solidFill>
              </a:rPr>
              <a:t>Busiest crossings</a:t>
            </a:r>
            <a:endParaRPr lang="en-US" sz="1300" dirty="0"/>
          </a:p>
        </p:txBody>
      </p:sp>
      <p:sp>
        <p:nvSpPr>
          <p:cNvPr id="12" name="Text 8"/>
          <p:cNvSpPr txBox="1"/>
          <p:nvPr/>
        </p:nvSpPr>
        <p:spPr>
          <a:xfrm>
            <a:off x="8707218" y="2697480"/>
            <a:ext cx="1975718" cy="274320"/>
          </a:xfrm>
          <a:prstGeom prst="rect">
            <a:avLst/>
          </a:prstGeom>
          <a:noFill/>
          <a:ln/>
        </p:spPr>
        <p:txBody>
          <a:bodyPr wrap="square" lIns="0" tIns="0" rIns="0" bIns="0" rtlCol="0" anchor="ctr"/>
          <a:lstStyle/>
          <a:p>
            <a:pPr indent="0" marL="0">
              <a:buNone/>
            </a:pPr>
            <a:r>
              <a:rPr lang="en-US" sz="1200" dirty="0">
                <a:solidFill>
                  <a:schemeClr val="tx1"/>
                </a:solidFill>
              </a:rPr>
              <a:t>East 60th Street</a:t>
            </a:r>
            <a:endParaRPr lang="en-US" sz="1200" dirty="0"/>
          </a:p>
        </p:txBody>
      </p:sp>
      <p:sp>
        <p:nvSpPr>
          <p:cNvPr id="13" name="Text 9"/>
          <p:cNvSpPr txBox="1"/>
          <p:nvPr/>
        </p:nvSpPr>
        <p:spPr>
          <a:xfrm>
            <a:off x="10682935" y="2697480"/>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79,500</a:t>
            </a:r>
            <a:endParaRPr lang="en-US" sz="1200" dirty="0"/>
          </a:p>
        </p:txBody>
      </p:sp>
      <p:sp>
        <p:nvSpPr>
          <p:cNvPr id="14" name="rule"/>
          <p:cNvSpPr/>
          <p:nvPr/>
        </p:nvSpPr>
        <p:spPr>
          <a:xfrm>
            <a:off x="8707218" y="2999232"/>
            <a:ext cx="2707238" cy="0"/>
          </a:xfrm>
          <a:prstGeom prst="line">
            <a:avLst/>
          </a:prstGeom>
          <a:noFill/>
          <a:ln w="9525">
            <a:solidFill>
              <a:srgbClr val="D9D9D9"/>
            </a:solidFill>
            <a:prstDash val="solid"/>
          </a:ln>
        </p:spPr>
      </p:sp>
      <p:sp>
        <p:nvSpPr>
          <p:cNvPr id="15" name="Text 11"/>
          <p:cNvSpPr txBox="1"/>
          <p:nvPr/>
        </p:nvSpPr>
        <p:spPr>
          <a:xfrm>
            <a:off x="8707218" y="3026664"/>
            <a:ext cx="1975718" cy="274320"/>
          </a:xfrm>
          <a:prstGeom prst="rect">
            <a:avLst/>
          </a:prstGeom>
          <a:noFill/>
          <a:ln/>
        </p:spPr>
        <p:txBody>
          <a:bodyPr wrap="square" lIns="0" tIns="0" rIns="0" bIns="0" rtlCol="0" anchor="ctr"/>
          <a:lstStyle/>
          <a:p>
            <a:pPr indent="0" marL="0">
              <a:buNone/>
            </a:pPr>
            <a:r>
              <a:rPr lang="en-US" sz="1200" dirty="0">
                <a:solidFill>
                  <a:schemeClr val="tx1"/>
                </a:solidFill>
              </a:rPr>
              <a:t>FDR Drive</a:t>
            </a:r>
            <a:endParaRPr lang="en-US" sz="1200" dirty="0"/>
          </a:p>
        </p:txBody>
      </p:sp>
      <p:sp>
        <p:nvSpPr>
          <p:cNvPr id="16" name="Text 12"/>
          <p:cNvSpPr txBox="1"/>
          <p:nvPr/>
        </p:nvSpPr>
        <p:spPr>
          <a:xfrm>
            <a:off x="10682935" y="3026664"/>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53,000</a:t>
            </a:r>
            <a:endParaRPr lang="en-US" sz="1200" dirty="0"/>
          </a:p>
        </p:txBody>
      </p:sp>
      <p:sp>
        <p:nvSpPr>
          <p:cNvPr id="17" name="rule"/>
          <p:cNvSpPr/>
          <p:nvPr/>
        </p:nvSpPr>
        <p:spPr>
          <a:xfrm>
            <a:off x="8707218" y="3328416"/>
            <a:ext cx="2707238" cy="0"/>
          </a:xfrm>
          <a:prstGeom prst="line">
            <a:avLst/>
          </a:prstGeom>
          <a:noFill/>
          <a:ln w="9525">
            <a:solidFill>
              <a:srgbClr val="D9D9D9"/>
            </a:solidFill>
            <a:prstDash val="solid"/>
          </a:ln>
        </p:spPr>
      </p:sp>
      <p:sp>
        <p:nvSpPr>
          <p:cNvPr id="18" name="Text 14"/>
          <p:cNvSpPr txBox="1"/>
          <p:nvPr/>
        </p:nvSpPr>
        <p:spPr>
          <a:xfrm>
            <a:off x="8707218" y="3355848"/>
            <a:ext cx="1975718" cy="274320"/>
          </a:xfrm>
          <a:prstGeom prst="rect">
            <a:avLst/>
          </a:prstGeom>
          <a:noFill/>
          <a:ln/>
        </p:spPr>
        <p:txBody>
          <a:bodyPr wrap="square" lIns="0" tIns="0" rIns="0" bIns="0" rtlCol="0" anchor="ctr"/>
          <a:lstStyle/>
          <a:p>
            <a:pPr indent="0" marL="0">
              <a:buNone/>
            </a:pPr>
            <a:r>
              <a:rPr lang="en-US" sz="1200" dirty="0">
                <a:solidFill>
                  <a:schemeClr val="tx1"/>
                </a:solidFill>
              </a:rPr>
              <a:t>Lincoln Tunnel</a:t>
            </a:r>
            <a:endParaRPr lang="en-US" sz="1200" dirty="0"/>
          </a:p>
        </p:txBody>
      </p:sp>
      <p:sp>
        <p:nvSpPr>
          <p:cNvPr id="19" name="Text 15"/>
          <p:cNvSpPr txBox="1"/>
          <p:nvPr/>
        </p:nvSpPr>
        <p:spPr>
          <a:xfrm>
            <a:off x="10682935" y="3355848"/>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46,800</a:t>
            </a:r>
            <a:endParaRPr lang="en-US" sz="1200" dirty="0"/>
          </a:p>
        </p:txBody>
      </p:sp>
      <p:sp>
        <p:nvSpPr>
          <p:cNvPr id="20" name="rule"/>
          <p:cNvSpPr/>
          <p:nvPr/>
        </p:nvSpPr>
        <p:spPr>
          <a:xfrm>
            <a:off x="8707218" y="3657600"/>
            <a:ext cx="2707238" cy="0"/>
          </a:xfrm>
          <a:prstGeom prst="line">
            <a:avLst/>
          </a:prstGeom>
          <a:noFill/>
          <a:ln w="9525">
            <a:solidFill>
              <a:srgbClr val="D9D9D9"/>
            </a:solidFill>
            <a:prstDash val="solid"/>
          </a:ln>
        </p:spPr>
      </p:sp>
      <p:sp>
        <p:nvSpPr>
          <p:cNvPr id="21" name="Text 17"/>
          <p:cNvSpPr txBox="1"/>
          <p:nvPr/>
        </p:nvSpPr>
        <p:spPr>
          <a:xfrm>
            <a:off x="8707218" y="3685032"/>
            <a:ext cx="1975718" cy="274320"/>
          </a:xfrm>
          <a:prstGeom prst="rect">
            <a:avLst/>
          </a:prstGeom>
          <a:noFill/>
          <a:ln/>
        </p:spPr>
        <p:txBody>
          <a:bodyPr wrap="square" lIns="0" tIns="0" rIns="0" bIns="0" rtlCol="0" anchor="ctr"/>
          <a:lstStyle/>
          <a:p>
            <a:pPr indent="0" marL="0">
              <a:buNone/>
            </a:pPr>
            <a:r>
              <a:rPr lang="en-US" sz="1200" dirty="0">
                <a:solidFill>
                  <a:schemeClr val="tx1"/>
                </a:solidFill>
              </a:rPr>
              <a:t>Queens Midtown Tunnel</a:t>
            </a:r>
            <a:endParaRPr lang="en-US" sz="1200" dirty="0"/>
          </a:p>
        </p:txBody>
      </p:sp>
      <p:sp>
        <p:nvSpPr>
          <p:cNvPr id="22" name="Text 18"/>
          <p:cNvSpPr txBox="1"/>
          <p:nvPr/>
        </p:nvSpPr>
        <p:spPr>
          <a:xfrm>
            <a:off x="10682935" y="3685032"/>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46,500</a:t>
            </a:r>
            <a:endParaRPr lang="en-US" sz="1200" dirty="0"/>
          </a:p>
        </p:txBody>
      </p:sp>
      <p:sp>
        <p:nvSpPr>
          <p:cNvPr id="23" name="rule"/>
          <p:cNvSpPr/>
          <p:nvPr/>
        </p:nvSpPr>
        <p:spPr>
          <a:xfrm>
            <a:off x="8707218" y="3986784"/>
            <a:ext cx="2707238" cy="0"/>
          </a:xfrm>
          <a:prstGeom prst="line">
            <a:avLst/>
          </a:prstGeom>
          <a:noFill/>
          <a:ln w="9525">
            <a:solidFill>
              <a:srgbClr val="D9D9D9"/>
            </a:solidFill>
            <a:prstDash val="solid"/>
          </a:ln>
        </p:spPr>
      </p:sp>
      <p:sp>
        <p:nvSpPr>
          <p:cNvPr id="24" name="Text 20"/>
          <p:cNvSpPr txBox="1"/>
          <p:nvPr/>
        </p:nvSpPr>
        <p:spPr>
          <a:xfrm>
            <a:off x="8707218" y="4014216"/>
            <a:ext cx="1975718" cy="274320"/>
          </a:xfrm>
          <a:prstGeom prst="rect">
            <a:avLst/>
          </a:prstGeom>
          <a:noFill/>
          <a:ln/>
        </p:spPr>
        <p:txBody>
          <a:bodyPr wrap="square" lIns="0" tIns="0" rIns="0" bIns="0" rtlCol="0" anchor="ctr"/>
          <a:lstStyle/>
          <a:p>
            <a:pPr indent="0" marL="0">
              <a:buNone/>
            </a:pPr>
            <a:r>
              <a:rPr lang="en-US" sz="1200" dirty="0">
                <a:solidFill>
                  <a:schemeClr val="tx1"/>
                </a:solidFill>
              </a:rPr>
              <a:t>West Side Highway</a:t>
            </a:r>
            <a:endParaRPr lang="en-US" sz="1200" dirty="0"/>
          </a:p>
        </p:txBody>
      </p:sp>
      <p:sp>
        <p:nvSpPr>
          <p:cNvPr id="25" name="Text 21"/>
          <p:cNvSpPr txBox="1"/>
          <p:nvPr/>
        </p:nvSpPr>
        <p:spPr>
          <a:xfrm>
            <a:off x="10682935" y="4014216"/>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45,900</a:t>
            </a:r>
            <a:endParaRPr lang="en-US" sz="1200" dirty="0"/>
          </a:p>
        </p:txBody>
      </p:sp>
      <p:sp>
        <p:nvSpPr>
          <p:cNvPr id="26" name="rule"/>
          <p:cNvSpPr/>
          <p:nvPr/>
        </p:nvSpPr>
        <p:spPr>
          <a:xfrm>
            <a:off x="8707218" y="4315968"/>
            <a:ext cx="2707238" cy="0"/>
          </a:xfrm>
          <a:prstGeom prst="line">
            <a:avLst/>
          </a:prstGeom>
          <a:noFill/>
          <a:ln w="9525">
            <a:solidFill>
              <a:srgbClr val="D9D9D9"/>
            </a:solidFill>
            <a:prstDash val="solid"/>
          </a:ln>
        </p:spPr>
      </p:sp>
      <p:sp>
        <p:nvSpPr>
          <p:cNvPr id="27" name="Text 23"/>
          <p:cNvSpPr txBox="1"/>
          <p:nvPr/>
        </p:nvSpPr>
        <p:spPr>
          <a:xfrm>
            <a:off x="8707218" y="4343400"/>
            <a:ext cx="1975718" cy="274320"/>
          </a:xfrm>
          <a:prstGeom prst="rect">
            <a:avLst/>
          </a:prstGeom>
          <a:noFill/>
          <a:ln/>
        </p:spPr>
        <p:txBody>
          <a:bodyPr wrap="square" lIns="0" tIns="0" rIns="0" bIns="0" rtlCol="0" anchor="ctr"/>
          <a:lstStyle/>
          <a:p>
            <a:pPr indent="0" marL="0">
              <a:buNone/>
            </a:pPr>
            <a:r>
              <a:rPr lang="en-US" sz="1200" dirty="0">
                <a:solidFill>
                  <a:schemeClr val="tx1"/>
                </a:solidFill>
              </a:rPr>
              <a:t>Holland Tunnel</a:t>
            </a:r>
            <a:endParaRPr lang="en-US" sz="1200" dirty="0"/>
          </a:p>
        </p:txBody>
      </p:sp>
      <p:sp>
        <p:nvSpPr>
          <p:cNvPr id="28" name="Text 24"/>
          <p:cNvSpPr txBox="1"/>
          <p:nvPr/>
        </p:nvSpPr>
        <p:spPr>
          <a:xfrm>
            <a:off x="10682935" y="4343400"/>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41,400</a:t>
            </a:r>
            <a:endParaRPr lang="en-US" sz="1200" dirty="0"/>
          </a:p>
        </p:txBody>
      </p:sp>
      <p:sp>
        <p:nvSpPr>
          <p:cNvPr id="29" name="rule"/>
          <p:cNvSpPr/>
          <p:nvPr/>
        </p:nvSpPr>
        <p:spPr>
          <a:xfrm>
            <a:off x="8707218" y="4645152"/>
            <a:ext cx="2707238" cy="0"/>
          </a:xfrm>
          <a:prstGeom prst="line">
            <a:avLst/>
          </a:prstGeom>
          <a:noFill/>
          <a:ln w="9525">
            <a:solidFill>
              <a:srgbClr val="D9D9D9"/>
            </a:solidFill>
            <a:prstDash val="solid"/>
          </a:ln>
        </p:spPr>
      </p:sp>
      <p:sp>
        <p:nvSpPr>
          <p:cNvPr id="30" name="callout"/>
          <p:cNvSpPr txBox="1"/>
          <p:nvPr/>
        </p:nvSpPr>
        <p:spPr>
          <a:xfrm>
            <a:off x="8707218" y="4754880"/>
            <a:ext cx="2707238" cy="502920"/>
          </a:xfrm>
          <a:prstGeom prst="rect">
            <a:avLst/>
          </a:prstGeom>
          <a:solidFill>
            <a:srgbClr val="FFFFFF"/>
          </a:solidFill>
          <a:ln w="12700">
            <a:solidFill>
              <a:srgbClr val="C8532A"/>
            </a:solidFill>
          </a:ln>
        </p:spPr>
        <p:txBody>
          <a:bodyPr wrap="square" lIns="50800" tIns="50800" rIns="50800" bIns="50800" rtlCol="0" anchor="ctr"/>
          <a:lstStyle/>
          <a:p>
            <a:pPr algn="ctr" indent="0" marL="0">
              <a:buNone/>
            </a:pPr>
            <a:r>
              <a:rPr lang="en-US" sz="1200" b="1" dirty="0">
                <a:solidFill>
                  <a:schemeClr val="accent3"/>
                </a:solidFill>
              </a:rPr>
              <a:t>The two busiest crossings carry 26% of entries</a:t>
            </a:r>
            <a:endParaRPr lang="en-US" sz="1200" dirty="0"/>
          </a:p>
        </p:txBody>
      </p:sp>
      <p:sp>
        <p:nvSpPr>
          <p:cNvPr id="31" name="Text 27"/>
          <p:cNvSpPr txBox="1"/>
          <p:nvPr/>
        </p:nvSpPr>
        <p:spPr>
          <a:xfrm>
            <a:off x="8707218" y="5349240"/>
            <a:ext cx="2707238" cy="228600"/>
          </a:xfrm>
          <a:prstGeom prst="rect">
            <a:avLst/>
          </a:prstGeom>
          <a:noFill/>
          <a:ln/>
        </p:spPr>
        <p:txBody>
          <a:bodyPr wrap="square" lIns="0" tIns="0" rIns="0" bIns="0" rtlCol="0" anchor="ctr"/>
          <a:lstStyle/>
          <a:p>
            <a:pPr indent="0" marL="0">
              <a:buNone/>
            </a:pPr>
            <a:r>
              <a:rPr lang="en-US" sz="1000" dirty="0">
                <a:solidFill>
                  <a:schemeClr val="accent4"/>
                </a:solidFill>
              </a:rPr>
              <a:t>Circle size = weekday entries</a:t>
            </a:r>
            <a:endParaRPr lang="en-US" sz="1000" dirty="0"/>
          </a:p>
        </p:txBody>
      </p:sp>
      <p:sp>
        <p:nvSpPr>
          <p:cNvPr id="32"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who travels into Manhattan, and how.</a:t>
            </a:r>
            <a:endParaRPr lang="en-US" sz="1300" dirty="0"/>
          </a:p>
        </p:txBody>
      </p:sp>
      <p:sp>
        <p:nvSpPr>
          <p:cNvPr id="33"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MTA six-month tolling report; New York State open data on crossing counts, 5 January to 30 June 2025. Crossing counts (511,829 a weekday) use a different method, so they do not add up to the official totals.</a:t>
            </a:r>
            <a:endParaRPr lang="en-US" sz="900" dirty="0"/>
          </a:p>
        </p:txBody>
      </p:sp>
      <p:sp>
        <p:nvSpPr>
          <p:cNvPr id="34" name="exhibit link">
            <a:hlinkClick r:id="rId3" tooltip="Exhibit 1: congestion pricing resul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3" invalidUrl="" action="" tgtFrame="" tooltip="Exhibit 1: congestion pricing resul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Most zone workers come from Brooklyn and Queens, but the Bronx sends the most cars into Manhattan</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Left: where people who work in the zone live. Middle: zone jobs by home borough. Right: car-driver trips into Manhattan each day.</a:t>
            </a:r>
            <a:endParaRPr lang="en-US" sz="1400" dirty="0"/>
          </a:p>
        </p:txBody>
      </p:sp>
      <p:sp>
        <p:nvSpPr>
          <p:cNvPr id="4" name="panel"/>
          <p:cNvSpPr/>
          <p:nvPr/>
        </p:nvSpPr>
        <p:spPr>
          <a:xfrm>
            <a:off x="548640" y="1783080"/>
            <a:ext cx="3931920" cy="4023360"/>
          </a:xfrm>
          <a:prstGeom prst="rect">
            <a:avLst/>
          </a:prstGeom>
          <a:solidFill>
            <a:schemeClr val="bg2"/>
          </a:solidFill>
          <a:ln/>
        </p:spPr>
      </p:sp>
      <p:sp>
        <p:nvSpPr>
          <p:cNvPr id="5" name="Text 3"/>
          <p:cNvSpPr txBox="1"/>
          <p:nvPr/>
        </p:nvSpPr>
        <p:spPr>
          <a:xfrm>
            <a:off x="777240" y="1947672"/>
            <a:ext cx="3474720" cy="292608"/>
          </a:xfrm>
          <a:prstGeom prst="rect">
            <a:avLst/>
          </a:prstGeom>
          <a:noFill/>
          <a:ln/>
        </p:spPr>
        <p:txBody>
          <a:bodyPr wrap="square" lIns="0" tIns="0" rIns="0" bIns="0" rtlCol="0" anchor="ctr"/>
          <a:lstStyle/>
          <a:p>
            <a:pPr indent="0" marL="0">
              <a:buNone/>
            </a:pPr>
            <a:r>
              <a:rPr lang="en-US" sz="1400" b="1" dirty="0">
                <a:solidFill>
                  <a:schemeClr val="tx1"/>
                </a:solidFill>
              </a:rPr>
              <a:t>Where zone workers live</a:t>
            </a:r>
            <a:endParaRPr lang="en-US" sz="1400" dirty="0"/>
          </a:p>
        </p:txBody>
      </p:sp>
      <p:pic>
        <p:nvPicPr>
          <p:cNvPr id="6" name="jobs map" descr="Map of NYC census tracts shaded by residents working in the congestion zone">    </p:cNvPr>
          <p:cNvPicPr>
            <a:picLocks noChangeAspect="1"/>
          </p:cNvPicPr>
          <p:nvPr/>
        </p:nvPicPr>
        <p:blipFill>
          <a:blip r:embed="rId1"/>
          <a:stretch>
            <a:fillRect/>
          </a:stretch>
        </p:blipFill>
        <p:spPr>
          <a:xfrm>
            <a:off x="782936" y="2286000"/>
            <a:ext cx="3463328" cy="3429000"/>
          </a:xfrm>
          <a:prstGeom prst="rect">
            <a:avLst/>
          </a:prstGeom>
        </p:spPr>
      </p:pic>
      <p:sp>
        <p:nvSpPr>
          <p:cNvPr id="7" name="Zone jobs held by New Yorkers, by home borough (Brooklyn and Queens: 53%)"/>
          <p:cNvSpPr/>
          <p:nvPr/>
        </p:nvSpPr>
        <p:spPr>
          <a:xfrm>
            <a:off x="4754880" y="1783080"/>
            <a:ext cx="3306928" cy="4023360"/>
          </a:xfrm>
          <a:prstGeom prst="rect">
            <a:avLst/>
          </a:prstGeom>
          <a:solidFill>
            <a:schemeClr val="bg2"/>
          </a:solidFill>
          <a:ln/>
        </p:spPr>
      </p:sp>
      <p:sp>
        <p:nvSpPr>
          <p:cNvPr id="8" name="Text 5"/>
          <p:cNvSpPr txBox="1"/>
          <p:nvPr/>
        </p:nvSpPr>
        <p:spPr>
          <a:xfrm>
            <a:off x="4983480" y="1920240"/>
            <a:ext cx="2849728" cy="502920"/>
          </a:xfrm>
          <a:prstGeom prst="rect">
            <a:avLst/>
          </a:prstGeom>
          <a:noFill/>
          <a:ln/>
        </p:spPr>
        <p:txBody>
          <a:bodyPr wrap="square" lIns="0" tIns="0" rIns="0" bIns="0" rtlCol="0" anchor="t"/>
          <a:lstStyle/>
          <a:p>
            <a:pPr indent="0" marL="0">
              <a:buNone/>
            </a:pPr>
            <a:r>
              <a:rPr lang="en-US" sz="1300" b="1" dirty="0">
                <a:solidFill>
                  <a:schemeClr val="tx1"/>
                </a:solidFill>
              </a:rPr>
              <a:t>Zone jobs held by New Yorkers, by home borough (Brooklyn and Queens: 53%)</a:t>
            </a:r>
            <a:endParaRPr lang="en-US" sz="1300" dirty="0"/>
          </a:p>
        </p:txBody>
      </p:sp>
      <p:graphicFrame>
        <p:nvGraphicFramePr>
          <p:cNvPr id="9" name="Chart 0" descr=""/>
          <p:cNvGraphicFramePr/>
          <p:nvPr/>
        </p:nvGraphicFramePr>
        <p:xfrm>
          <a:off x="4846320" y="2468880"/>
          <a:ext cx="3124048" cy="3200400"/>
        </p:xfrm>
        <a:graphic xmlns:a="http://schemas.openxmlformats.org/drawingml/2006/main">
          <a:graphicData uri="http://schemas.openxmlformats.org/drawingml/2006/chart">
            <c:chart xmlns:c="http://schemas.openxmlformats.org/drawingml/2006/chart" r:id="rId2"/>
          </a:graphicData>
        </a:graphic>
      </p:graphicFrame>
      <p:sp>
        <p:nvSpPr>
          <p:cNvPr id="10" name="Car trips into Manhattan each day: the Bronx has 2.8 times as many as Queens"/>
          <p:cNvSpPr/>
          <p:nvPr/>
        </p:nvSpPr>
        <p:spPr>
          <a:xfrm>
            <a:off x="8336128" y="1783080"/>
            <a:ext cx="3306928" cy="4023360"/>
          </a:xfrm>
          <a:prstGeom prst="rect">
            <a:avLst/>
          </a:prstGeom>
          <a:solidFill>
            <a:schemeClr val="bg2"/>
          </a:solidFill>
          <a:ln/>
        </p:spPr>
      </p:sp>
      <p:sp>
        <p:nvSpPr>
          <p:cNvPr id="11" name="Text 7"/>
          <p:cNvSpPr txBox="1"/>
          <p:nvPr/>
        </p:nvSpPr>
        <p:spPr>
          <a:xfrm>
            <a:off x="8564728" y="1920240"/>
            <a:ext cx="2849728" cy="502920"/>
          </a:xfrm>
          <a:prstGeom prst="rect">
            <a:avLst/>
          </a:prstGeom>
          <a:noFill/>
          <a:ln/>
        </p:spPr>
        <p:txBody>
          <a:bodyPr wrap="square" lIns="0" tIns="0" rIns="0" bIns="0" rtlCol="0" anchor="t"/>
          <a:lstStyle/>
          <a:p>
            <a:pPr indent="0" marL="0">
              <a:buNone/>
            </a:pPr>
            <a:r>
              <a:rPr lang="en-US" sz="1300" b="1" dirty="0">
                <a:solidFill>
                  <a:schemeClr val="tx1"/>
                </a:solidFill>
              </a:rPr>
              <a:t>Car trips into Manhattan each day: the Bronx has 2.8 times as many as Queens</a:t>
            </a:r>
            <a:endParaRPr lang="en-US" sz="1300" dirty="0"/>
          </a:p>
        </p:txBody>
      </p:sp>
      <p:graphicFrame>
        <p:nvGraphicFramePr>
          <p:cNvPr id="12" name="Chart 1" descr=""/>
          <p:cNvGraphicFramePr/>
          <p:nvPr/>
        </p:nvGraphicFramePr>
        <p:xfrm>
          <a:off x="8427568" y="2468880"/>
          <a:ext cx="3124048" cy="3200400"/>
        </p:xfrm>
        <a:graphic xmlns:a="http://schemas.openxmlformats.org/drawingml/2006/main">
          <a:graphicData uri="http://schemas.openxmlformats.org/drawingml/2006/chart">
            <c:chart xmlns:c="http://schemas.openxmlformats.org/drawingml/2006/chart" r:id="rId3"/>
          </a:graphicData>
        </a:graphic>
      </p:graphicFrame>
      <p:sp>
        <p:nvSpPr>
          <p:cNvPr id="13"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three outer-borough areas where driving, Manhattan jobs and long transit trips overlap.</a:t>
            </a:r>
            <a:endParaRPr lang="en-US" sz="1300" dirty="0"/>
          </a:p>
        </p:txBody>
      </p:sp>
      <p:sp>
        <p:nvSpPr>
          <p:cNvPr id="1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U.S. Census employment data, 2023 (payroll jobs; Manhattan residents hold a further 401,000 zone jobs); NYC DOT Citywide Mobility Survey, 2024. Survey trips go to all of Manhattan, not only the zone.</a:t>
            </a:r>
            <a:endParaRPr lang="en-US" sz="900" dirty="0"/>
          </a:p>
        </p:txBody>
      </p:sp>
      <p:sp>
        <p:nvSpPr>
          <p:cNvPr id="15" name="exhibit link">
            <a:hlinkClick r:id="rId4" tooltip="Exhibit 3: travel origin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4" invalidUrl="" action="" tgtFrame="" tooltip="Exhibit 3: travel origin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Three outer-borough areas have many zone workers, a lot of driving and long transit trips</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We chose areas around the corridors where we have trip results. Eastern Queens has the most zone workers; the East Bronx has the most solo drivers. They are places to test, not proven hotspots.</a:t>
            </a:r>
            <a:endParaRPr lang="en-US" sz="1400" dirty="0"/>
          </a:p>
        </p:txBody>
      </p:sp>
      <p:sp>
        <p:nvSpPr>
          <p:cNvPr id="4" name="panel"/>
          <p:cNvSpPr/>
          <p:nvPr/>
        </p:nvSpPr>
        <p:spPr>
          <a:xfrm>
            <a:off x="548640" y="1783080"/>
            <a:ext cx="4206240" cy="4023360"/>
          </a:xfrm>
          <a:prstGeom prst="rect">
            <a:avLst/>
          </a:prstGeom>
          <a:solidFill>
            <a:schemeClr val="bg2"/>
          </a:solidFill>
          <a:ln/>
        </p:spPr>
      </p:sp>
      <p:pic>
        <p:nvPicPr>
          <p:cNvPr id="5" name="areas map" descr="Map of the three candidate areas in orange: East Bronx, Eastern Queens and Southeast Queens, with the congestion zone">    </p:cNvPr>
          <p:cNvPicPr>
            <a:picLocks noChangeAspect="1"/>
          </p:cNvPicPr>
          <p:nvPr/>
        </p:nvPicPr>
        <p:blipFill>
          <a:blip r:embed="rId1"/>
          <a:stretch>
            <a:fillRect/>
          </a:stretch>
        </p:blipFill>
        <p:spPr>
          <a:xfrm>
            <a:off x="685800" y="2335331"/>
            <a:ext cx="3931920" cy="2918859"/>
          </a:xfrm>
          <a:prstGeom prst="rect">
            <a:avLst/>
          </a:prstGeom>
        </p:spPr>
      </p:pic>
      <p:graphicFrame>
        <p:nvGraphicFramePr>
          <p:cNvPr id="7" name="area table"/>
          <p:cNvGraphicFramePr>
            <a:graphicFrameLocks noGrp="1"/>
          </p:cNvGraphicFramePr>
          <p:nvPr>
            <p:extLst>
              <p:ext uri="{D42A27DB-BD31-4B8C-83A1-F6EECF244321}">
                <p14:modId xmlns:p14="http://schemas.microsoft.com/office/powerpoint/2010/main" val="1579011935"/>
              </p:ext>
            </p:extLst>
          </p:nvPr>
        </p:nvGraphicFramePr>
        <p:xfrm>
          <a:off x="5029200" y="1783080"/>
          <a:ext cx="6613855" cy="914400"/>
        </p:xfrm>
        <a:graphic>
          <a:graphicData uri="http://schemas.openxmlformats.org/drawingml/2006/table">
            <a:tbl>
              <a:tblPr/>
              <a:tblGrid>
                <a:gridCol w="1783080"/>
                <a:gridCol w="1508760"/>
                <a:gridCol w="1463040"/>
                <a:gridCol w="1858975"/>
              </a:tblGrid>
              <a:tr h="566928">
                <a:tc>
                  <a:txBody>
                    <a:bodyPr/>
                    <a:lstStyle/>
                    <a:p>
                      <a:pPr indent="0" marL="0">
                        <a:buNone/>
                      </a:pPr>
                      <a:r>
                        <a:rPr lang="en-US" sz="1100" b="1" dirty="0">
                          <a:solidFill>
                            <a:srgbClr val="FFFFFF"/>
                          </a:solidFill>
                          <a:latin typeface="Arial" pitchFamily="34" charset="0"/>
                          <a:ea typeface="Arial" pitchFamily="34" charset="-122"/>
                          <a:cs typeface="Arial" pitchFamily="34" charset="-120"/>
                        </a:rPr>
                        <a:t>Area</a:t>
                      </a:r>
                      <a:endParaRPr lang="en-US" sz="1100" dirty="0">
                        <a:latin typeface="Arial" charset="0"/>
                        <a:ea typeface="Arial" charset="0"/>
                        <a:cs typeface="Arial" charset="0"/>
                      </a:endParaRPr>
                    </a:p>
                  </a:txBody>
                  <a:tcPr marL="88900" marR="88900" marT="63500" marB="635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Residents who work in the zone (share of working residents)</a:t>
                      </a:r>
                      <a:endParaRPr lang="en-US" sz="1100" dirty="0">
                        <a:latin typeface="Arial" charset="0"/>
                        <a:ea typeface="Arial" charset="0"/>
                        <a:cs typeface="Arial" charset="0"/>
                      </a:endParaRPr>
                    </a:p>
                  </a:txBody>
                  <a:tcPr marL="88900" marR="88900" marT="63500" marB="635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Drive to work alone</a:t>
                      </a:r>
                      <a:endParaRPr lang="en-US" sz="1100" dirty="0">
                        <a:latin typeface="Arial" charset="0"/>
                        <a:ea typeface="Arial" charset="0"/>
                        <a:cs typeface="Arial" charset="0"/>
                      </a:endParaRPr>
                    </a:p>
                  </a:txBody>
                  <a:tcPr marL="88900" marR="88900" marT="63500" marB="635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Example transit trip to Manhattan, and main barrier</a:t>
                      </a:r>
                      <a:endParaRPr lang="en-US" sz="1100" dirty="0">
                        <a:latin typeface="Arial" charset="0"/>
                        <a:ea typeface="Arial" charset="0"/>
                        <a:cs typeface="Arial" charset="0"/>
                      </a:endParaRPr>
                    </a:p>
                  </a:txBody>
                  <a:tcPr marL="88900" marR="88900" marT="63500" marB="635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6400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Eastern Queens</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Union Turnpike and Fresh Meadows</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2,649 (28%)</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30–60% by neighbourhood; about 42% overall</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55.6 minutes; long walks to the bus</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6400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East Bronx</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Throggs Neck and Pelham Bay</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1,454 (29%)</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50–81% by neighbourhood; about 57% overall</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71.2 minutes; a slow 16-minute local bus ride</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400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Southeast Queens</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Rosedale and Laurelton</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651 (27%)</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50–60% by neighbourhood; about 52% overall</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61.9 minutes; an outdoor transfer and a second fare</a:t>
                      </a:r>
                      <a:endParaRPr lang="en-US" sz="1200" dirty="0">
                        <a:latin typeface="Arial" charset="0"/>
                        <a:ea typeface="Arial" charset="0"/>
                        <a:cs typeface="Arial" charset="0"/>
                      </a:endParaRPr>
                    </a:p>
                  </a:txBody>
                  <a:tcPr marL="88900" marR="88900" marT="63500" marB="635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panel"/>
          <p:cNvSpPr/>
          <p:nvPr/>
        </p:nvSpPr>
        <p:spPr>
          <a:xfrm>
            <a:off x="5029200" y="4544568"/>
            <a:ext cx="3169768" cy="1261872"/>
          </a:xfrm>
          <a:prstGeom prst="rect">
            <a:avLst/>
          </a:prstGeom>
          <a:solidFill>
            <a:schemeClr val="bg2"/>
          </a:solidFill>
          <a:ln/>
        </p:spPr>
      </p:sp>
      <p:sp>
        <p:nvSpPr>
          <p:cNvPr id="8" name="Text 4"/>
          <p:cNvSpPr txBox="1"/>
          <p:nvPr/>
        </p:nvSpPr>
        <p:spPr>
          <a:xfrm>
            <a:off x="5212080" y="4590288"/>
            <a:ext cx="2804008" cy="1170432"/>
          </a:xfrm>
          <a:prstGeom prst="rect">
            <a:avLst/>
          </a:prstGeom>
          <a:noFill/>
          <a:ln/>
        </p:spPr>
        <p:txBody>
          <a:bodyPr wrap="square" lIns="0" tIns="0" rIns="0" bIns="0" rtlCol="0" anchor="ctr"/>
          <a:lstStyle/>
          <a:p>
            <a:pPr indent="0" marL="0">
              <a:buNone/>
            </a:pPr>
            <a:r>
              <a:rPr lang="en-US" sz="1200" b="1" dirty="0">
                <a:solidFill>
                  <a:srgbClr val="A8441F"/>
                </a:solidFill>
              </a:rPr>
              <a:t>Strongest case on demand</a:t>
            </a:r>
            <a:endParaRPr lang="en-US" sz="1200" dirty="0"/>
          </a:p>
          <a:p>
            <a:pPr indent="0" marL="0">
              <a:buNone/>
            </a:pPr>
            <a:r>
              <a:rPr lang="en-US" sz="1200" dirty="0">
                <a:solidFill>
                  <a:schemeClr val="tx1"/>
                </a:solidFill>
              </a:rPr>
              <a:t>Eastern Queens has 2,649 residents who work in the zone, almost twice as many as the East Bronx.</a:t>
            </a:r>
            <a:endParaRPr lang="en-US" sz="1200" dirty="0"/>
          </a:p>
        </p:txBody>
      </p:sp>
      <p:sp>
        <p:nvSpPr>
          <p:cNvPr id="9" name="panel"/>
          <p:cNvSpPr/>
          <p:nvPr/>
        </p:nvSpPr>
        <p:spPr>
          <a:xfrm>
            <a:off x="8473288" y="4544568"/>
            <a:ext cx="3169768" cy="1261872"/>
          </a:xfrm>
          <a:prstGeom prst="rect">
            <a:avLst/>
          </a:prstGeom>
          <a:solidFill>
            <a:schemeClr val="bg2"/>
          </a:solidFill>
          <a:ln/>
        </p:spPr>
      </p:sp>
      <p:sp>
        <p:nvSpPr>
          <p:cNvPr id="10" name="Text 6"/>
          <p:cNvSpPr txBox="1"/>
          <p:nvPr/>
        </p:nvSpPr>
        <p:spPr>
          <a:xfrm>
            <a:off x="8656168" y="4590288"/>
            <a:ext cx="2804008" cy="1170432"/>
          </a:xfrm>
          <a:prstGeom prst="rect">
            <a:avLst/>
          </a:prstGeom>
          <a:noFill/>
          <a:ln/>
        </p:spPr>
        <p:txBody>
          <a:bodyPr wrap="square" lIns="0" tIns="0" rIns="0" bIns="0" rtlCol="0" anchor="ctr"/>
          <a:lstStyle/>
          <a:p>
            <a:pPr indent="0" marL="0">
              <a:buNone/>
            </a:pPr>
            <a:r>
              <a:rPr lang="en-US" sz="1200" b="1" dirty="0">
                <a:solidFill>
                  <a:srgbClr val="A8441F"/>
                </a:solidFill>
              </a:rPr>
              <a:t>Strongest case on car use</a:t>
            </a:r>
            <a:endParaRPr lang="en-US" sz="1200" dirty="0"/>
          </a:p>
          <a:p>
            <a:pPr indent="0" marL="0">
              <a:buNone/>
            </a:pPr>
            <a:r>
              <a:rPr lang="en-US" sz="1200" dirty="0">
                <a:solidFill>
                  <a:schemeClr val="tx1"/>
                </a:solidFill>
              </a:rPr>
              <a:t>The East Bronx has the most people driving alone (57%), and its local bus is slow and often late.</a:t>
            </a:r>
            <a:endParaRPr lang="en-US" sz="1200" dirty="0"/>
          </a:p>
        </p:txBody>
      </p:sp>
      <p:sp>
        <p:nvSpPr>
          <p:cNvPr id="11"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how long transit trips from these areas really take.</a:t>
            </a:r>
            <a:endParaRPr lang="en-US" sz="1300" dirty="0"/>
          </a:p>
        </p:txBody>
      </p:sp>
      <p:sp>
        <p:nvSpPr>
          <p:cNvPr id="12"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U.S. Census employment data (2023), American Community Survey (2018–2022), trip-planner model. No public data shows where toll-paying drivers live, so this shows where zone jobs and driving overlap. Drive-alone rates cover all commutes.</a:t>
            </a:r>
            <a:endParaRPr lang="en-US" sz="900" dirty="0"/>
          </a:p>
        </p:txBody>
      </p:sp>
      <p:sp>
        <p:nvSpPr>
          <p:cNvPr id="13" name="exhibit link">
            <a:hlinkClick r:id="rId2" tooltip="Exhibit 3: travel origin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3: travel origin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From these areas, a transit trip to Manhattan takes about an hour, and 13 to 22 minutes of it is walking and waiting</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Estimated trips leaving at 8 a.m. on a Wednesday (fall 2026 timetable); modelled, not measured. Fresh Meadows is shown with the bus to the F train; slide 10 tests the Union Turnpike bus.</a:t>
            </a:r>
            <a:endParaRPr lang="en-US" sz="1400" dirty="0"/>
          </a:p>
        </p:txBody>
      </p:sp>
      <p:sp>
        <p:nvSpPr>
          <p:cNvPr id="4" name="panel"/>
          <p:cNvSpPr/>
          <p:nvPr/>
        </p:nvSpPr>
        <p:spPr>
          <a:xfrm>
            <a:off x="548640" y="1783080"/>
            <a:ext cx="6309360" cy="4023360"/>
          </a:xfrm>
          <a:prstGeom prst="rect">
            <a:avLst/>
          </a:prstGeom>
          <a:solidFill>
            <a:schemeClr val="bg2"/>
          </a:solidFill>
          <a:ln/>
        </p:spPr>
      </p:sp>
      <p:sp>
        <p:nvSpPr>
          <p:cNvPr id="5" name="Text 3"/>
          <p:cNvSpPr txBox="1"/>
          <p:nvPr/>
        </p:nvSpPr>
        <p:spPr>
          <a:xfrm>
            <a:off x="777240" y="1947672"/>
            <a:ext cx="5852160" cy="292608"/>
          </a:xfrm>
          <a:prstGeom prst="rect">
            <a:avLst/>
          </a:prstGeom>
          <a:noFill/>
          <a:ln/>
        </p:spPr>
        <p:txBody>
          <a:bodyPr wrap="square" lIns="0" tIns="0" rIns="0" bIns="0" rtlCol="0" anchor="ctr"/>
          <a:lstStyle/>
          <a:p>
            <a:pPr indent="0" marL="0">
              <a:buNone/>
            </a:pPr>
            <a:r>
              <a:rPr lang="en-US" sz="1400" b="1" dirty="0">
                <a:solidFill>
                  <a:schemeClr val="tx1"/>
                </a:solidFill>
              </a:rPr>
              <a:t>Where the time goes (minutes)</a:t>
            </a:r>
            <a:endParaRPr lang="en-US" sz="1400" dirty="0"/>
          </a:p>
        </p:txBody>
      </p:sp>
      <p:graphicFrame>
        <p:nvGraphicFramePr>
          <p:cNvPr id="6" name="Chart 0" descr=""/>
          <p:cNvGraphicFramePr/>
          <p:nvPr/>
        </p:nvGraphicFramePr>
        <p:xfrm>
          <a:off x="685800" y="2286000"/>
          <a:ext cx="6035040" cy="3383280"/>
        </p:xfrm>
        <a:graphic xmlns:a="http://schemas.openxmlformats.org/drawingml/2006/main">
          <a:graphicData uri="http://schemas.openxmlformats.org/drawingml/2006/chart">
            <c:chart xmlns:c="http://schemas.openxmlformats.org/drawingml/2006/chart" r:id="rId1"/>
          </a:graphicData>
        </a:graphic>
      </p:graphicFrame>
      <p:sp>
        <p:nvSpPr>
          <p:cNvPr id="7" name="Fresh Meadows to Midtown East"/>
          <p:cNvSpPr/>
          <p:nvPr/>
        </p:nvSpPr>
        <p:spPr>
          <a:xfrm>
            <a:off x="7132320" y="1783080"/>
            <a:ext cx="4510735" cy="1219200"/>
          </a:xfrm>
          <a:prstGeom prst="rect">
            <a:avLst/>
          </a:prstGeom>
          <a:solidFill>
            <a:schemeClr val="bg2"/>
          </a:solidFill>
          <a:ln/>
        </p:spPr>
      </p:sp>
      <p:sp>
        <p:nvSpPr>
          <p:cNvPr id="8" name="Text 5"/>
          <p:cNvSpPr txBox="1"/>
          <p:nvPr/>
        </p:nvSpPr>
        <p:spPr>
          <a:xfrm>
            <a:off x="7360920" y="1874520"/>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Fresh Meadows to Midtown East</a:t>
            </a:r>
            <a:endParaRPr lang="en-US" sz="1300" dirty="0"/>
          </a:p>
        </p:txBody>
      </p:sp>
      <p:sp>
        <p:nvSpPr>
          <p:cNvPr id="9" name="Text 6"/>
          <p:cNvSpPr txBox="1"/>
          <p:nvPr/>
        </p:nvSpPr>
        <p:spPr>
          <a:xfrm>
            <a:off x="10454335" y="1856232"/>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55.6 min</a:t>
            </a:r>
            <a:endParaRPr lang="en-US" sz="1600" dirty="0"/>
          </a:p>
        </p:txBody>
      </p:sp>
      <p:sp>
        <p:nvSpPr>
          <p:cNvPr id="10" name="Text 7"/>
          <p:cNvSpPr txBox="1"/>
          <p:nvPr/>
        </p:nvSpPr>
        <p:spPr>
          <a:xfrm>
            <a:off x="7360920" y="2167128"/>
            <a:ext cx="4053535" cy="798576"/>
          </a:xfrm>
          <a:prstGeom prst="rect">
            <a:avLst/>
          </a:prstGeom>
          <a:noFill/>
          <a:ln/>
        </p:spPr>
        <p:txBody>
          <a:bodyPr wrap="square" lIns="0" tIns="0" rIns="0" bIns="0" rtlCol="0" anchor="t"/>
          <a:lstStyle/>
          <a:p>
            <a:pPr indent="0" marL="0">
              <a:buNone/>
            </a:pPr>
            <a:r>
              <a:rPr lang="en-US" sz="1150" b="1" dirty="0">
                <a:solidFill>
                  <a:srgbClr val="A8441F"/>
                </a:solidFill>
              </a:rPr>
              <a:t>Walking and waiting: 20.2 min</a:t>
            </a:r>
            <a:endParaRPr lang="en-US" sz="1150" dirty="0"/>
          </a:p>
          <a:p>
            <a:pPr indent="0" marL="0">
              <a:buNone/>
            </a:pPr>
            <a:r>
              <a:rPr lang="en-US" sz="1150" dirty="0">
                <a:solidFill>
                  <a:schemeClr val="tx1"/>
                </a:solidFill>
              </a:rPr>
              <a:t>Walking alone takes 17.7 minutes. The bus ride is only 6.9 minutes, so bus lanes alone will not fix the problem.</a:t>
            </a:r>
            <a:endParaRPr lang="en-US" sz="1150" dirty="0"/>
          </a:p>
        </p:txBody>
      </p:sp>
      <p:sp>
        <p:nvSpPr>
          <p:cNvPr id="11" name="Rosedale to Lower Manhattan"/>
          <p:cNvSpPr/>
          <p:nvPr/>
        </p:nvSpPr>
        <p:spPr>
          <a:xfrm>
            <a:off x="7132320" y="3185160"/>
            <a:ext cx="4510735" cy="1219200"/>
          </a:xfrm>
          <a:prstGeom prst="rect">
            <a:avLst/>
          </a:prstGeom>
          <a:solidFill>
            <a:schemeClr val="bg2"/>
          </a:solidFill>
          <a:ln/>
        </p:spPr>
      </p:sp>
      <p:sp>
        <p:nvSpPr>
          <p:cNvPr id="12" name="Text 9"/>
          <p:cNvSpPr txBox="1"/>
          <p:nvPr/>
        </p:nvSpPr>
        <p:spPr>
          <a:xfrm>
            <a:off x="7360920" y="3276600"/>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Rosedale to Lower Manhattan</a:t>
            </a:r>
            <a:endParaRPr lang="en-US" sz="1300" dirty="0"/>
          </a:p>
        </p:txBody>
      </p:sp>
      <p:sp>
        <p:nvSpPr>
          <p:cNvPr id="13" name="Text 10"/>
          <p:cNvSpPr txBox="1"/>
          <p:nvPr/>
        </p:nvSpPr>
        <p:spPr>
          <a:xfrm>
            <a:off x="10454335" y="3258312"/>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61.9 min</a:t>
            </a:r>
            <a:endParaRPr lang="en-US" sz="1600" dirty="0"/>
          </a:p>
        </p:txBody>
      </p:sp>
      <p:sp>
        <p:nvSpPr>
          <p:cNvPr id="14" name="Text 11"/>
          <p:cNvSpPr txBox="1"/>
          <p:nvPr/>
        </p:nvSpPr>
        <p:spPr>
          <a:xfrm>
            <a:off x="7360920" y="3569208"/>
            <a:ext cx="4053535" cy="798576"/>
          </a:xfrm>
          <a:prstGeom prst="rect">
            <a:avLst/>
          </a:prstGeom>
          <a:noFill/>
          <a:ln/>
        </p:spPr>
        <p:txBody>
          <a:bodyPr wrap="square" lIns="0" tIns="0" rIns="0" bIns="0" rtlCol="0" anchor="t"/>
          <a:lstStyle/>
          <a:p>
            <a:pPr indent="0" marL="0">
              <a:buNone/>
            </a:pPr>
            <a:r>
              <a:rPr lang="en-US" sz="1150" b="1" dirty="0">
                <a:solidFill>
                  <a:srgbClr val="A8441F"/>
                </a:solidFill>
              </a:rPr>
              <a:t>Walking and waiting: 22.4 min</a:t>
            </a:r>
            <a:endParaRPr lang="en-US" sz="1150" dirty="0"/>
          </a:p>
          <a:p>
            <a:pPr indent="0" marL="0">
              <a:buNone/>
            </a:pPr>
            <a:r>
              <a:rPr lang="en-US" sz="1150" dirty="0">
                <a:solidFill>
                  <a:schemeClr val="tx1"/>
                </a:solidFill>
              </a:rPr>
              <a:t>The Long Island Rail Road part is fast (27 minutes), but changing to the subway adds an outdoor walk and a second fare.</a:t>
            </a:r>
            <a:endParaRPr lang="en-US" sz="1150" dirty="0"/>
          </a:p>
        </p:txBody>
      </p:sp>
      <p:sp>
        <p:nvSpPr>
          <p:cNvPr id="15" name="Throggs Neck to Grand Central"/>
          <p:cNvSpPr/>
          <p:nvPr/>
        </p:nvSpPr>
        <p:spPr>
          <a:xfrm>
            <a:off x="7132320" y="4587240"/>
            <a:ext cx="4510735" cy="1219200"/>
          </a:xfrm>
          <a:prstGeom prst="rect">
            <a:avLst/>
          </a:prstGeom>
          <a:solidFill>
            <a:schemeClr val="bg2"/>
          </a:solidFill>
          <a:ln/>
        </p:spPr>
      </p:sp>
      <p:sp>
        <p:nvSpPr>
          <p:cNvPr id="16" name="Text 13"/>
          <p:cNvSpPr txBox="1"/>
          <p:nvPr/>
        </p:nvSpPr>
        <p:spPr>
          <a:xfrm>
            <a:off x="7360920" y="4678680"/>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Throggs Neck to Grand Central</a:t>
            </a:r>
            <a:endParaRPr lang="en-US" sz="1300" dirty="0"/>
          </a:p>
        </p:txBody>
      </p:sp>
      <p:sp>
        <p:nvSpPr>
          <p:cNvPr id="17" name="Text 14"/>
          <p:cNvSpPr txBox="1"/>
          <p:nvPr/>
        </p:nvSpPr>
        <p:spPr>
          <a:xfrm>
            <a:off x="10454335" y="4660392"/>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71.2 min</a:t>
            </a:r>
            <a:endParaRPr lang="en-US" sz="1600" dirty="0"/>
          </a:p>
        </p:txBody>
      </p:sp>
      <p:sp>
        <p:nvSpPr>
          <p:cNvPr id="18" name="Text 15"/>
          <p:cNvSpPr txBox="1"/>
          <p:nvPr/>
        </p:nvSpPr>
        <p:spPr>
          <a:xfrm>
            <a:off x="7360920" y="4971288"/>
            <a:ext cx="4053535" cy="798576"/>
          </a:xfrm>
          <a:prstGeom prst="rect">
            <a:avLst/>
          </a:prstGeom>
          <a:noFill/>
          <a:ln/>
        </p:spPr>
        <p:txBody>
          <a:bodyPr wrap="square" lIns="0" tIns="0" rIns="0" bIns="0" rtlCol="0" anchor="t"/>
          <a:lstStyle/>
          <a:p>
            <a:pPr indent="0" marL="0">
              <a:buNone/>
            </a:pPr>
            <a:r>
              <a:rPr lang="en-US" sz="1150" b="1" dirty="0">
                <a:solidFill>
                  <a:srgbClr val="A8441F"/>
                </a:solidFill>
              </a:rPr>
              <a:t>Walking and waiting: 12.7 min</a:t>
            </a:r>
            <a:endParaRPr lang="en-US" sz="1150" dirty="0"/>
          </a:p>
          <a:p>
            <a:pPr indent="0" marL="0">
              <a:buNone/>
            </a:pPr>
            <a:r>
              <a:rPr lang="en-US" sz="1150" dirty="0">
                <a:solidFill>
                  <a:schemeClr val="tx1"/>
                </a:solidFill>
              </a:rPr>
              <a:t>The local bus on Crosby Avenue takes 16 minutes. It is slow (7.9 mph) and on time only 67% of the time at peak.</a:t>
            </a:r>
            <a:endParaRPr lang="en-US" sz="1150" dirty="0"/>
          </a:p>
        </p:txBody>
      </p:sp>
      <p:sp>
        <p:nvSpPr>
          <p:cNvPr id="19"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how the local buses that feed these trips perform.</a:t>
            </a:r>
            <a:endParaRPr lang="en-US" sz="1300" dirty="0"/>
          </a:p>
        </p:txBody>
      </p:sp>
      <p:sp>
        <p:nvSpPr>
          <p:cNvPr id="20"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trip-planner model using MTA fall 2026 timetables. Driving times are not shown because they are not calibrated.</a:t>
            </a:r>
            <a:endParaRPr lang="en-US" sz="900" dirty="0"/>
          </a:p>
        </p:txBody>
      </p:sp>
      <p:sp>
        <p:nvSpPr>
          <p:cNvPr id="21" name="exhibit link">
            <a:hlinkClick r:id="rId2" tooltip="Exhibit 4: transit journey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4: transit journey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The local buses differ: the Throggs Neck bus is slow and often late, while the Fresh Meadows bus is on time</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MTA bus data, weekday mornings. Left: average bus speed. Right: share of buses on time at peak, against the MTA’s 70% target.</a:t>
            </a:r>
            <a:endParaRPr lang="en-US" sz="1400" dirty="0"/>
          </a:p>
        </p:txBody>
      </p:sp>
      <p:sp>
        <p:nvSpPr>
          <p:cNvPr id="4" name="panel"/>
          <p:cNvSpPr/>
          <p:nvPr/>
        </p:nvSpPr>
        <p:spPr>
          <a:xfrm>
            <a:off x="548640" y="1783080"/>
            <a:ext cx="5410048" cy="4023360"/>
          </a:xfrm>
          <a:prstGeom prst="rect">
            <a:avLst/>
          </a:prstGeom>
          <a:solidFill>
            <a:schemeClr val="bg2"/>
          </a:solidFill>
          <a:ln/>
        </p:spPr>
      </p:sp>
      <p:sp>
        <p:nvSpPr>
          <p:cNvPr id="5" name="Text 3"/>
          <p:cNvSpPr txBox="1"/>
          <p:nvPr/>
        </p:nvSpPr>
        <p:spPr>
          <a:xfrm>
            <a:off x="777240" y="1947672"/>
            <a:ext cx="4952848" cy="292608"/>
          </a:xfrm>
          <a:prstGeom prst="rect">
            <a:avLst/>
          </a:prstGeom>
          <a:noFill/>
          <a:ln/>
        </p:spPr>
        <p:txBody>
          <a:bodyPr wrap="square" lIns="0" tIns="0" rIns="0" bIns="0" rtlCol="0" anchor="ctr"/>
          <a:lstStyle/>
          <a:p>
            <a:pPr indent="0" marL="0">
              <a:buNone/>
            </a:pPr>
            <a:r>
              <a:rPr lang="en-US" sz="1400" b="1" dirty="0">
                <a:solidFill>
                  <a:schemeClr val="tx1"/>
                </a:solidFill>
              </a:rPr>
              <a:t>Average morning bus speed (mph)</a:t>
            </a:r>
            <a:endParaRPr lang="en-US" sz="1400" dirty="0"/>
          </a:p>
        </p:txBody>
      </p:sp>
      <p:graphicFrame>
        <p:nvGraphicFramePr>
          <p:cNvPr id="6" name="Chart 0" descr=""/>
          <p:cNvGraphicFramePr/>
          <p:nvPr/>
        </p:nvGraphicFramePr>
        <p:xfrm>
          <a:off x="685800" y="2286000"/>
          <a:ext cx="5135728" cy="2148840"/>
        </p:xfrm>
        <a:graphic xmlns:a="http://schemas.openxmlformats.org/drawingml/2006/main">
          <a:graphicData uri="http://schemas.openxmlformats.org/drawingml/2006/chart">
            <c:chart xmlns:c="http://schemas.openxmlformats.org/drawingml/2006/chart" r:id="rId1"/>
          </a:graphicData>
        </a:graphic>
      </p:graphicFrame>
      <p:sp>
        <p:nvSpPr>
          <p:cNvPr id="7" name="rule"/>
          <p:cNvSpPr/>
          <p:nvPr/>
        </p:nvSpPr>
        <p:spPr>
          <a:xfrm>
            <a:off x="777240" y="4526280"/>
            <a:ext cx="4952848" cy="0"/>
          </a:xfrm>
          <a:prstGeom prst="line">
            <a:avLst/>
          </a:prstGeom>
          <a:noFill/>
          <a:ln w="9525">
            <a:solidFill>
              <a:srgbClr val="D9D9D9"/>
            </a:solidFill>
            <a:prstDash val="solid"/>
          </a:ln>
        </p:spPr>
      </p:sp>
      <p:sp>
        <p:nvSpPr>
          <p:cNvPr id="8" name="Text 5"/>
          <p:cNvSpPr txBox="1"/>
          <p:nvPr/>
        </p:nvSpPr>
        <p:spPr>
          <a:xfrm>
            <a:off x="777240" y="4617720"/>
            <a:ext cx="4952848" cy="1143000"/>
          </a:xfrm>
          <a:prstGeom prst="rect">
            <a:avLst/>
          </a:prstGeom>
          <a:noFill/>
          <a:ln/>
        </p:spPr>
        <p:txBody>
          <a:bodyPr wrap="square" lIns="0" tIns="0" rIns="0" bIns="0" rtlCol="0" anchor="t"/>
          <a:lstStyle/>
          <a:p>
            <a:pPr indent="0" marL="0">
              <a:spcAft>
                <a:spcPts val="600"/>
              </a:spcAft>
              <a:buNone/>
            </a:pPr>
            <a:r>
              <a:rPr lang="en-US" sz="1250" b="1" dirty="0">
                <a:solidFill>
                  <a:schemeClr val="tx1"/>
                </a:solidFill>
              </a:rPr>
              <a:t>The Union Turnpike bus </a:t>
            </a:r>
            <a:pPr indent="0" marL="0">
              <a:spcAft>
                <a:spcPts val="600"/>
              </a:spcAft>
              <a:buNone/>
            </a:pPr>
            <a:r>
              <a:rPr lang="en-US" sz="1250" dirty="0">
                <a:solidFill>
                  <a:schemeClr val="tx1"/>
                </a:solidFill>
              </a:rPr>
              <a:t>is the one in our what-if test. It is the fastest and most reliable route shown.</a:t>
            </a:r>
            <a:pPr indent="0" marL="0">
              <a:spcAft>
                <a:spcPts val="600"/>
              </a:spcAft>
              <a:buNone/>
            </a:pPr>
            <a:endParaRPr lang="en-US" sz="1250" dirty="0"/>
          </a:p>
          <a:p>
            <a:pPr indent="0" marL="0">
              <a:spcAft>
                <a:spcPts val="600"/>
              </a:spcAft>
              <a:buNone/>
            </a:pPr>
            <a:r>
              <a:rPr lang="en-US" sz="1250" b="1" dirty="0">
                <a:solidFill>
                  <a:schemeClr val="tx1"/>
                </a:solidFill>
              </a:rPr>
              <a:t>The Fresh Meadows bus </a:t>
            </a:r>
            <a:pPr indent="0" marL="0">
              <a:spcAft>
                <a:spcPts val="600"/>
              </a:spcAft>
              <a:buNone/>
            </a:pPr>
            <a:r>
              <a:rPr lang="en-US" sz="1250" dirty="0">
                <a:solidFill>
                  <a:schemeClr val="tx1"/>
                </a:solidFill>
              </a:rPr>
              <a:t>has no speed record in the data.</a:t>
            </a:r>
            <a:endParaRPr lang="en-US" sz="1250" dirty="0"/>
          </a:p>
        </p:txBody>
      </p:sp>
      <p:sp>
        <p:nvSpPr>
          <p:cNvPr id="9" name="panel"/>
          <p:cNvSpPr/>
          <p:nvPr/>
        </p:nvSpPr>
        <p:spPr>
          <a:xfrm>
            <a:off x="6233008" y="1783080"/>
            <a:ext cx="5410048" cy="4023360"/>
          </a:xfrm>
          <a:prstGeom prst="rect">
            <a:avLst/>
          </a:prstGeom>
          <a:solidFill>
            <a:schemeClr val="bg2"/>
          </a:solidFill>
          <a:ln/>
        </p:spPr>
      </p:sp>
      <p:sp>
        <p:nvSpPr>
          <p:cNvPr id="10" name="Text 7"/>
          <p:cNvSpPr txBox="1"/>
          <p:nvPr/>
        </p:nvSpPr>
        <p:spPr>
          <a:xfrm>
            <a:off x="6461608" y="1947672"/>
            <a:ext cx="4952848" cy="292608"/>
          </a:xfrm>
          <a:prstGeom prst="rect">
            <a:avLst/>
          </a:prstGeom>
          <a:noFill/>
          <a:ln/>
        </p:spPr>
        <p:txBody>
          <a:bodyPr wrap="square" lIns="0" tIns="0" rIns="0" bIns="0" rtlCol="0" anchor="ctr"/>
          <a:lstStyle/>
          <a:p>
            <a:pPr indent="0" marL="0">
              <a:buNone/>
            </a:pPr>
            <a:r>
              <a:rPr lang="en-US" sz="1400" b="1" dirty="0">
                <a:solidFill>
                  <a:schemeClr val="tx1"/>
                </a:solidFill>
              </a:rPr>
              <a:t>Buses on time at peak (%)</a:t>
            </a:r>
            <a:endParaRPr lang="en-US" sz="1400" dirty="0"/>
          </a:p>
        </p:txBody>
      </p:sp>
      <p:graphicFrame>
        <p:nvGraphicFramePr>
          <p:cNvPr id="11" name="Chart 1" descr=""/>
          <p:cNvGraphicFramePr/>
          <p:nvPr/>
        </p:nvGraphicFramePr>
        <p:xfrm>
          <a:off x="6370168" y="2286000"/>
          <a:ext cx="5135728" cy="2148840"/>
        </p:xfrm>
        <a:graphic xmlns:a="http://schemas.openxmlformats.org/drawingml/2006/main">
          <a:graphicData uri="http://schemas.openxmlformats.org/drawingml/2006/chart">
            <c:chart xmlns:c="http://schemas.openxmlformats.org/drawingml/2006/chart" r:id="rId2"/>
          </a:graphicData>
        </a:graphic>
      </p:graphicFrame>
      <p:sp>
        <p:nvSpPr>
          <p:cNvPr id="12" name="rule"/>
          <p:cNvSpPr/>
          <p:nvPr/>
        </p:nvSpPr>
        <p:spPr>
          <a:xfrm>
            <a:off x="6461608" y="4526280"/>
            <a:ext cx="4952848" cy="0"/>
          </a:xfrm>
          <a:prstGeom prst="line">
            <a:avLst/>
          </a:prstGeom>
          <a:noFill/>
          <a:ln w="9525">
            <a:solidFill>
              <a:srgbClr val="D9D9D9"/>
            </a:solidFill>
            <a:prstDash val="solid"/>
          </a:ln>
        </p:spPr>
      </p:sp>
      <p:sp>
        <p:nvSpPr>
          <p:cNvPr id="13" name="Text 9"/>
          <p:cNvSpPr txBox="1"/>
          <p:nvPr/>
        </p:nvSpPr>
        <p:spPr>
          <a:xfrm>
            <a:off x="6461608" y="4617720"/>
            <a:ext cx="4952848" cy="1143000"/>
          </a:xfrm>
          <a:prstGeom prst="rect">
            <a:avLst/>
          </a:prstGeom>
          <a:noFill/>
          <a:ln/>
        </p:spPr>
        <p:txBody>
          <a:bodyPr wrap="square" lIns="0" tIns="0" rIns="0" bIns="0" rtlCol="0" anchor="t"/>
          <a:lstStyle/>
          <a:p>
            <a:pPr indent="0" marL="0">
              <a:buNone/>
            </a:pPr>
            <a:r>
              <a:rPr lang="en-US" sz="1250" b="1" dirty="0">
                <a:solidFill>
                  <a:srgbClr val="A8441F"/>
                </a:solidFill>
              </a:rPr>
              <a:t>What this means: </a:t>
            </a:r>
            <a:pPr indent="0" marL="0">
              <a:buNone/>
            </a:pPr>
            <a:r>
              <a:rPr lang="en-US" sz="1250" dirty="0">
                <a:solidFill>
                  <a:schemeClr val="tx1"/>
                </a:solidFill>
              </a:rPr>
              <a:t>In Fresh Meadows the bus is on time and the ride is only 6.9 minutes, so better walking routes come first. In Throggs Neck the bus is slow and below target, so a bus lane on Crosby Avenue is the fix.</a:t>
            </a:r>
            <a:endParaRPr lang="en-US" sz="1250" dirty="0"/>
          </a:p>
        </p:txBody>
      </p:sp>
      <p:sp>
        <p:nvSpPr>
          <p:cNvPr id="14"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what we propose to fix in each area.</a:t>
            </a:r>
            <a:endParaRPr lang="en-US" sz="1300" dirty="0"/>
          </a:p>
        </p:txBody>
      </p:sp>
      <p:sp>
        <p:nvSpPr>
          <p:cNvPr id="15"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MTA bus speeds, weekdays 7–10 a.m. (August 2026; Throggs Neck March–June 2025); MTA wait assessment, August 2026. On time means the gap between buses is no more than 3 minutes longer than scheduled. Orange = below target or the focus route.</a:t>
            </a:r>
            <a:endParaRPr lang="en-US" sz="900" dirty="0"/>
          </a:p>
        </p:txBody>
      </p:sp>
      <p:sp>
        <p:nvSpPr>
          <p:cNvPr id="16" name="exhibit link">
            <a:hlinkClick r:id="rId3" tooltip="All exhibi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3" invalidUrl="" action="" tgtFrame="" tooltip="All exhibi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Each area has a different main problem, so each needs a different fix</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One main barrier and one main fix per place. Phase 1 starts first; Phase 2 follows once Phase 1 is reviewed. By law, toll revenue pays only for physical and technology projects, so every fix is of that kind.</a:t>
            </a:r>
            <a:endParaRPr lang="en-US" sz="1400" dirty="0"/>
          </a:p>
        </p:txBody>
      </p:sp>
      <p:graphicFrame>
        <p:nvGraphicFramePr>
          <p:cNvPr id="10" name="solutions matrix"/>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2743200"/>
                <a:gridCol w="5120640"/>
                <a:gridCol w="1036015"/>
              </a:tblGrid>
              <a:tr h="45720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Place</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Main barrier</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What to build</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8686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Fresh Meadows</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Eastern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Long walks to the bus (the bus itself is short and on time)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Safer, shorter walks to the bus stops, and better shelters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b="1" dirty="0">
                          <a:solidFill>
                            <a:srgbClr val="A8441F"/>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8686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Union Turnpike</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Eastern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 long bus ride (14 to 41 minutes) and an 8-minute transfer</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Bus lanes and signal priority for the Union Turnpike bus, and a sheltered transfer at Kew Gardens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b="1" dirty="0">
                          <a:solidFill>
                            <a:srgbClr val="A8441F"/>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8686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Throggs Neck</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 Bronx</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 slow, often late local bus (7.9 mph; 67% on time)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 bus lane and signal priority on Crosby Avenue, after a 2026 speed check</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A1A1A"/>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686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Rosedale</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Southeast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An outdoor transfer and a second fare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 covered walkway between the Long Island Rail Road and the A train at Nostrand Avenue, and a cheaper transfer fare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A1A1A"/>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how much time a faster bus would save in each area.</a:t>
            </a:r>
            <a:endParaRPr lang="en-US" sz="1300" dirty="0"/>
          </a:p>
        </p:txBody>
      </p:sp>
      <p:sp>
        <p:nvSpPr>
          <p:cNvPr id="6"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U.S. Census employment data (2023) and American Community Survey (2018–2022); trip-planner model; what-if model.</a:t>
            </a:r>
            <a:endParaRPr lang="en-US" sz="900" dirty="0"/>
          </a:p>
        </p:txBody>
      </p:sp>
      <p:sp>
        <p:nvSpPr>
          <p:cNvPr id="7" name="exhibit link">
            <a:hlinkClick r:id="rId1" tooltip="Exhibit 6: decision framework"/>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Exhibit 6: decision framework"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A faster bus saves the most time on Union Turnpike: 6 to 12.5 minutes a trip, against about 4 in Throggs Neck</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Six starting points along Union Turnpike to Midtown East, leaving at 8 a.m. Today the bus ride is 14 to 41 minutes of each trip. A what-if estimate, not a ridership forecast.</a:t>
            </a:r>
            <a:endParaRPr lang="en-US" sz="1400" dirty="0"/>
          </a:p>
        </p:txBody>
      </p:sp>
      <p:sp>
        <p:nvSpPr>
          <p:cNvPr id="4" name="panel"/>
          <p:cNvSpPr/>
          <p:nvPr/>
        </p:nvSpPr>
        <p:spPr>
          <a:xfrm>
            <a:off x="548640" y="1783080"/>
            <a:ext cx="6766560" cy="4023360"/>
          </a:xfrm>
          <a:prstGeom prst="rect">
            <a:avLst/>
          </a:prstGeom>
          <a:solidFill>
            <a:schemeClr val="bg2"/>
          </a:solidFill>
          <a:ln/>
        </p:spPr>
      </p:sp>
      <p:sp>
        <p:nvSpPr>
          <p:cNvPr id="5" name="Text 3"/>
          <p:cNvSpPr txBox="1"/>
          <p:nvPr/>
        </p:nvSpPr>
        <p:spPr>
          <a:xfrm>
            <a:off x="777240" y="1947672"/>
            <a:ext cx="6309360" cy="292608"/>
          </a:xfrm>
          <a:prstGeom prst="rect">
            <a:avLst/>
          </a:prstGeom>
          <a:noFill/>
          <a:ln/>
        </p:spPr>
        <p:txBody>
          <a:bodyPr wrap="square" lIns="0" tIns="0" rIns="0" bIns="0" rtlCol="0" anchor="ctr"/>
          <a:lstStyle/>
          <a:p>
            <a:pPr indent="0" marL="0">
              <a:buNone/>
            </a:pPr>
            <a:r>
              <a:rPr lang="en-US" sz="1400" b="1" dirty="0">
                <a:solidFill>
                  <a:schemeClr val="tx1"/>
                </a:solidFill>
              </a:rPr>
              <a:t>Union Turnpike: door-to-door trip time (minutes)</a:t>
            </a:r>
            <a:endParaRPr lang="en-US" sz="1400" dirty="0"/>
          </a:p>
        </p:txBody>
      </p:sp>
      <p:graphicFrame>
        <p:nvGraphicFramePr>
          <p:cNvPr id="6" name="Chart 0" descr=""/>
          <p:cNvGraphicFramePr/>
          <p:nvPr/>
        </p:nvGraphicFramePr>
        <p:xfrm>
          <a:off x="685800" y="22860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7" name="panel"/>
          <p:cNvSpPr/>
          <p:nvPr/>
        </p:nvSpPr>
        <p:spPr>
          <a:xfrm>
            <a:off x="7589520" y="1783080"/>
            <a:ext cx="4053535" cy="1325880"/>
          </a:xfrm>
          <a:prstGeom prst="rect">
            <a:avLst/>
          </a:prstGeom>
          <a:solidFill>
            <a:schemeClr val="bg2"/>
          </a:solidFill>
          <a:ln/>
        </p:spPr>
      </p:sp>
      <p:sp>
        <p:nvSpPr>
          <p:cNvPr id="8" name="Text 5"/>
          <p:cNvSpPr txBox="1"/>
          <p:nvPr/>
        </p:nvSpPr>
        <p:spPr>
          <a:xfrm>
            <a:off x="7818120" y="1874520"/>
            <a:ext cx="3596335" cy="256032"/>
          </a:xfrm>
          <a:prstGeom prst="rect">
            <a:avLst/>
          </a:prstGeom>
          <a:noFill/>
          <a:ln/>
        </p:spPr>
        <p:txBody>
          <a:bodyPr wrap="square" lIns="0" tIns="0" rIns="0" bIns="0" rtlCol="0" anchor="ctr"/>
          <a:lstStyle/>
          <a:p>
            <a:pPr indent="0" marL="0">
              <a:buNone/>
            </a:pPr>
            <a:r>
              <a:rPr lang="en-US" sz="1200" b="1" dirty="0">
                <a:solidFill>
                  <a:srgbClr val="1A1A1A"/>
                </a:solidFill>
              </a:rPr>
              <a:t>Union Turnpike</a:t>
            </a:r>
            <a:endParaRPr lang="en-US" sz="1200" dirty="0"/>
          </a:p>
        </p:txBody>
      </p:sp>
      <p:sp>
        <p:nvSpPr>
          <p:cNvPr id="9" name="Text 6"/>
          <p:cNvSpPr txBox="1"/>
          <p:nvPr/>
        </p:nvSpPr>
        <p:spPr>
          <a:xfrm>
            <a:off x="7818120" y="2112264"/>
            <a:ext cx="3596335" cy="457200"/>
          </a:xfrm>
          <a:prstGeom prst="rect">
            <a:avLst/>
          </a:prstGeom>
          <a:noFill/>
          <a:ln/>
        </p:spPr>
        <p:txBody>
          <a:bodyPr wrap="square" lIns="0" tIns="0" rIns="0" bIns="0" rtlCol="0" anchor="ctr"/>
          <a:lstStyle/>
          <a:p>
            <a:pPr indent="0" marL="0">
              <a:buNone/>
            </a:pPr>
            <a:r>
              <a:rPr lang="en-US" sz="3000" b="1" dirty="0">
                <a:solidFill>
                  <a:schemeClr val="accent2"/>
                </a:solidFill>
              </a:rPr>
              <a:t>8.7 min</a:t>
            </a:r>
            <a:endParaRPr lang="en-US" sz="3000" dirty="0"/>
          </a:p>
        </p:txBody>
      </p:sp>
      <p:sp>
        <p:nvSpPr>
          <p:cNvPr id="10" name="Text 7"/>
          <p:cNvSpPr txBox="1"/>
          <p:nvPr/>
        </p:nvSpPr>
        <p:spPr>
          <a:xfrm>
            <a:off x="7818120" y="2569464"/>
            <a:ext cx="3596335" cy="475488"/>
          </a:xfrm>
          <a:prstGeom prst="rect">
            <a:avLst/>
          </a:prstGeom>
          <a:noFill/>
          <a:ln/>
        </p:spPr>
        <p:txBody>
          <a:bodyPr wrap="square" lIns="0" tIns="0" rIns="0" bIns="0" rtlCol="0" anchor="t"/>
          <a:lstStyle/>
          <a:p>
            <a:pPr indent="0" marL="0">
              <a:buNone/>
            </a:pPr>
            <a:r>
              <a:rPr lang="en-US" sz="1150" dirty="0">
                <a:solidFill>
                  <a:schemeClr val="tx1"/>
                </a:solidFill>
              </a:rPr>
              <a:t>saved per trip on average (13.5%), if the bus runs 30% faster and the transfer takes 3 minutes less</a:t>
            </a:r>
            <a:endParaRPr lang="en-US" sz="1150" dirty="0"/>
          </a:p>
        </p:txBody>
      </p:sp>
      <p:sp>
        <p:nvSpPr>
          <p:cNvPr id="11" name="panel"/>
          <p:cNvSpPr/>
          <p:nvPr/>
        </p:nvSpPr>
        <p:spPr>
          <a:xfrm>
            <a:off x="7589520" y="3273552"/>
            <a:ext cx="4053535" cy="1325880"/>
          </a:xfrm>
          <a:prstGeom prst="rect">
            <a:avLst/>
          </a:prstGeom>
          <a:solidFill>
            <a:schemeClr val="bg2"/>
          </a:solidFill>
          <a:ln/>
        </p:spPr>
      </p:sp>
      <p:sp>
        <p:nvSpPr>
          <p:cNvPr id="12" name="Text 9"/>
          <p:cNvSpPr txBox="1"/>
          <p:nvPr/>
        </p:nvSpPr>
        <p:spPr>
          <a:xfrm>
            <a:off x="7818120" y="3364992"/>
            <a:ext cx="3596335" cy="256032"/>
          </a:xfrm>
          <a:prstGeom prst="rect">
            <a:avLst/>
          </a:prstGeom>
          <a:noFill/>
          <a:ln/>
        </p:spPr>
        <p:txBody>
          <a:bodyPr wrap="square" lIns="0" tIns="0" rIns="0" bIns="0" rtlCol="0" anchor="ctr"/>
          <a:lstStyle/>
          <a:p>
            <a:pPr indent="0" marL="0">
              <a:buNone/>
            </a:pPr>
            <a:r>
              <a:rPr lang="en-US" sz="1200" b="1" dirty="0">
                <a:solidFill>
                  <a:srgbClr val="1A1A1A"/>
                </a:solidFill>
              </a:rPr>
              <a:t>Throggs Neck, same test</a:t>
            </a:r>
            <a:endParaRPr lang="en-US" sz="1200" dirty="0"/>
          </a:p>
        </p:txBody>
      </p:sp>
      <p:sp>
        <p:nvSpPr>
          <p:cNvPr id="13" name="Text 10"/>
          <p:cNvSpPr txBox="1"/>
          <p:nvPr/>
        </p:nvSpPr>
        <p:spPr>
          <a:xfrm>
            <a:off x="7818120" y="3602736"/>
            <a:ext cx="3596335" cy="457200"/>
          </a:xfrm>
          <a:prstGeom prst="rect">
            <a:avLst/>
          </a:prstGeom>
          <a:noFill/>
          <a:ln/>
        </p:spPr>
        <p:txBody>
          <a:bodyPr wrap="square" lIns="0" tIns="0" rIns="0" bIns="0" rtlCol="0" anchor="ctr"/>
          <a:lstStyle/>
          <a:p>
            <a:pPr indent="0" marL="0">
              <a:buNone/>
            </a:pPr>
            <a:r>
              <a:rPr lang="en-US" sz="3000" b="1" dirty="0">
                <a:solidFill>
                  <a:srgbClr val="5C5C5C"/>
                </a:solidFill>
              </a:rPr>
              <a:t>3.7 min</a:t>
            </a:r>
            <a:endParaRPr lang="en-US" sz="3000" dirty="0"/>
          </a:p>
        </p:txBody>
      </p:sp>
      <p:sp>
        <p:nvSpPr>
          <p:cNvPr id="14" name="Text 11"/>
          <p:cNvSpPr txBox="1"/>
          <p:nvPr/>
        </p:nvSpPr>
        <p:spPr>
          <a:xfrm>
            <a:off x="7818120" y="4059936"/>
            <a:ext cx="3596335" cy="502920"/>
          </a:xfrm>
          <a:prstGeom prst="rect">
            <a:avLst/>
          </a:prstGeom>
          <a:noFill/>
          <a:ln/>
        </p:spPr>
        <p:txBody>
          <a:bodyPr wrap="square" lIns="0" tIns="0" rIns="0" bIns="0" rtlCol="0" anchor="t"/>
          <a:lstStyle/>
          <a:p>
            <a:pPr indent="0" marL="0">
              <a:buNone/>
            </a:pPr>
            <a:r>
              <a:rPr lang="en-US" sz="1150" dirty="0">
                <a:solidFill>
                  <a:schemeClr val="tx1"/>
                </a:solidFill>
              </a:rPr>
              <a:t>saved (5%), from 71.2 to 67.5 minutes. The bus is only 16 of the 71 minutes; most of the trip is on the 6 train.</a:t>
            </a:r>
            <a:endParaRPr lang="en-US" sz="1150" dirty="0"/>
          </a:p>
        </p:txBody>
      </p:sp>
      <p:sp>
        <p:nvSpPr>
          <p:cNvPr id="15" name="panel"/>
          <p:cNvSpPr/>
          <p:nvPr/>
        </p:nvSpPr>
        <p:spPr>
          <a:xfrm>
            <a:off x="7589520" y="4764024"/>
            <a:ext cx="4053535" cy="1042416"/>
          </a:xfrm>
          <a:prstGeom prst="rect">
            <a:avLst/>
          </a:prstGeom>
          <a:solidFill>
            <a:schemeClr val="bg2"/>
          </a:solidFill>
          <a:ln/>
        </p:spPr>
      </p:sp>
      <p:sp>
        <p:nvSpPr>
          <p:cNvPr id="16" name="Text 13"/>
          <p:cNvSpPr txBox="1"/>
          <p:nvPr/>
        </p:nvSpPr>
        <p:spPr>
          <a:xfrm>
            <a:off x="7818120" y="4809744"/>
            <a:ext cx="3596335" cy="950976"/>
          </a:xfrm>
          <a:prstGeom prst="rect">
            <a:avLst/>
          </a:prstGeom>
          <a:noFill/>
          <a:ln/>
        </p:spPr>
        <p:txBody>
          <a:bodyPr wrap="square" lIns="0" tIns="0" rIns="0" bIns="0" rtlCol="0" anchor="ctr"/>
          <a:lstStyle/>
          <a:p>
            <a:pPr indent="0" marL="0">
              <a:buNone/>
            </a:pPr>
            <a:r>
              <a:rPr lang="en-US" sz="1150" b="1" dirty="0">
                <a:solidFill>
                  <a:srgbClr val="A8441F"/>
                </a:solidFill>
              </a:rPr>
              <a:t>What this does not show: </a:t>
            </a:r>
            <a:pPr indent="0" marL="0">
              <a:buNone/>
            </a:pPr>
            <a:r>
              <a:rPr lang="en-US" sz="1150" dirty="0">
                <a:solidFill>
                  <a:schemeClr val="tx1"/>
                </a:solidFill>
              </a:rPr>
              <a:t>how many drivers would switch. A pilot would measure that.</a:t>
            </a:r>
            <a:endParaRPr lang="en-US" sz="1150" dirty="0"/>
          </a:p>
        </p:txBody>
      </p:sp>
      <p:sp>
        <p:nvSpPr>
          <p:cNvPr id="17"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the order in which we propose to make the fixes.</a:t>
            </a:r>
            <a:endParaRPr lang="en-US" sz="1300" dirty="0"/>
          </a:p>
        </p:txBody>
      </p:sp>
      <p:sp>
        <p:nvSpPr>
          <p:cNvPr id="18"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what-if calculation on trip-planner estimates. Throggs Neck uses the bus only (its change to the train is a 3-minute walk, so no transfer saving is applied). 188th Street is a different starting point from Fresh Meadows on slide 7.</a:t>
            </a:r>
            <a:endParaRPr lang="en-US" sz="900" dirty="0"/>
          </a:p>
        </p:txBody>
      </p:sp>
      <p:sp>
        <p:nvSpPr>
          <p:cNvPr id="19" name="exhibit link">
            <a:hlinkClick r:id="rId2" tooltip="Exhibit 5: improvement scenario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5: improvement scenario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We propose starting in Eastern Queens, then moving to the East Bronx and Southeast Queens</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Each phase starts only after the review of the previous phase is passed.</a:t>
            </a:r>
            <a:endParaRPr lang="en-US" sz="1400" dirty="0"/>
          </a:p>
        </p:txBody>
      </p:sp>
      <p:graphicFrame>
        <p:nvGraphicFramePr>
          <p:cNvPr id="12" name="roadmap"/>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1828800"/>
                <a:gridCol w="3088843"/>
                <a:gridCol w="3088843"/>
                <a:gridCol w="3087929"/>
              </a:tblGrid>
              <a:tr h="502920">
                <a:tc>
                  <a:txBody>
                    <a:bodyPr/>
                    <a:lstStyle/>
                    <a:p>
                      <a:pPr indent="0" marL="0">
                        <a:buNone/>
                      </a:pP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1: Eastern Queens</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1–12</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2: East Bronx and Southeast Queens</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12–24</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3: Measure and expand</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24–36</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1143000">
                <a:tc>
                  <a:txBody>
                    <a:bodyPr/>
                    <a:lstStyle/>
                    <a:p>
                      <a:pPr indent="0" marL="0">
                        <a:buNone/>
                      </a:pPr>
                      <a:r>
                        <a:rPr lang="en-US" sz="1200" b="1" dirty="0">
                          <a:solidFill>
                            <a:srgbClr val="1A1A1A"/>
                          </a:solidFill>
                          <a:latin typeface="Arial" pitchFamily="34" charset="0"/>
                          <a:ea typeface="Arial" pitchFamily="34" charset="-122"/>
                          <a:cs typeface="Arial" pitchFamily="34" charset="-120"/>
                        </a:rPr>
                        <a:t>Actions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Bus lanes and signal priority for the Union Turnpike bus; safer walks and shelters in Fresh Meadows; tap-to-pay readers at Kew Gardens; counts of real car trips into the zone</a:t>
                      </a:r>
                      <a:endParaRPr lang="en-US" sz="115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A bus lane on Crosby Avenue, once 2026 speed data confirm the delay; a covered transfer at Nostrand Avenue; a trial of a cheaper Long Island Rail Road to subway fare</a:t>
                      </a:r>
                      <a:endParaRPr lang="en-US" sz="115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Extend bus priority to more routes if drivers have switched; link buses to future Interborough Express stations; report results to the MTA Board</a:t>
                      </a:r>
                      <a:endParaRPr lang="en-US" sz="115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200" b="1" dirty="0">
                          <a:solidFill>
                            <a:srgbClr val="1A1A1A"/>
                          </a:solidFill>
                          <a:latin typeface="Arial" pitchFamily="34" charset="0"/>
                          <a:ea typeface="Arial" pitchFamily="34" charset="-122"/>
                          <a:cs typeface="Arial" pitchFamily="34" charset="-120"/>
                        </a:rPr>
                        <a:t>Proposed lead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NYC DOT (streets) and MTA Bus</a:t>
                      </a:r>
                      <a:endParaRPr lang="en-US" sz="115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NYC DOT, MTA construction team and Long Island Rail Road</a:t>
                      </a:r>
                      <a:endParaRPr lang="en-US" sz="115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MTA and NYC DOT</a:t>
                      </a:r>
                      <a:endParaRPr lang="en-US" sz="115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200" b="1" dirty="0">
                          <a:solidFill>
                            <a:srgbClr val="1A1A1A"/>
                          </a:solidFill>
                          <a:latin typeface="Arial" pitchFamily="34" charset="0"/>
                          <a:ea typeface="Arial" pitchFamily="34" charset="-122"/>
                          <a:cs typeface="Arial" pitchFamily="34" charset="-120"/>
                        </a:rPr>
                        <a:t>Review before the next phase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Trip times and ridership are up, and car entries from the area are down, compared with a road that did not change</a:t>
                      </a:r>
                      <a:endParaRPr lang="en-US" sz="115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The same measures, and 2026 speed data for the Crosby Avenue bus before building</a:t>
                      </a:r>
                      <a:endParaRPr lang="en-US" sz="115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Final results report</a:t>
                      </a:r>
                      <a:endParaRPr lang="en-US" sz="115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panel"/>
          <p:cNvSpPr/>
          <p:nvPr/>
        </p:nvSpPr>
        <p:spPr>
          <a:xfrm>
            <a:off x="548640" y="4800600"/>
            <a:ext cx="11094415" cy="1005840"/>
          </a:xfrm>
          <a:prstGeom prst="rect">
            <a:avLst/>
          </a:prstGeom>
          <a:solidFill>
            <a:schemeClr val="bg2"/>
          </a:solidFill>
          <a:ln/>
        </p:spPr>
      </p:sp>
      <p:sp>
        <p:nvSpPr>
          <p:cNvPr id="6" name="Text 3"/>
          <p:cNvSpPr txBox="1"/>
          <p:nvPr/>
        </p:nvSpPr>
        <p:spPr>
          <a:xfrm>
            <a:off x="777240" y="4800600"/>
            <a:ext cx="10637215" cy="1005840"/>
          </a:xfrm>
          <a:prstGeom prst="rect">
            <a:avLst/>
          </a:prstGeom>
          <a:noFill/>
          <a:ln/>
        </p:spPr>
        <p:txBody>
          <a:bodyPr wrap="square" lIns="0" tIns="0" rIns="0" bIns="0" rtlCol="0" anchor="ctr"/>
          <a:lstStyle/>
          <a:p>
            <a:pPr indent="0" marL="0">
              <a:buNone/>
            </a:pPr>
            <a:r>
              <a:rPr lang="en-US" sz="1250" b="1" dirty="0">
                <a:solidFill>
                  <a:srgbClr val="A8441F"/>
                </a:solidFill>
              </a:rPr>
              <a:t>Why Eastern Queens first:  </a:t>
            </a:r>
            <a:pPr indent="0" marL="0">
              <a:buNone/>
            </a:pPr>
            <a:r>
              <a:rPr lang="en-US" sz="1250" dirty="0">
                <a:solidFill>
                  <a:schemeClr val="tx1"/>
                </a:solidFill>
              </a:rPr>
              <a:t>It has the most residents working in the zone (2,649), and a faster bus saves the most time there (8.7 minutes a trip, against 3.7 in Throggs Neck). The East Bronx has more driving and a slow, often late bus, so it comes next, once 2026 bus speeds confirm the delay.</a:t>
            </a:r>
            <a:endParaRPr lang="en-US" sz="1250" dirty="0"/>
          </a:p>
        </p:txBody>
      </p:sp>
      <p:sp>
        <p:nvSpPr>
          <p:cNvPr id="7"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the three decisions we ask for today.</a:t>
            </a:r>
            <a:endParaRPr lang="en-US" sz="1300" dirty="0"/>
          </a:p>
        </p:txBody>
      </p:sp>
      <p:sp>
        <p:nvSpPr>
          <p:cNvPr id="8"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Phases, timings and leads are proposals by the study team, for discussion.</a:t>
            </a:r>
            <a:endParaRPr lang="en-US" sz="900" dirty="0"/>
          </a:p>
        </p:txBody>
      </p:sp>
      <p:sp>
        <p:nvSpPr>
          <p:cNvPr id="9" name="exhibit link">
            <a:hlinkClick r:id="rId1" tooltip="Exhibit 6: decision framework"/>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Exhibit 6: decision framework"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We ask for three decisions today so that work can start within 90 days</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Left: the decisions requested from this meeting. Right: the first actions that follow.</a:t>
            </a:r>
            <a:endParaRPr lang="en-US" sz="1400" dirty="0"/>
          </a:p>
        </p:txBody>
      </p:sp>
      <p:sp>
        <p:nvSpPr>
          <p:cNvPr id="4" name="Text 2"/>
          <p:cNvSpPr txBox="1"/>
          <p:nvPr/>
        </p:nvSpPr>
        <p:spPr>
          <a:xfrm>
            <a:off x="548640" y="1783080"/>
            <a:ext cx="4937760"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DECISIONS REQUESTED</a:t>
            </a:r>
            <a:endParaRPr lang="en-US" sz="1100" dirty="0"/>
          </a:p>
        </p:txBody>
      </p:sp>
      <p:sp>
        <p:nvSpPr>
          <p:cNvPr id="5" name="rule"/>
          <p:cNvSpPr/>
          <p:nvPr/>
        </p:nvSpPr>
        <p:spPr>
          <a:xfrm>
            <a:off x="548640" y="2148840"/>
            <a:ext cx="4937760" cy="0"/>
          </a:xfrm>
          <a:prstGeom prst="line">
            <a:avLst/>
          </a:prstGeom>
          <a:noFill/>
          <a:ln w="9525">
            <a:solidFill>
              <a:srgbClr val="2B2B2B"/>
            </a:solidFill>
            <a:prstDash val="solid"/>
          </a:ln>
        </p:spPr>
      </p:sp>
      <p:sp>
        <p:nvSpPr>
          <p:cNvPr id="6" name="Text 4"/>
          <p:cNvSpPr txBox="1"/>
          <p:nvPr/>
        </p:nvSpPr>
        <p:spPr>
          <a:xfrm>
            <a:off x="548640" y="2240280"/>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01</a:t>
            </a:r>
            <a:endParaRPr lang="en-US" sz="2200" dirty="0"/>
          </a:p>
        </p:txBody>
      </p:sp>
      <p:sp>
        <p:nvSpPr>
          <p:cNvPr id="7" name="Text 5"/>
          <p:cNvSpPr txBox="1"/>
          <p:nvPr/>
        </p:nvSpPr>
        <p:spPr>
          <a:xfrm>
            <a:off x="1188720" y="2240280"/>
            <a:ext cx="4297680" cy="10058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Approve Phase 1 in Eastern Queens</a:t>
            </a:r>
            <a:endParaRPr lang="en-US" sz="1500" dirty="0"/>
          </a:p>
          <a:p>
            <a:pPr indent="0" marL="0">
              <a:buNone/>
            </a:pPr>
            <a:r>
              <a:rPr lang="en-US" sz="1250" dirty="0">
                <a:solidFill>
                  <a:srgbClr val="5C5C5C"/>
                </a:solidFill>
              </a:rPr>
              <a:t>Bus priority on the Union Turnpike bus, safer walks to the bus stops in Fresh Meadows, and a better transfer at Kew Gardens.</a:t>
            </a:r>
            <a:endParaRPr lang="en-US" sz="1500" dirty="0"/>
          </a:p>
        </p:txBody>
      </p:sp>
      <p:sp>
        <p:nvSpPr>
          <p:cNvPr id="8" name="rule"/>
          <p:cNvSpPr/>
          <p:nvPr/>
        </p:nvSpPr>
        <p:spPr>
          <a:xfrm>
            <a:off x="548640" y="3291840"/>
            <a:ext cx="4937760" cy="0"/>
          </a:xfrm>
          <a:prstGeom prst="line">
            <a:avLst/>
          </a:prstGeom>
          <a:noFill/>
          <a:ln w="9525">
            <a:solidFill>
              <a:srgbClr val="2B2B2B"/>
            </a:solidFill>
            <a:prstDash val="solid"/>
          </a:ln>
        </p:spPr>
      </p:sp>
      <p:sp>
        <p:nvSpPr>
          <p:cNvPr id="9" name="Text 7"/>
          <p:cNvSpPr txBox="1"/>
          <p:nvPr/>
        </p:nvSpPr>
        <p:spPr>
          <a:xfrm>
            <a:off x="548640" y="3383280"/>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02</a:t>
            </a:r>
            <a:endParaRPr lang="en-US" sz="2200" dirty="0"/>
          </a:p>
        </p:txBody>
      </p:sp>
      <p:sp>
        <p:nvSpPr>
          <p:cNvPr id="10" name="Text 8"/>
          <p:cNvSpPr txBox="1"/>
          <p:nvPr/>
        </p:nvSpPr>
        <p:spPr>
          <a:xfrm>
            <a:off x="1188720" y="3383280"/>
            <a:ext cx="4297680" cy="10058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Add both local buses to speed tracking</a:t>
            </a:r>
            <a:endParaRPr lang="en-US" sz="1500" dirty="0"/>
          </a:p>
          <a:p>
            <a:pPr indent="0" marL="0">
              <a:buNone/>
            </a:pPr>
            <a:r>
              <a:rPr lang="en-US" sz="1250" dirty="0">
                <a:solidFill>
                  <a:srgbClr val="5C5C5C"/>
                </a:solidFill>
              </a:rPr>
              <a:t>Track the Fresh Meadows and Throggs Neck buses monthly, and confirm the Throggs Neck delay before building in the Bronx.</a:t>
            </a:r>
            <a:endParaRPr lang="en-US" sz="1500" dirty="0"/>
          </a:p>
        </p:txBody>
      </p:sp>
      <p:sp>
        <p:nvSpPr>
          <p:cNvPr id="11" name="rule"/>
          <p:cNvSpPr/>
          <p:nvPr/>
        </p:nvSpPr>
        <p:spPr>
          <a:xfrm>
            <a:off x="548640" y="4434840"/>
            <a:ext cx="4937760" cy="0"/>
          </a:xfrm>
          <a:prstGeom prst="line">
            <a:avLst/>
          </a:prstGeom>
          <a:noFill/>
          <a:ln w="9525">
            <a:solidFill>
              <a:srgbClr val="2B2B2B"/>
            </a:solidFill>
            <a:prstDash val="solid"/>
          </a:ln>
        </p:spPr>
      </p:sp>
      <p:sp>
        <p:nvSpPr>
          <p:cNvPr id="12" name="Text 10"/>
          <p:cNvSpPr txBox="1"/>
          <p:nvPr/>
        </p:nvSpPr>
        <p:spPr>
          <a:xfrm>
            <a:off x="548640" y="4526280"/>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03</a:t>
            </a:r>
            <a:endParaRPr lang="en-US" sz="2200" dirty="0"/>
          </a:p>
        </p:txBody>
      </p:sp>
      <p:sp>
        <p:nvSpPr>
          <p:cNvPr id="13" name="Text 11"/>
          <p:cNvSpPr txBox="1"/>
          <p:nvPr/>
        </p:nvSpPr>
        <p:spPr>
          <a:xfrm>
            <a:off x="1188720" y="4526280"/>
            <a:ext cx="4297680" cy="10058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Agree how success will be judged</a:t>
            </a:r>
            <a:endParaRPr lang="en-US" sz="1500" dirty="0"/>
          </a:p>
          <a:p>
            <a:pPr indent="0" marL="0">
              <a:buNone/>
            </a:pPr>
            <a:r>
              <a:rPr lang="en-US" sz="1250" dirty="0">
                <a:solidFill>
                  <a:srgbClr val="5C5C5C"/>
                </a:solidFill>
              </a:rPr>
              <a:t>Trip time, ridership, car entries into the zone, emissions, and change against Hillside Avenue (a road we leave unchanged), reported to the MTA Board.</a:t>
            </a:r>
            <a:endParaRPr lang="en-US" sz="1500" dirty="0"/>
          </a:p>
        </p:txBody>
      </p:sp>
      <p:sp>
        <p:nvSpPr>
          <p:cNvPr id="14" name="Text 12"/>
          <p:cNvSpPr txBox="1"/>
          <p:nvPr/>
        </p:nvSpPr>
        <p:spPr>
          <a:xfrm>
            <a:off x="5760720" y="1783080"/>
            <a:ext cx="5882335"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NEXT 90 DAYS</a:t>
            </a:r>
            <a:endParaRPr lang="en-US" sz="1100" dirty="0"/>
          </a:p>
        </p:txBody>
      </p:sp>
      <p:graphicFrame>
        <p:nvGraphicFramePr>
          <p:cNvPr id="13" name="next steps"/>
          <p:cNvGraphicFramePr>
            <a:graphicFrameLocks noGrp="1"/>
          </p:cNvGraphicFramePr>
          <p:nvPr>
            <p:extLst>
              <p:ext uri="{D42A27DB-BD31-4B8C-83A1-F6EECF244321}">
                <p14:modId xmlns:p14="http://schemas.microsoft.com/office/powerpoint/2010/main" val="1579011935"/>
              </p:ext>
            </p:extLst>
          </p:nvPr>
        </p:nvGraphicFramePr>
        <p:xfrm>
          <a:off x="5760720" y="2148840"/>
          <a:ext cx="5882335" cy="914400"/>
        </p:xfrm>
        <a:graphic>
          <a:graphicData uri="http://schemas.openxmlformats.org/drawingml/2006/table">
            <a:tbl>
              <a:tblPr/>
              <a:tblGrid>
                <a:gridCol w="3047695"/>
                <a:gridCol w="1600200"/>
                <a:gridCol w="12344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Action</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Proposed lead</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Timing</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Add the Fresh Meadows and Throggs Neck buses to monthly speed tracking</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 1</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Design bus lanes and signal priority on Union Turnpike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Check walking routes to the bus stops in Fresh Meadows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1–2</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Count riders, car entries and traffic on the comparison road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and 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Agree which agency leads each action</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and 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2–3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16" name="bridge"/>
          <p:cNvSpPr txBox="1"/>
          <p:nvPr/>
        </p:nvSpPr>
        <p:spPr>
          <a:xfrm>
            <a:off x="548640" y="5870448"/>
            <a:ext cx="11094415" cy="310896"/>
          </a:xfrm>
          <a:prstGeom prst="rect">
            <a:avLst/>
          </a:prstGeom>
          <a:noFill/>
          <a:ln/>
        </p:spPr>
        <p:txBody>
          <a:bodyPr wrap="square" lIns="0" tIns="0" rIns="0" bIns="0" rtlCol="0" anchor="ctr"/>
          <a:lstStyle/>
          <a:p>
            <a:pPr indent="0" marL="0">
              <a:buNone/>
            </a:pPr>
            <a:r>
              <a:rPr lang="en-US" sz="1300" b="1" dirty="0">
                <a:solidFill>
                  <a:srgbClr val="A8441F"/>
                </a:solidFill>
              </a:rPr>
              <a:t>Next:  </a:t>
            </a:r>
            <a:pPr indent="0" marL="0">
              <a:buNone/>
            </a:pPr>
            <a:r>
              <a:rPr lang="en-US" sz="1300" dirty="0">
                <a:solidFill>
                  <a:srgbClr val="1A1A1A"/>
                </a:solidFill>
              </a:rPr>
              <a:t>the appendix, which shows how highway speeds changed after tolling.</a:t>
            </a:r>
            <a:endParaRPr lang="en-US" sz="1300" dirty="0"/>
          </a:p>
        </p:txBody>
      </p:sp>
      <p:sp>
        <p:nvSpPr>
          <p:cNvPr id="17"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Phases, timings and leads are proposals by the study team, for discussion.</a:t>
            </a:r>
            <a:endParaRPr lang="en-US" sz="9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Highway speeds barely changed overall, and one Brooklyn-Queens Expressway stretch slowed sharply</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80 road segments with good data (of 122 monitored), weekday mornings 7–10 a.m., March to June 2024 compared with 2025.</a:t>
            </a:r>
            <a:endParaRPr lang="en-US" sz="1400" dirty="0"/>
          </a:p>
        </p:txBody>
      </p:sp>
      <p:pic>
        <p:nvPicPr>
          <p:cNvPr id="4" name="highway map" descr="Map of NYC highway segments coloured by speed change: faster, little change, or slower">    </p:cNvPr>
          <p:cNvPicPr>
            <a:picLocks noChangeAspect="1"/>
          </p:cNvPicPr>
          <p:nvPr/>
        </p:nvPicPr>
        <p:blipFill>
          <a:blip r:embed="rId1"/>
          <a:stretch>
            <a:fillRect/>
          </a:stretch>
        </p:blipFill>
        <p:spPr>
          <a:xfrm>
            <a:off x="548640" y="1783080"/>
            <a:ext cx="3994351" cy="4023360"/>
          </a:xfrm>
          <a:prstGeom prst="rect">
            <a:avLst/>
          </a:prstGeom>
        </p:spPr>
      </p:pic>
      <p:sp>
        <p:nvSpPr>
          <p:cNvPr id="5" name="key"/>
          <p:cNvSpPr/>
          <p:nvPr/>
        </p:nvSpPr>
        <p:spPr>
          <a:xfrm>
            <a:off x="5000191" y="1883664"/>
            <a:ext cx="182880" cy="182880"/>
          </a:xfrm>
          <a:prstGeom prst="rect">
            <a:avLst/>
          </a:prstGeom>
          <a:solidFill>
            <a:srgbClr val="2B2B2B"/>
          </a:solidFill>
          <a:ln/>
        </p:spPr>
      </p:sp>
      <p:sp>
        <p:nvSpPr>
          <p:cNvPr id="6" name="Text 3"/>
          <p:cNvSpPr txBox="1"/>
          <p:nvPr/>
        </p:nvSpPr>
        <p:spPr>
          <a:xfrm>
            <a:off x="5365951" y="1783080"/>
            <a:ext cx="4905504" cy="384048"/>
          </a:xfrm>
          <a:prstGeom prst="rect">
            <a:avLst/>
          </a:prstGeom>
          <a:noFill/>
          <a:ln/>
        </p:spPr>
        <p:txBody>
          <a:bodyPr wrap="square" lIns="0" tIns="0" rIns="0" bIns="0" rtlCol="0" anchor="ctr"/>
          <a:lstStyle/>
          <a:p>
            <a:pPr indent="0" marL="0">
              <a:buNone/>
            </a:pPr>
            <a:r>
              <a:rPr lang="en-US" sz="1400" dirty="0">
                <a:solidFill>
                  <a:schemeClr val="tx1"/>
                </a:solidFill>
              </a:rPr>
              <a:t>Faster by more than 2 mph</a:t>
            </a:r>
            <a:endParaRPr lang="en-US" sz="1400" dirty="0"/>
          </a:p>
        </p:txBody>
      </p:sp>
      <p:sp>
        <p:nvSpPr>
          <p:cNvPr id="7" name="Text 4"/>
          <p:cNvSpPr txBox="1"/>
          <p:nvPr/>
        </p:nvSpPr>
        <p:spPr>
          <a:xfrm>
            <a:off x="10271455" y="1783080"/>
            <a:ext cx="1371600" cy="384048"/>
          </a:xfrm>
          <a:prstGeom prst="rect">
            <a:avLst/>
          </a:prstGeom>
          <a:noFill/>
          <a:ln/>
        </p:spPr>
        <p:txBody>
          <a:bodyPr wrap="square" lIns="0" tIns="0" rIns="0" bIns="0" rtlCol="0" anchor="ctr"/>
          <a:lstStyle/>
          <a:p>
            <a:pPr algn="r" indent="0" marL="0">
              <a:buNone/>
            </a:pPr>
            <a:r>
              <a:rPr lang="en-US" sz="1500" b="1" dirty="0">
                <a:solidFill>
                  <a:schemeClr val="tx1"/>
                </a:solidFill>
              </a:rPr>
              <a:t>13 segments</a:t>
            </a:r>
            <a:endParaRPr lang="en-US" sz="1500" dirty="0"/>
          </a:p>
        </p:txBody>
      </p:sp>
      <p:sp>
        <p:nvSpPr>
          <p:cNvPr id="8" name="track"/>
          <p:cNvSpPr/>
          <p:nvPr/>
        </p:nvSpPr>
        <p:spPr>
          <a:xfrm>
            <a:off x="5365951" y="2221992"/>
            <a:ext cx="6277104" cy="73152"/>
          </a:xfrm>
          <a:prstGeom prst="rect">
            <a:avLst/>
          </a:prstGeom>
          <a:solidFill>
            <a:srgbClr val="E6E6E6"/>
          </a:solidFill>
          <a:ln/>
        </p:spPr>
      </p:sp>
      <p:sp>
        <p:nvSpPr>
          <p:cNvPr id="9" name="fill"/>
          <p:cNvSpPr/>
          <p:nvPr/>
        </p:nvSpPr>
        <p:spPr>
          <a:xfrm>
            <a:off x="5365951" y="2221992"/>
            <a:ext cx="1020029" cy="73152"/>
          </a:xfrm>
          <a:prstGeom prst="rect">
            <a:avLst/>
          </a:prstGeom>
          <a:solidFill>
            <a:srgbClr val="2B2B2B"/>
          </a:solidFill>
          <a:ln/>
        </p:spPr>
      </p:sp>
      <p:sp>
        <p:nvSpPr>
          <p:cNvPr id="10" name="key"/>
          <p:cNvSpPr/>
          <p:nvPr/>
        </p:nvSpPr>
        <p:spPr>
          <a:xfrm>
            <a:off x="5000191" y="2523744"/>
            <a:ext cx="182880" cy="182880"/>
          </a:xfrm>
          <a:prstGeom prst="rect">
            <a:avLst/>
          </a:prstGeom>
          <a:solidFill>
            <a:srgbClr val="B8B8B8"/>
          </a:solidFill>
          <a:ln/>
        </p:spPr>
      </p:sp>
      <p:sp>
        <p:nvSpPr>
          <p:cNvPr id="11" name="Text 8"/>
          <p:cNvSpPr txBox="1"/>
          <p:nvPr/>
        </p:nvSpPr>
        <p:spPr>
          <a:xfrm>
            <a:off x="5365951" y="2423160"/>
            <a:ext cx="4905504" cy="384048"/>
          </a:xfrm>
          <a:prstGeom prst="rect">
            <a:avLst/>
          </a:prstGeom>
          <a:noFill/>
          <a:ln/>
        </p:spPr>
        <p:txBody>
          <a:bodyPr wrap="square" lIns="0" tIns="0" rIns="0" bIns="0" rtlCol="0" anchor="ctr"/>
          <a:lstStyle/>
          <a:p>
            <a:pPr indent="0" marL="0">
              <a:buNone/>
            </a:pPr>
            <a:r>
              <a:rPr lang="en-US" sz="1400" dirty="0">
                <a:solidFill>
                  <a:schemeClr val="tx1"/>
                </a:solidFill>
              </a:rPr>
              <a:t>Little change (within 2 mph)</a:t>
            </a:r>
            <a:endParaRPr lang="en-US" sz="1400" dirty="0"/>
          </a:p>
        </p:txBody>
      </p:sp>
      <p:sp>
        <p:nvSpPr>
          <p:cNvPr id="12" name="Text 9"/>
          <p:cNvSpPr txBox="1"/>
          <p:nvPr/>
        </p:nvSpPr>
        <p:spPr>
          <a:xfrm>
            <a:off x="10271455" y="2423160"/>
            <a:ext cx="1371600" cy="384048"/>
          </a:xfrm>
          <a:prstGeom prst="rect">
            <a:avLst/>
          </a:prstGeom>
          <a:noFill/>
          <a:ln/>
        </p:spPr>
        <p:txBody>
          <a:bodyPr wrap="square" lIns="0" tIns="0" rIns="0" bIns="0" rtlCol="0" anchor="ctr"/>
          <a:lstStyle/>
          <a:p>
            <a:pPr algn="r" indent="0" marL="0">
              <a:buNone/>
            </a:pPr>
            <a:r>
              <a:rPr lang="en-US" sz="1500" b="1" dirty="0">
                <a:solidFill>
                  <a:schemeClr val="tx1"/>
                </a:solidFill>
              </a:rPr>
              <a:t>45 segments</a:t>
            </a:r>
            <a:endParaRPr lang="en-US" sz="1500" dirty="0"/>
          </a:p>
        </p:txBody>
      </p:sp>
      <p:sp>
        <p:nvSpPr>
          <p:cNvPr id="13" name="track"/>
          <p:cNvSpPr/>
          <p:nvPr/>
        </p:nvSpPr>
        <p:spPr>
          <a:xfrm>
            <a:off x="5365951" y="2862072"/>
            <a:ext cx="6277104" cy="73152"/>
          </a:xfrm>
          <a:prstGeom prst="rect">
            <a:avLst/>
          </a:prstGeom>
          <a:solidFill>
            <a:srgbClr val="E6E6E6"/>
          </a:solidFill>
          <a:ln/>
        </p:spPr>
      </p:sp>
      <p:sp>
        <p:nvSpPr>
          <p:cNvPr id="14" name="fill"/>
          <p:cNvSpPr/>
          <p:nvPr/>
        </p:nvSpPr>
        <p:spPr>
          <a:xfrm>
            <a:off x="5365951" y="2862072"/>
            <a:ext cx="3530871" cy="73152"/>
          </a:xfrm>
          <a:prstGeom prst="rect">
            <a:avLst/>
          </a:prstGeom>
          <a:solidFill>
            <a:srgbClr val="B8B8B8"/>
          </a:solidFill>
          <a:ln/>
        </p:spPr>
      </p:sp>
      <p:sp>
        <p:nvSpPr>
          <p:cNvPr id="15" name="key"/>
          <p:cNvSpPr/>
          <p:nvPr/>
        </p:nvSpPr>
        <p:spPr>
          <a:xfrm>
            <a:off x="5000191" y="3163824"/>
            <a:ext cx="182880" cy="182880"/>
          </a:xfrm>
          <a:prstGeom prst="rect">
            <a:avLst/>
          </a:prstGeom>
          <a:solidFill>
            <a:srgbClr val="C8532A"/>
          </a:solidFill>
          <a:ln/>
        </p:spPr>
      </p:sp>
      <p:sp>
        <p:nvSpPr>
          <p:cNvPr id="16" name="Text 13"/>
          <p:cNvSpPr txBox="1"/>
          <p:nvPr/>
        </p:nvSpPr>
        <p:spPr>
          <a:xfrm>
            <a:off x="5365951" y="3063240"/>
            <a:ext cx="4905504" cy="384048"/>
          </a:xfrm>
          <a:prstGeom prst="rect">
            <a:avLst/>
          </a:prstGeom>
          <a:noFill/>
          <a:ln/>
        </p:spPr>
        <p:txBody>
          <a:bodyPr wrap="square" lIns="0" tIns="0" rIns="0" bIns="0" rtlCol="0" anchor="ctr"/>
          <a:lstStyle/>
          <a:p>
            <a:pPr indent="0" marL="0">
              <a:buNone/>
            </a:pPr>
            <a:r>
              <a:rPr lang="en-US" sz="1400" dirty="0">
                <a:solidFill>
                  <a:schemeClr val="tx1"/>
                </a:solidFill>
              </a:rPr>
              <a:t>Slower by more than 2 mph</a:t>
            </a:r>
            <a:endParaRPr lang="en-US" sz="1400" dirty="0"/>
          </a:p>
        </p:txBody>
      </p:sp>
      <p:sp>
        <p:nvSpPr>
          <p:cNvPr id="17" name="Text 14"/>
          <p:cNvSpPr txBox="1"/>
          <p:nvPr/>
        </p:nvSpPr>
        <p:spPr>
          <a:xfrm>
            <a:off x="10271455" y="3063240"/>
            <a:ext cx="1371600" cy="384048"/>
          </a:xfrm>
          <a:prstGeom prst="rect">
            <a:avLst/>
          </a:prstGeom>
          <a:noFill/>
          <a:ln/>
        </p:spPr>
        <p:txBody>
          <a:bodyPr wrap="square" lIns="0" tIns="0" rIns="0" bIns="0" rtlCol="0" anchor="ctr"/>
          <a:lstStyle/>
          <a:p>
            <a:pPr algn="r" indent="0" marL="0">
              <a:buNone/>
            </a:pPr>
            <a:r>
              <a:rPr lang="en-US" sz="1500" b="1" dirty="0">
                <a:solidFill>
                  <a:schemeClr val="tx1"/>
                </a:solidFill>
              </a:rPr>
              <a:t>22 segments</a:t>
            </a:r>
            <a:endParaRPr lang="en-US" sz="1500" dirty="0"/>
          </a:p>
        </p:txBody>
      </p:sp>
      <p:sp>
        <p:nvSpPr>
          <p:cNvPr id="18" name="track"/>
          <p:cNvSpPr/>
          <p:nvPr/>
        </p:nvSpPr>
        <p:spPr>
          <a:xfrm>
            <a:off x="5365951" y="3502152"/>
            <a:ext cx="6277104" cy="73152"/>
          </a:xfrm>
          <a:prstGeom prst="rect">
            <a:avLst/>
          </a:prstGeom>
          <a:solidFill>
            <a:srgbClr val="E6E6E6"/>
          </a:solidFill>
          <a:ln/>
        </p:spPr>
      </p:sp>
      <p:sp>
        <p:nvSpPr>
          <p:cNvPr id="19" name="fill"/>
          <p:cNvSpPr/>
          <p:nvPr/>
        </p:nvSpPr>
        <p:spPr>
          <a:xfrm>
            <a:off x="5365951" y="3502152"/>
            <a:ext cx="1726204" cy="73152"/>
          </a:xfrm>
          <a:prstGeom prst="rect">
            <a:avLst/>
          </a:prstGeom>
          <a:solidFill>
            <a:srgbClr val="C8532A"/>
          </a:solidFill>
          <a:ln/>
        </p:spPr>
      </p:sp>
      <p:sp>
        <p:nvSpPr>
          <p:cNvPr id="20" name="Text 17"/>
          <p:cNvSpPr txBox="1"/>
          <p:nvPr/>
        </p:nvSpPr>
        <p:spPr>
          <a:xfrm>
            <a:off x="5000191" y="3794760"/>
            <a:ext cx="6642864" cy="457200"/>
          </a:xfrm>
          <a:prstGeom prst="rect">
            <a:avLst/>
          </a:prstGeom>
          <a:noFill/>
          <a:ln/>
        </p:spPr>
        <p:txBody>
          <a:bodyPr wrap="square" lIns="0" tIns="0" rIns="0" bIns="0" rtlCol="0" anchor="ctr"/>
          <a:lstStyle/>
          <a:p>
            <a:pPr indent="0" marL="0">
              <a:buNone/>
            </a:pPr>
            <a:r>
              <a:rPr lang="en-US" sz="2200" b="1" dirty="0">
                <a:solidFill>
                  <a:srgbClr val="1A1A1A"/>
                </a:solidFill>
              </a:rPr>
              <a:t>−0.37 mph  </a:t>
            </a:r>
            <a:pPr indent="0" marL="0">
              <a:buNone/>
            </a:pPr>
            <a:r>
              <a:rPr lang="en-US" sz="1400" dirty="0">
                <a:solidFill>
                  <a:srgbClr val="1A1A1A"/>
                </a:solidFill>
              </a:rPr>
              <a:t>median change across the 80 segments</a:t>
            </a:r>
            <a:endParaRPr lang="en-US" sz="2200" dirty="0"/>
          </a:p>
        </p:txBody>
      </p:sp>
      <p:sp>
        <p:nvSpPr>
          <p:cNvPr id="21" name="panel"/>
          <p:cNvSpPr/>
          <p:nvPr/>
        </p:nvSpPr>
        <p:spPr>
          <a:xfrm>
            <a:off x="5000191" y="4389120"/>
            <a:ext cx="6642864" cy="868680"/>
          </a:xfrm>
          <a:prstGeom prst="rect">
            <a:avLst/>
          </a:prstGeom>
          <a:solidFill>
            <a:schemeClr val="bg2"/>
          </a:solidFill>
          <a:ln/>
        </p:spPr>
      </p:sp>
      <p:sp>
        <p:nvSpPr>
          <p:cNvPr id="22" name="Text 19"/>
          <p:cNvSpPr txBox="1"/>
          <p:nvPr/>
        </p:nvSpPr>
        <p:spPr>
          <a:xfrm>
            <a:off x="5228791" y="4462272"/>
            <a:ext cx="6185664" cy="731520"/>
          </a:xfrm>
          <a:prstGeom prst="rect">
            <a:avLst/>
          </a:prstGeom>
          <a:noFill/>
          <a:ln/>
        </p:spPr>
        <p:txBody>
          <a:bodyPr wrap="square" lIns="0" tIns="0" rIns="0" bIns="0" rtlCol="0" anchor="ctr"/>
          <a:lstStyle/>
          <a:p>
            <a:pPr indent="0" marL="0">
              <a:buNone/>
            </a:pPr>
            <a:r>
              <a:rPr lang="en-US" sz="1250" b="1" dirty="0">
                <a:solidFill>
                  <a:schemeClr val="tx1"/>
                </a:solidFill>
              </a:rPr>
              <a:t>Brooklyn-Queens Expressway, southbound: </a:t>
            </a:r>
            <a:pPr indent="0" marL="0">
              <a:buNone/>
            </a:pPr>
            <a:r>
              <a:rPr lang="en-US" sz="1250" dirty="0">
                <a:solidFill>
                  <a:schemeClr val="tx1"/>
                </a:solidFill>
              </a:rPr>
              <a:t>speed fell from 42.2 to 21.5 mph (−49%). Deck repairs were under way, but this data cannot show what caused the drop.</a:t>
            </a:r>
            <a:endParaRPr lang="en-US" sz="1250" dirty="0"/>
          </a:p>
        </p:txBody>
      </p:sp>
      <p:sp>
        <p:nvSpPr>
          <p:cNvPr id="23" name="Text 20"/>
          <p:cNvSpPr txBox="1"/>
          <p:nvPr/>
        </p:nvSpPr>
        <p:spPr>
          <a:xfrm>
            <a:off x="5000191" y="5394960"/>
            <a:ext cx="6642864" cy="365760"/>
          </a:xfrm>
          <a:prstGeom prst="rect">
            <a:avLst/>
          </a:prstGeom>
          <a:noFill/>
          <a:ln/>
        </p:spPr>
        <p:txBody>
          <a:bodyPr wrap="square" lIns="0" tIns="0" rIns="0" bIns="0" rtlCol="0" anchor="t"/>
          <a:lstStyle/>
          <a:p>
            <a:pPr indent="0" marL="0">
              <a:buNone/>
            </a:pPr>
            <a:r>
              <a:rPr lang="en-US" sz="1400" b="1" dirty="0">
                <a:solidFill>
                  <a:schemeClr val="tx1"/>
                </a:solidFill>
              </a:rPr>
              <a:t>There was no citywide gridlock, but some local bottlenecks remain.</a:t>
            </a:r>
            <a:endParaRPr lang="en-US" sz="1400" dirty="0"/>
          </a:p>
        </p:txBody>
      </p:sp>
      <p:sp>
        <p:nvSpPr>
          <p:cNvPr id="2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NYC DOT traffic speed data, 86 weekdays a year. Segments are kept only if they had at least 65 good days in both years.</a:t>
            </a:r>
            <a:endParaRPr lang="en-US" sz="900" dirty="0"/>
          </a:p>
        </p:txBody>
      </p:sp>
      <p:sp>
        <p:nvSpPr>
          <p:cNvPr id="25" name="exhibit link">
            <a:hlinkClick r:id="rId2" tooltip="Exhibit 2: highway speed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2: highway speed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NYC Mobility">
  <a:themeElements>
    <a:clrScheme name="NYC Mobility">
      <a:dk1>
        <a:srgbClr val="1A1A1A"/>
      </a:dk1>
      <a:lt1>
        <a:srgbClr val="FFFFFF"/>
      </a:lt1>
      <a:dk2>
        <a:srgbClr val="2B2B2B"/>
      </a:dk2>
      <a:lt2>
        <a:srgbClr val="F2F2F2"/>
      </a:lt2>
      <a:accent1>
        <a:srgbClr val="2B2B2B"/>
      </a:accent1>
      <a:accent2>
        <a:srgbClr val="C8532A"/>
      </a:accent2>
      <a:accent3>
        <a:srgbClr val="A8441F"/>
      </a:accent3>
      <a:accent4>
        <a:srgbClr val="5C5C5C"/>
      </a:accent4>
      <a:accent5>
        <a:srgbClr val="8A8A8A"/>
      </a:accent5>
      <a:accent6>
        <a:srgbClr val="B8B8B8"/>
      </a:accent6>
      <a:hlink>
        <a:srgbClr val="C8532A"/>
      </a:hlink>
      <a:folHlink>
        <a:srgbClr val="5C5C5C"/>
      </a:folHlink>
    </a:clrScheme>
    <a:fontScheme name="NYC Mo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Mobility Strategy</dc:title>
  <dc:subject>PptxGenJS Presentation</dc:subject>
  <dc:creator>PptxGenJS</dc:creator>
  <cp:lastModifiedBy>PptxGenJS</cp:lastModifiedBy>
  <cp:revision>1</cp:revision>
  <dcterms:created xsi:type="dcterms:W3CDTF">2026-10-15T20:40:24Z</dcterms:created>
  <dcterms:modified xsi:type="dcterms:W3CDTF">2026-10-15T20:40:24Z</dcterms:modified>
</cp:coreProperties>
</file>