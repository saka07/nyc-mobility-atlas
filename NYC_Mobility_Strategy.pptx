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7" r:id="rId4"/>
    <p:sldId id="259" r:id="rId5"/>
    <p:sldId id="260" r:id="rId6"/>
    <p:sldId id="261" r:id="rId7"/>
    <p:sldId id="262" r:id="rId8"/>
    <p:sldId id="263" r:id="rId9"/>
    <p:sldId id="264" r:id="rId10"/>
    <p:sldId id="265"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7" d="100"/>
          <a:sy n="77" d="100"/>
        </p:scale>
        <p:origin x="2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Entries</c:v>
                </c:pt>
              </c:strCache>
            </c:strRef>
          </c:tx>
          <c:spPr>
            <a:solidFill>
              <a:srgbClr val="B8B8B8"/>
            </a:solidFill>
            <a:effectLst/>
          </c:spPr>
          <c:invertIfNegative val="0"/>
          <c:dPt>
            <c:idx val="0"/>
            <c:invertIfNegative val="0"/>
            <c:bubble3D val="0"/>
            <c:spPr>
              <a:solidFill>
                <a:srgbClr val="B8B8B8"/>
              </a:solidFill>
              <a:effectLst/>
            </c:spPr>
            <c:extLst>
              <c:ext xmlns:c16="http://schemas.microsoft.com/office/drawing/2014/chart" uri="{C3380CC4-5D6E-409C-BE32-E72D297353CC}">
                <c16:uniqueId val="{00000001-C4A1-421C-B9CB-7207B88EB940}"/>
              </c:ext>
            </c:extLst>
          </c:dPt>
          <c:dPt>
            <c:idx val="1"/>
            <c:invertIfNegative val="0"/>
            <c:bubble3D val="0"/>
            <c:spPr>
              <a:solidFill>
                <a:srgbClr val="2B2B2B"/>
              </a:solidFill>
              <a:effectLst/>
            </c:spPr>
            <c:extLst>
              <c:ext xmlns:c16="http://schemas.microsoft.com/office/drawing/2014/chart" uri="{C3380CC4-5D6E-409C-BE32-E72D297353CC}">
                <c16:uniqueId val="{00000003-C4A1-421C-B9CB-7207B88EB940}"/>
              </c:ext>
            </c:extLst>
          </c:dPt>
          <c:dLbls>
            <c:numFmt formatCode="#,##0,&quot;k&quot;" sourceLinked="0"/>
            <c:spPr>
              <a:noFill/>
              <a:ln>
                <a:noFill/>
              </a:ln>
              <a:effectLst/>
            </c:spPr>
            <c:txPr>
              <a:bodyPr/>
              <a:lstStyle/>
              <a:p>
                <a:pPr>
                  <a:defRPr sz="1300" b="0" i="0" u="none" strike="noStrike">
                    <a:solidFill>
                      <a:srgbClr val="1A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Before tolling</c:v>
                </c:pt>
                <c:pt idx="1">
                  <c:v>After tolling</c:v>
                </c:pt>
              </c:strCache>
            </c:strRef>
          </c:cat>
          <c:val>
            <c:numRef>
              <c:f>Sheet1!$B$2:$B$3</c:f>
              <c:numCache>
                <c:formatCode>General</c:formatCode>
                <c:ptCount val="2"/>
                <c:pt idx="0">
                  <c:v>600000</c:v>
                </c:pt>
                <c:pt idx="1">
                  <c:v>533000</c:v>
                </c:pt>
              </c:numCache>
            </c:numRef>
          </c:val>
          <c:extLst>
            <c:ext xmlns:c16="http://schemas.microsoft.com/office/drawing/2014/chart" uri="{C3380CC4-5D6E-409C-BE32-E72D297353CC}">
              <c16:uniqueId val="{00000004-C4A1-421C-B9CB-7207B88EB940}"/>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A1A1A"/>
                </a:solidFill>
                <a:latin typeface="+mn-lt"/>
              </a:defRPr>
            </a:pPr>
            <a:endParaRPr lang="en-US"/>
          </a:p>
        </c:txPr>
        <c:crossAx val="2094734552"/>
        <c:crosses val="autoZero"/>
        <c:auto val="1"/>
        <c:lblAlgn val="ctr"/>
        <c:lblOffset val="100"/>
        <c:noMultiLvlLbl val="1"/>
      </c:catAx>
      <c:valAx>
        <c:axId val="2094734552"/>
        <c:scaling>
          <c:orientation val="minMax"/>
          <c:max val="78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highlight</c:v>
                </c:pt>
              </c:strCache>
            </c:strRef>
          </c:tx>
          <c:spPr>
            <a:solidFill>
              <a:srgbClr val="2B2B2B"/>
            </a:solidFill>
            <a:effectLst/>
          </c:spPr>
          <c:invertIfNegative val="0"/>
          <c:cat>
            <c:strRef>
              <c:f>Sheet1!$A$2:$A$5</c:f>
              <c:strCache>
                <c:ptCount val="4"/>
                <c:pt idx="0">
                  <c:v>Brooklyn  476k</c:v>
                </c:pt>
                <c:pt idx="1">
                  <c:v>Queens  344k</c:v>
                </c:pt>
                <c:pt idx="2">
                  <c:v>Bronx  207k</c:v>
                </c:pt>
                <c:pt idx="3">
                  <c:v>Staten Isl.  59k</c:v>
                </c:pt>
              </c:strCache>
            </c:strRef>
          </c:cat>
          <c:val>
            <c:numRef>
              <c:f>Sheet1!$B$2:$B$5</c:f>
              <c:numCache>
                <c:formatCode>General</c:formatCode>
                <c:ptCount val="4"/>
                <c:pt idx="0">
                  <c:v>475957</c:v>
                </c:pt>
                <c:pt idx="1">
                  <c:v>343646</c:v>
                </c:pt>
                <c:pt idx="2">
                  <c:v>0</c:v>
                </c:pt>
                <c:pt idx="3">
                  <c:v>0</c:v>
                </c:pt>
              </c:numCache>
            </c:numRef>
          </c:val>
          <c:extLst>
            <c:ext xmlns:c16="http://schemas.microsoft.com/office/drawing/2014/chart" uri="{C3380CC4-5D6E-409C-BE32-E72D297353CC}">
              <c16:uniqueId val="{00000000-08DD-4C25-9C1A-DF5E009B6F58}"/>
            </c:ext>
          </c:extLst>
        </c:ser>
        <c:ser>
          <c:idx val="1"/>
          <c:order val="1"/>
          <c:tx>
            <c:strRef>
              <c:f>Sheet1!$C$1</c:f>
              <c:strCache>
                <c:ptCount val="1"/>
                <c:pt idx="0">
                  <c:v>other</c:v>
                </c:pt>
              </c:strCache>
            </c:strRef>
          </c:tx>
          <c:spPr>
            <a:solidFill>
              <a:srgbClr val="B8B8B8"/>
            </a:solidFill>
            <a:effectLst/>
          </c:spPr>
          <c:invertIfNegative val="0"/>
          <c:cat>
            <c:strRef>
              <c:f>Sheet1!$A$2:$A$5</c:f>
              <c:strCache>
                <c:ptCount val="4"/>
                <c:pt idx="0">
                  <c:v>Brooklyn  476k</c:v>
                </c:pt>
                <c:pt idx="1">
                  <c:v>Queens  344k</c:v>
                </c:pt>
                <c:pt idx="2">
                  <c:v>Bronx  207k</c:v>
                </c:pt>
                <c:pt idx="3">
                  <c:v>Staten Isl.  59k</c:v>
                </c:pt>
              </c:strCache>
            </c:strRef>
          </c:cat>
          <c:val>
            <c:numRef>
              <c:f>Sheet1!$C$2:$C$5</c:f>
              <c:numCache>
                <c:formatCode>General</c:formatCode>
                <c:ptCount val="4"/>
                <c:pt idx="0">
                  <c:v>0</c:v>
                </c:pt>
                <c:pt idx="1">
                  <c:v>0</c:v>
                </c:pt>
                <c:pt idx="2">
                  <c:v>206562</c:v>
                </c:pt>
                <c:pt idx="3">
                  <c:v>59459</c:v>
                </c:pt>
              </c:numCache>
            </c:numRef>
          </c:val>
          <c:extLst>
            <c:ext xmlns:c16="http://schemas.microsoft.com/office/drawing/2014/chart" uri="{C3380CC4-5D6E-409C-BE32-E72D297353CC}">
              <c16:uniqueId val="{00000001-08DD-4C25-9C1A-DF5E009B6F58}"/>
            </c:ext>
          </c:extLst>
        </c:ser>
        <c:dLbls>
          <c:showLegendKey val="0"/>
          <c:showVal val="0"/>
          <c:showCatName val="0"/>
          <c:showSerName val="0"/>
          <c:showPercent val="0"/>
          <c:showBubbleSize val="0"/>
        </c:dLbls>
        <c:gapWidth val="4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9525" cap="flat">
              <a:solidFill>
                <a:srgbClr val="E6E6E6"/>
              </a:solidFill>
              <a:prstDash val="solid"/>
              <a:round/>
            </a:ln>
          </c:spPr>
        </c:majorGridlines>
        <c:numFmt formatCode="#,##0,&quot;k&quot;" sourceLinked="0"/>
        <c:majorTickMark val="out"/>
        <c:minorTickMark val="none"/>
        <c:tickLblPos val="low"/>
        <c:spPr>
          <a:ln w="12700" cap="flat">
            <a:noFill/>
            <a:prstDash val="solid"/>
            <a:round/>
          </a:ln>
        </c:spPr>
        <c:txPr>
          <a:bodyPr/>
          <a:lstStyle/>
          <a:p>
            <a:pPr>
              <a:defRPr sz="900" b="0" i="0" u="none" strike="noStrike">
                <a:solidFill>
                  <a:srgbClr val="5C5C5C"/>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highlight</c:v>
                </c:pt>
              </c:strCache>
            </c:strRef>
          </c:tx>
          <c:spPr>
            <a:solidFill>
              <a:srgbClr val="C8532A"/>
            </a:solidFill>
            <a:effectLst/>
          </c:spPr>
          <c:invertIfNegative val="0"/>
          <c:cat>
            <c:strRef>
              <c:f>Sheet1!$A$2:$A$5</c:f>
              <c:strCache>
                <c:ptCount val="4"/>
                <c:pt idx="0">
                  <c:v>Bronx  102k</c:v>
                </c:pt>
                <c:pt idx="1">
                  <c:v>Brooklyn  42k</c:v>
                </c:pt>
                <c:pt idx="2">
                  <c:v>Queens  36k</c:v>
                </c:pt>
                <c:pt idx="3">
                  <c:v>Staten Isl.  9k</c:v>
                </c:pt>
              </c:strCache>
            </c:strRef>
          </c:cat>
          <c:val>
            <c:numRef>
              <c:f>Sheet1!$B$2:$B$5</c:f>
              <c:numCache>
                <c:formatCode>General</c:formatCode>
                <c:ptCount val="4"/>
                <c:pt idx="0">
                  <c:v>102489</c:v>
                </c:pt>
                <c:pt idx="1">
                  <c:v>0</c:v>
                </c:pt>
                <c:pt idx="2">
                  <c:v>0</c:v>
                </c:pt>
                <c:pt idx="3">
                  <c:v>0</c:v>
                </c:pt>
              </c:numCache>
            </c:numRef>
          </c:val>
          <c:extLst>
            <c:ext xmlns:c16="http://schemas.microsoft.com/office/drawing/2014/chart" uri="{C3380CC4-5D6E-409C-BE32-E72D297353CC}">
              <c16:uniqueId val="{00000000-4045-476B-93B1-2FDD8C637A6E}"/>
            </c:ext>
          </c:extLst>
        </c:ser>
        <c:ser>
          <c:idx val="1"/>
          <c:order val="1"/>
          <c:tx>
            <c:strRef>
              <c:f>Sheet1!$C$1</c:f>
              <c:strCache>
                <c:ptCount val="1"/>
                <c:pt idx="0">
                  <c:v>other</c:v>
                </c:pt>
              </c:strCache>
            </c:strRef>
          </c:tx>
          <c:spPr>
            <a:solidFill>
              <a:srgbClr val="B8B8B8"/>
            </a:solidFill>
            <a:effectLst/>
          </c:spPr>
          <c:invertIfNegative val="0"/>
          <c:cat>
            <c:strRef>
              <c:f>Sheet1!$A$2:$A$5</c:f>
              <c:strCache>
                <c:ptCount val="4"/>
                <c:pt idx="0">
                  <c:v>Bronx  102k</c:v>
                </c:pt>
                <c:pt idx="1">
                  <c:v>Brooklyn  42k</c:v>
                </c:pt>
                <c:pt idx="2">
                  <c:v>Queens  36k</c:v>
                </c:pt>
                <c:pt idx="3">
                  <c:v>Staten Isl.  9k</c:v>
                </c:pt>
              </c:strCache>
            </c:strRef>
          </c:cat>
          <c:val>
            <c:numRef>
              <c:f>Sheet1!$C$2:$C$5</c:f>
              <c:numCache>
                <c:formatCode>General</c:formatCode>
                <c:ptCount val="4"/>
                <c:pt idx="0">
                  <c:v>0</c:v>
                </c:pt>
                <c:pt idx="1">
                  <c:v>42408</c:v>
                </c:pt>
                <c:pt idx="2">
                  <c:v>36439</c:v>
                </c:pt>
                <c:pt idx="3">
                  <c:v>8901</c:v>
                </c:pt>
              </c:numCache>
            </c:numRef>
          </c:val>
          <c:extLst>
            <c:ext xmlns:c16="http://schemas.microsoft.com/office/drawing/2014/chart" uri="{C3380CC4-5D6E-409C-BE32-E72D297353CC}">
              <c16:uniqueId val="{00000001-4045-476B-93B1-2FDD8C637A6E}"/>
            </c:ext>
          </c:extLst>
        </c:ser>
        <c:dLbls>
          <c:showLegendKey val="0"/>
          <c:showVal val="0"/>
          <c:showCatName val="0"/>
          <c:showSerName val="0"/>
          <c:showPercent val="0"/>
          <c:showBubbleSize val="0"/>
        </c:dLbls>
        <c:gapWidth val="4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9525" cap="flat">
              <a:solidFill>
                <a:srgbClr val="E6E6E6"/>
              </a:solidFill>
              <a:prstDash val="solid"/>
              <a:round/>
            </a:ln>
          </c:spPr>
        </c:majorGridlines>
        <c:numFmt formatCode="#,##0,&quot;k&quot;" sourceLinked="0"/>
        <c:majorTickMark val="out"/>
        <c:minorTickMark val="none"/>
        <c:tickLblPos val="low"/>
        <c:spPr>
          <a:ln w="12700" cap="flat">
            <a:noFill/>
            <a:prstDash val="solid"/>
            <a:round/>
          </a:ln>
        </c:spPr>
        <c:txPr>
          <a:bodyPr/>
          <a:lstStyle/>
          <a:p>
            <a:pPr>
              <a:defRPr sz="900" b="0" i="0" u="none" strike="noStrike">
                <a:solidFill>
                  <a:srgbClr val="5C5C5C"/>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Walk / transfer</c:v>
                </c:pt>
              </c:strCache>
            </c:strRef>
          </c:tx>
          <c:spPr>
            <a:solidFill>
              <a:srgbClr val="C8532A"/>
            </a:solidFill>
            <a:effectLst/>
          </c:spPr>
          <c:invertIfNegative val="0"/>
          <c:dLbls>
            <c:numFmt formatCode="0.0;;" sourceLinked="0"/>
            <c:spPr>
              <a:noFill/>
              <a:ln>
                <a:noFill/>
              </a:ln>
              <a:effectLst/>
            </c:spPr>
            <c:txPr>
              <a:bodyPr/>
              <a:lstStyle/>
              <a:p>
                <a:pPr>
                  <a:defRPr sz="11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Fresh Meadows</c:v>
                </c:pt>
                <c:pt idx="1">
                  <c:v>Rosedale</c:v>
                </c:pt>
                <c:pt idx="2">
                  <c:v>Throggs Neck</c:v>
                </c:pt>
              </c:strCache>
            </c:strRef>
          </c:cat>
          <c:val>
            <c:numRef>
              <c:f>Sheet1!$B$2:$B$4</c:f>
              <c:numCache>
                <c:formatCode>General</c:formatCode>
                <c:ptCount val="3"/>
                <c:pt idx="0">
                  <c:v>17.7</c:v>
                </c:pt>
                <c:pt idx="1">
                  <c:v>18.899999999999999</c:v>
                </c:pt>
                <c:pt idx="2">
                  <c:v>8.4</c:v>
                </c:pt>
              </c:numCache>
            </c:numRef>
          </c:val>
          <c:extLst>
            <c:ext xmlns:c16="http://schemas.microsoft.com/office/drawing/2014/chart" uri="{C3380CC4-5D6E-409C-BE32-E72D297353CC}">
              <c16:uniqueId val="{00000000-E13A-4F14-834B-92D76486E2C1}"/>
            </c:ext>
          </c:extLst>
        </c:ser>
        <c:ser>
          <c:idx val="1"/>
          <c:order val="1"/>
          <c:tx>
            <c:strRef>
              <c:f>Sheet1!$C$1</c:f>
              <c:strCache>
                <c:ptCount val="1"/>
                <c:pt idx="0">
                  <c:v>Wait</c:v>
                </c:pt>
              </c:strCache>
            </c:strRef>
          </c:tx>
          <c:spPr>
            <a:solidFill>
              <a:srgbClr val="6B3A22"/>
            </a:solidFill>
            <a:effectLst/>
          </c:spPr>
          <c:invertIfNegative val="0"/>
          <c:dLbls>
            <c:numFmt formatCode="0.0;;" sourceLinked="0"/>
            <c:spPr>
              <a:noFill/>
              <a:ln>
                <a:noFill/>
              </a:ln>
              <a:effectLst/>
            </c:spPr>
            <c:txPr>
              <a:bodyPr/>
              <a:lstStyle/>
              <a:p>
                <a:pPr>
                  <a:defRPr sz="11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Fresh Meadows</c:v>
                </c:pt>
                <c:pt idx="1">
                  <c:v>Rosedale</c:v>
                </c:pt>
                <c:pt idx="2">
                  <c:v>Throggs Neck</c:v>
                </c:pt>
              </c:strCache>
            </c:strRef>
          </c:cat>
          <c:val>
            <c:numRef>
              <c:f>Sheet1!$C$2:$C$4</c:f>
              <c:numCache>
                <c:formatCode>General</c:formatCode>
                <c:ptCount val="3"/>
                <c:pt idx="0">
                  <c:v>2.5</c:v>
                </c:pt>
                <c:pt idx="1">
                  <c:v>3.5</c:v>
                </c:pt>
                <c:pt idx="2">
                  <c:v>4.3</c:v>
                </c:pt>
              </c:numCache>
            </c:numRef>
          </c:val>
          <c:extLst>
            <c:ext xmlns:c16="http://schemas.microsoft.com/office/drawing/2014/chart" uri="{C3380CC4-5D6E-409C-BE32-E72D297353CC}">
              <c16:uniqueId val="{00000001-E13A-4F14-834B-92D76486E2C1}"/>
            </c:ext>
          </c:extLst>
        </c:ser>
        <c:ser>
          <c:idx val="2"/>
          <c:order val="2"/>
          <c:tx>
            <c:strRef>
              <c:f>Sheet1!$D$1</c:f>
              <c:strCache>
                <c:ptCount val="1"/>
                <c:pt idx="0">
                  <c:v>Bus</c:v>
                </c:pt>
              </c:strCache>
            </c:strRef>
          </c:tx>
          <c:spPr>
            <a:solidFill>
              <a:srgbClr val="8A8A8A"/>
            </a:solidFill>
            <a:effectLst/>
          </c:spPr>
          <c:invertIfNegative val="0"/>
          <c:dLbls>
            <c:numFmt formatCode="0.0;;" sourceLinked="0"/>
            <c:spPr>
              <a:noFill/>
              <a:ln>
                <a:noFill/>
              </a:ln>
              <a:effectLst/>
            </c:spPr>
            <c:txPr>
              <a:bodyPr/>
              <a:lstStyle/>
              <a:p>
                <a:pPr>
                  <a:defRPr sz="11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Fresh Meadows</c:v>
                </c:pt>
                <c:pt idx="1">
                  <c:v>Rosedale</c:v>
                </c:pt>
                <c:pt idx="2">
                  <c:v>Throggs Neck</c:v>
                </c:pt>
              </c:strCache>
            </c:strRef>
          </c:cat>
          <c:val>
            <c:numRef>
              <c:f>Sheet1!$D$2:$D$4</c:f>
              <c:numCache>
                <c:formatCode>General</c:formatCode>
                <c:ptCount val="3"/>
                <c:pt idx="0">
                  <c:v>6.9</c:v>
                </c:pt>
                <c:pt idx="1">
                  <c:v>0</c:v>
                </c:pt>
                <c:pt idx="2">
                  <c:v>16</c:v>
                </c:pt>
              </c:numCache>
            </c:numRef>
          </c:val>
          <c:extLst>
            <c:ext xmlns:c16="http://schemas.microsoft.com/office/drawing/2014/chart" uri="{C3380CC4-5D6E-409C-BE32-E72D297353CC}">
              <c16:uniqueId val="{00000002-E13A-4F14-834B-92D76486E2C1}"/>
            </c:ext>
          </c:extLst>
        </c:ser>
        <c:ser>
          <c:idx val="3"/>
          <c:order val="3"/>
          <c:tx>
            <c:strRef>
              <c:f>Sheet1!$E$1</c:f>
              <c:strCache>
                <c:ptCount val="1"/>
                <c:pt idx="0">
                  <c:v>Commuter rail</c:v>
                </c:pt>
              </c:strCache>
            </c:strRef>
          </c:tx>
          <c:spPr>
            <a:solidFill>
              <a:srgbClr val="5C5C5C"/>
            </a:solidFill>
            <a:effectLst/>
          </c:spPr>
          <c:invertIfNegative val="0"/>
          <c:dLbls>
            <c:numFmt formatCode="0.0;;" sourceLinked="0"/>
            <c:spPr>
              <a:noFill/>
              <a:ln>
                <a:noFill/>
              </a:ln>
              <a:effectLst/>
            </c:spPr>
            <c:txPr>
              <a:bodyPr/>
              <a:lstStyle/>
              <a:p>
                <a:pPr>
                  <a:defRPr sz="11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Fresh Meadows</c:v>
                </c:pt>
                <c:pt idx="1">
                  <c:v>Rosedale</c:v>
                </c:pt>
                <c:pt idx="2">
                  <c:v>Throggs Neck</c:v>
                </c:pt>
              </c:strCache>
            </c:strRef>
          </c:cat>
          <c:val>
            <c:numRef>
              <c:f>Sheet1!$E$2:$E$4</c:f>
              <c:numCache>
                <c:formatCode>General</c:formatCode>
                <c:ptCount val="3"/>
                <c:pt idx="0">
                  <c:v>0</c:v>
                </c:pt>
                <c:pt idx="1">
                  <c:v>27</c:v>
                </c:pt>
                <c:pt idx="2">
                  <c:v>0</c:v>
                </c:pt>
              </c:numCache>
            </c:numRef>
          </c:val>
          <c:extLst>
            <c:ext xmlns:c16="http://schemas.microsoft.com/office/drawing/2014/chart" uri="{C3380CC4-5D6E-409C-BE32-E72D297353CC}">
              <c16:uniqueId val="{00000003-E13A-4F14-834B-92D76486E2C1}"/>
            </c:ext>
          </c:extLst>
        </c:ser>
        <c:ser>
          <c:idx val="4"/>
          <c:order val="4"/>
          <c:tx>
            <c:strRef>
              <c:f>Sheet1!$F$1</c:f>
              <c:strCache>
                <c:ptCount val="1"/>
                <c:pt idx="0">
                  <c:v>Subway</c:v>
                </c:pt>
              </c:strCache>
            </c:strRef>
          </c:tx>
          <c:spPr>
            <a:solidFill>
              <a:srgbClr val="2B2B2B"/>
            </a:solidFill>
            <a:effectLst/>
          </c:spPr>
          <c:invertIfNegative val="0"/>
          <c:dLbls>
            <c:numFmt formatCode="0.0;;" sourceLinked="0"/>
            <c:spPr>
              <a:noFill/>
              <a:ln>
                <a:noFill/>
              </a:ln>
              <a:effectLst/>
            </c:spPr>
            <c:txPr>
              <a:bodyPr/>
              <a:lstStyle/>
              <a:p>
                <a:pPr>
                  <a:defRPr sz="11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Fresh Meadows</c:v>
                </c:pt>
                <c:pt idx="1">
                  <c:v>Rosedale</c:v>
                </c:pt>
                <c:pt idx="2">
                  <c:v>Throggs Neck</c:v>
                </c:pt>
              </c:strCache>
            </c:strRef>
          </c:cat>
          <c:val>
            <c:numRef>
              <c:f>Sheet1!$F$2:$F$4</c:f>
              <c:numCache>
                <c:formatCode>General</c:formatCode>
                <c:ptCount val="3"/>
                <c:pt idx="0">
                  <c:v>28.5</c:v>
                </c:pt>
                <c:pt idx="1">
                  <c:v>12.5</c:v>
                </c:pt>
                <c:pt idx="2">
                  <c:v>42.5</c:v>
                </c:pt>
              </c:numCache>
            </c:numRef>
          </c:val>
          <c:extLst>
            <c:ext xmlns:c16="http://schemas.microsoft.com/office/drawing/2014/chart" uri="{C3380CC4-5D6E-409C-BE32-E72D297353CC}">
              <c16:uniqueId val="{00000004-E13A-4F14-834B-92D76486E2C1}"/>
            </c:ext>
          </c:extLst>
        </c:ser>
        <c:dLbls>
          <c:dLblPos val="ctr"/>
          <c:showLegendKey val="0"/>
          <c:showVal val="1"/>
          <c:showCatName val="0"/>
          <c:showSerName val="0"/>
          <c:showPercent val="0"/>
          <c:showBubbleSize val="0"/>
        </c:dLbls>
        <c:gapWidth val="5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lblOffset val="100"/>
        <c:noMultiLvlLbl val="1"/>
      </c:catAx>
      <c:valAx>
        <c:axId val="2094734552"/>
        <c:scaling>
          <c:orientation val="minMax"/>
          <c:max val="75"/>
        </c:scaling>
        <c:delete val="0"/>
        <c:axPos val="t"/>
        <c:majorGridlines>
          <c:spPr>
            <a:ln w="9525"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C5C5C"/>
                </a:solidFill>
                <a:latin typeface="+mn-lt"/>
              </a:defRPr>
            </a:pPr>
            <a:endParaRPr lang="en-US"/>
          </a:p>
        </c:txPr>
        <c:crossAx val="2094734554"/>
        <c:crosses val="autoZero"/>
        <c:crossBetween val="between"/>
        <c:majorUnit val="15"/>
      </c:valAx>
      <c:spPr>
        <a:noFill/>
        <a:ln>
          <a:noFill/>
        </a:ln>
        <a:effectLst/>
      </c:spPr>
    </c:plotArea>
    <c:legend>
      <c:legendPos val="b"/>
      <c:overlay val="0"/>
      <c:txPr>
        <a:bodyPr/>
        <a:lstStyle/>
        <a:p>
          <a:pPr>
            <a:defRPr sz="1100">
              <a:solidFill>
                <a:srgbClr val="1A1A1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mph</c:v>
                </c:pt>
              </c:strCache>
            </c:strRef>
          </c:tx>
          <c:spPr>
            <a:solidFill>
              <a:srgbClr val="2B2B2B"/>
            </a:solidFill>
            <a:effectLst/>
          </c:spPr>
          <c:invertIfNegative val="0"/>
          <c:dLbls>
            <c:numFmt formatCode="0.0" sourceLinked="0"/>
            <c:spPr>
              <a:noFill/>
              <a:ln>
                <a:noFill/>
              </a:ln>
              <a:effectLst/>
            </c:spPr>
            <c:txPr>
              <a:bodyPr/>
              <a:lstStyle/>
              <a:p>
                <a:pPr>
                  <a:defRPr sz="1200" b="0" i="0" u="none" strike="noStrike">
                    <a:solidFill>
                      <a:srgbClr val="1A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Q46 Union Tpke</c:v>
                </c:pt>
                <c:pt idx="1">
                  <c:v>Q58 Corona</c:v>
                </c:pt>
                <c:pt idx="2">
                  <c:v>Q54 Metropolitan Ave</c:v>
                </c:pt>
              </c:strCache>
            </c:strRef>
          </c:cat>
          <c:val>
            <c:numRef>
              <c:f>Sheet1!$B$2:$B$4</c:f>
              <c:numCache>
                <c:formatCode>General</c:formatCode>
                <c:ptCount val="3"/>
                <c:pt idx="0">
                  <c:v>11.43</c:v>
                </c:pt>
                <c:pt idx="1">
                  <c:v>7.84</c:v>
                </c:pt>
                <c:pt idx="2">
                  <c:v>7.59</c:v>
                </c:pt>
              </c:numCache>
            </c:numRef>
          </c:val>
          <c:extLst>
            <c:ext xmlns:c16="http://schemas.microsoft.com/office/drawing/2014/chart" uri="{C3380CC4-5D6E-409C-BE32-E72D297353CC}">
              <c16:uniqueId val="{00000000-433E-44AF-B34C-931B572F8EA7}"/>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A1A1A"/>
                </a:solidFill>
                <a:latin typeface="+mn-lt"/>
              </a:defRPr>
            </a:pPr>
            <a:endParaRPr lang="en-US"/>
          </a:p>
        </c:txPr>
        <c:crossAx val="2094734552"/>
        <c:crosses val="autoZero"/>
        <c:auto val="1"/>
        <c:lblAlgn val="ctr"/>
        <c:lblOffset val="100"/>
        <c:noMultiLvlLbl val="1"/>
      </c:catAx>
      <c:valAx>
        <c:axId val="2094734552"/>
        <c:scaling>
          <c:orientation val="minMax"/>
          <c:max val="14"/>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Today (modelled)</c:v>
                </c:pt>
              </c:strCache>
            </c:strRef>
          </c:tx>
          <c:spPr>
            <a:solidFill>
              <a:srgbClr val="B8B8B8"/>
            </a:solidFill>
            <a:effectLst/>
          </c:spPr>
          <c:invertIfNegative val="0"/>
          <c:dLbls>
            <c:numFmt formatCode="0.0" sourceLinked="0"/>
            <c:spPr>
              <a:noFill/>
              <a:ln>
                <a:noFill/>
              </a:ln>
              <a:effectLst/>
            </c:spPr>
            <c:txPr>
              <a:bodyPr/>
              <a:lstStyle/>
              <a:p>
                <a:pPr>
                  <a:defRPr sz="1000" b="0" i="0" u="none" strike="noStrike">
                    <a:solidFill>
                      <a:srgbClr val="1A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Hillcrest</c:v>
                </c:pt>
                <c:pt idx="1">
                  <c:v>Utopia Parkway</c:v>
                </c:pt>
                <c:pt idx="2">
                  <c:v>188th Street</c:v>
                </c:pt>
                <c:pt idx="3">
                  <c:v>Cunningham Park</c:v>
                </c:pt>
                <c:pt idx="4">
                  <c:v>Oakland Gardens</c:v>
                </c:pt>
                <c:pt idx="5">
                  <c:v>Glen Oaks</c:v>
                </c:pt>
              </c:strCache>
            </c:strRef>
          </c:cat>
          <c:val>
            <c:numRef>
              <c:f>Sheet1!$B$2:$B$7</c:f>
              <c:numCache>
                <c:formatCode>General</c:formatCode>
                <c:ptCount val="6"/>
                <c:pt idx="0">
                  <c:v>52.3</c:v>
                </c:pt>
                <c:pt idx="1">
                  <c:v>55.3</c:v>
                </c:pt>
                <c:pt idx="2">
                  <c:v>59.9</c:v>
                </c:pt>
                <c:pt idx="3">
                  <c:v>63.7</c:v>
                </c:pt>
                <c:pt idx="4">
                  <c:v>70</c:v>
                </c:pt>
                <c:pt idx="5">
                  <c:v>82</c:v>
                </c:pt>
              </c:numCache>
            </c:numRef>
          </c:val>
          <c:extLst>
            <c:ext xmlns:c16="http://schemas.microsoft.com/office/drawing/2014/chart" uri="{C3380CC4-5D6E-409C-BE32-E72D297353CC}">
              <c16:uniqueId val="{00000000-92A9-4CED-9113-BAFE53E02A0B}"/>
            </c:ext>
          </c:extLst>
        </c:ser>
        <c:ser>
          <c:idx val="1"/>
          <c:order val="1"/>
          <c:tx>
            <c:strRef>
              <c:f>Sheet1!$C$1</c:f>
              <c:strCache>
                <c:ptCount val="1"/>
                <c:pt idx="0">
                  <c:v>With faster buses and easier transfer</c:v>
                </c:pt>
              </c:strCache>
            </c:strRef>
          </c:tx>
          <c:spPr>
            <a:solidFill>
              <a:srgbClr val="C8532A"/>
            </a:solidFill>
            <a:effectLst/>
          </c:spPr>
          <c:invertIfNegative val="0"/>
          <c:dLbls>
            <c:numFmt formatCode="0.0" sourceLinked="0"/>
            <c:spPr>
              <a:noFill/>
              <a:ln>
                <a:noFill/>
              </a:ln>
              <a:effectLst/>
            </c:spPr>
            <c:txPr>
              <a:bodyPr/>
              <a:lstStyle/>
              <a:p>
                <a:pPr>
                  <a:defRPr sz="1000" b="0" i="0" u="none" strike="noStrike">
                    <a:solidFill>
                      <a:srgbClr val="1A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Hillcrest</c:v>
                </c:pt>
                <c:pt idx="1">
                  <c:v>Utopia Parkway</c:v>
                </c:pt>
                <c:pt idx="2">
                  <c:v>188th Street</c:v>
                </c:pt>
                <c:pt idx="3">
                  <c:v>Cunningham Park</c:v>
                </c:pt>
                <c:pt idx="4">
                  <c:v>Oakland Gardens</c:v>
                </c:pt>
                <c:pt idx="5">
                  <c:v>Glen Oaks</c:v>
                </c:pt>
              </c:strCache>
            </c:strRef>
          </c:cat>
          <c:val>
            <c:numRef>
              <c:f>Sheet1!$C$2:$C$7</c:f>
              <c:numCache>
                <c:formatCode>General</c:formatCode>
                <c:ptCount val="6"/>
                <c:pt idx="0">
                  <c:v>46.1</c:v>
                </c:pt>
                <c:pt idx="1">
                  <c:v>48.3</c:v>
                </c:pt>
                <c:pt idx="2">
                  <c:v>52</c:v>
                </c:pt>
                <c:pt idx="3">
                  <c:v>55</c:v>
                </c:pt>
                <c:pt idx="4">
                  <c:v>60.1</c:v>
                </c:pt>
                <c:pt idx="5">
                  <c:v>69.5</c:v>
                </c:pt>
              </c:numCache>
            </c:numRef>
          </c:val>
          <c:extLst>
            <c:ext xmlns:c16="http://schemas.microsoft.com/office/drawing/2014/chart" uri="{C3380CC4-5D6E-409C-BE32-E72D297353CC}">
              <c16:uniqueId val="{00000001-92A9-4CED-9113-BAFE53E02A0B}"/>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A1A1A"/>
                </a:solidFill>
                <a:latin typeface="+mn-lt"/>
              </a:defRPr>
            </a:pPr>
            <a:endParaRPr lang="en-US"/>
          </a:p>
        </c:txPr>
        <c:crossAx val="2094734552"/>
        <c:crosses val="autoZero"/>
        <c:auto val="1"/>
        <c:lblAlgn val="ctr"/>
        <c:lblOffset val="100"/>
        <c:noMultiLvlLbl val="1"/>
      </c:catAx>
      <c:valAx>
        <c:axId val="2094734552"/>
        <c:scaling>
          <c:orientation val="minMax"/>
          <c:max val="95"/>
          <c:min val="0"/>
        </c:scaling>
        <c:delete val="0"/>
        <c:axPos val="t"/>
        <c:majorGridlines>
          <c:spPr>
            <a:ln w="9525" cap="flat">
              <a:solidFill>
                <a:srgbClr val="E6E6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C5C5C"/>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1A1A1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6184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briefing: show what congestion pricing has changed, where outer-borough transit still falls short, and ask for a decision on a phased 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Each section answers one question; the tracker at the top of every slide shows where we 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as the whole argument. Situation: pricing reduced traffic without causing citywide gridlock. Complication: outer-borough transit trips are long, mostly because of walking, waiting and transfers, and two key feeder buses have never been measured. Resolution: target capital funding where demand and a measured barrier overlap; start in Eastern Queens because it is the most ready to build.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comparison is rounded: about 600,000 entries a day before tolling and 533,000 after, a fall of about 67,000 or 11 percent. The map shows the official zone and the 12 crossings, sized by 2025 weekday entries. Crossing counts come from a separate detection dataset and should not be subtracted from the official numbers.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shows where the 1.24 million NYC residents who work in the zone live; the darkest tracts send more than 1,000 workers each. Jobs show where workers live; they do not show who drives. Car-driver trips per day: Bronx 102,489 (25.6 percent mode share), Brooklyn 42,408, Queens 36,439, Staten Island 8,901.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Census tracts used. Eastern Queens (7): 36081137700, 36081126700, 36081134701, 36081134702, 36081141700, 36081044400, 36081157902. East Bronx (4): 36005013000, 36005013200, 36005011800, 36005016000. Southeast Queens (3): 36081062000, 36081063800, 36081065600. Cunningham Park (36081134700, a 2010 tract) split into 36081134701 (395 jobs) and 36081134702 (376 jobs) in 2020. Job shares are of 9,457, 4,998 and 2,387 resident workers. Rosedale fares: LIRR $5 to $7 plus $2.90 subway.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and subway legs are fast; the time is lost getting to the stop, waiting and changing. Walking is 31.8 percent of the Fresh Meadows trip. At Rosedale the LIRR covers 14 miles in 27 minutes, then an 8.5-minute outdoor walk between the Nostrand Ave stations and a second fare ($5 to $7 LIRR plus $2.90 subway).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the Fresh Meadows and Throggs Neck recommendations both depend on how these two buses actually perform. Elsewhere in the city, slow feeders fall well below target: B46 Utica at 57 percent on time and 7.4 mph, B41 Flatbush at 58 percent, B57 Maspeth at 6.4 mph. Measuring the Q30 and Bx8 is cheap and removes the biggest evidence gap.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per place. Fresh Meadows: 17.7 of 55.6 minutes is walking; the Q30 ride is only 6.9 minutes. Fix covers Utopia Parkway and 188th Street between 73rd Avenue and Union Turnpike, plus Q30 shelters with live clocks and timing buses to meet the F at 169th Street. Union Turnpike: the model test saves 6.2 to 12.5 minutes; also tap-to-pay readers at the 5 busiest stops. Throggs Neck: 59 percent drive alone; Bx8 not measured; fix on Crosby Avenue approaching Buhre Avenue, plus a sheltered transfer there. Rosedale: an 8.5-minute outdoor walk between the Nostrand Avenue stations and a second fare; also clear signs, lighting and lifts.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range from 6.2 minutes (Hillcrest, 11.9 percent) to 12.5 minutes (Glen Oaks, 15.2 percent), average 8.7 minutes or 13.5 percent. This is an illustrative engineering model, not an observed benefit. Emissions savings depend on real car trips diverted and must be measured, not assumed.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 first decision unlocks the Eastern Queens pilot. The second removes the biggest evidence gap before any money is spent in the Bronx. The third fixes the yardstick in advance so results can be judged fairly.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change minus 0.37 mph (minus 1.0 percent); mean minus 0.88 mph. BQE link 4616229 southbound fell from 42.23 to 21.53 mph during state deck repairs. Data check: 8.4 million readings carried only two status codes, and valid readings had no zero speeds.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B2B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9601200" cy="1645920"/>
          </a:xfrm>
          <a:prstGeom prst="rect">
            <a:avLst/>
          </a:prstGeom>
          <a:noFill/>
          <a:ln/>
        </p:spPr>
        <p:txBody>
          <a:bodyPr wrap="square" rtlCol="0"/>
          <a:lstStyle>
            <a:lvl1pPr marL="0" indent="0" algn="l">
              <a:buNone/>
              <a:defRPr lang="en-US" sz="3600" b="1" dirty="0">
                <a:solidFill>
                  <a:schemeClr val="bg1"/>
                </a:solidFill>
                <a:latin typeface="Arial" pitchFamily="34" charset="0"/>
                <a:ea typeface="Arial" pitchFamily="34" charset="-122"/>
                <a:cs typeface="Arial" pitchFamily="34" charset="-120"/>
              </a:defRPr>
            </a:lvl1pPr>
          </a:lstStyle>
          <a:p>
            <a:pPr marL="0" indent="0" algn="l">
              <a:buNone/>
            </a:pPr>
            <a:endParaRPr lang="en-US" sz="3600" dirty="0"/>
          </a:p>
        </p:txBody>
      </p:sp>
      <p:sp>
        <p:nvSpPr>
          <p:cNvPr id="3" name="Text 0"/>
          <p:cNvSpPr>
            <a:spLocks noGrp="1"/>
          </p:cNvSpPr>
          <p:nvPr>
            <p:ph type="body" idx="101" hasCustomPrompt="1"/>
          </p:nvPr>
        </p:nvSpPr>
        <p:spPr>
          <a:xfrm>
            <a:off x="548640" y="3840480"/>
            <a:ext cx="9601200" cy="822960"/>
          </a:xfrm>
          <a:prstGeom prst="rect">
            <a:avLst/>
          </a:prstGeom>
          <a:noFill/>
          <a:ln/>
        </p:spPr>
        <p:txBody>
          <a:bodyPr wrap="square" rtlCol="0"/>
          <a:lstStyle>
            <a:lvl1pPr marL="0" indent="0" algn="l">
              <a:buNone/>
              <a:defRPr lang="en-US" sz="1800" dirty="0">
                <a:solidFill>
                  <a:srgbClr val="D9D9D9"/>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rtlCol="0"/>
          <a:lstStyle>
            <a:lvl1pPr marL="0" indent="0" algn="l">
              <a:buNone/>
              <a:defRPr lang="en-US" sz="2400" b="1" dirty="0">
                <a:solidFill>
                  <a:schemeClr val="tx1"/>
                </a:solidFill>
                <a:latin typeface="Arial" pitchFamily="34" charset="0"/>
                <a:ea typeface="Arial" pitchFamily="34" charset="-122"/>
                <a:cs typeface="Arial" pitchFamily="34" charset="-120"/>
              </a:defRPr>
            </a:lvl1pPr>
          </a:lstStyle>
          <a:p>
            <a:pPr marL="0" indent="0" algn="l">
              <a:buNone/>
            </a:pPr>
            <a:endParaRPr lang="en-US" sz="2400" dirty="0"/>
          </a:p>
        </p:txBody>
      </p:sp>
      <p:sp>
        <p:nvSpPr>
          <p:cNvPr id="3" name="Text 0"/>
          <p:cNvSpPr>
            <a:spLocks noGrp="1"/>
          </p:cNvSpPr>
          <p:nvPr>
            <p:ph type="body" idx="101" hasCustomPrompt="1"/>
          </p:nvPr>
        </p:nvSpPr>
        <p:spPr>
          <a:xfrm>
            <a:off x="548640" y="1298448"/>
            <a:ext cx="11094415" cy="347472"/>
          </a:xfrm>
          <a:prstGeom prst="rect">
            <a:avLst/>
          </a:prstGeom>
          <a:noFill/>
          <a:ln/>
        </p:spPr>
        <p:txBody>
          <a:bodyPr wrap="square" rtlCol="0"/>
          <a:lstStyle>
            <a:lvl1pPr marL="0" indent="0">
              <a:buNone/>
              <a:defRPr lang="en-US" sz="1400" dirty="0">
                <a:solidFill>
                  <a:schemeClr val="accent4"/>
                </a:solidFill>
              </a:defRPr>
            </a:lvl1pPr>
          </a:lstStyle>
          <a:p>
            <a:pPr marL="0" indent="0">
              <a:buNone/>
            </a:pPr>
            <a:endParaRPr lang="en-US" sz="1400" dirty="0"/>
          </a:p>
        </p:txBody>
      </p:sp>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saka07.github.io/nyc-mobility-atlas/"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hyperlink" Target="https://saka07.github.io/nyc-mobility-atlas/Exhibit_1_Congestion_Pricing.html" TargetMode="Externa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hyperlink" Target="https://saka07.github.io/nyc-mobility-atlas/Exhibit_3_Travel_Origins.html" TargetMode="External"/><Relationship Id="rId5" Type="http://schemas.openxmlformats.org/officeDocument/2006/relationships/chart" Target="../charts/chart3.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saka07.github.io/nyc-mobility-atlas/Exhibit_3_Travel_Origins.html" TargetMode="Externa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saka07.github.io/nyc-mobility-atlas/Exhibit_4_Transit_Journeys.html" TargetMode="Externa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saka07.github.io/nyc-mobility-atlas/"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saka07.github.io/nyc-mobility-atlas/Exhibit_6_Government_Decision.html"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saka07.github.io/nyc-mobility-atlas/Exhibit_5_Improvement_Scenarios.html"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saka07.github.io/nyc-mobility-atlas/Exhibit_2_Highway_Speed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9601200" cy="1645920"/>
          </a:xfrm>
          <a:prstGeom prst="rect">
            <a:avLst/>
          </a:prstGeom>
          <a:noFill/>
          <a:ln/>
        </p:spPr>
        <p:txBody>
          <a:bodyPr wrap="square" lIns="0" tIns="0" rIns="0" bIns="0" rtlCol="0" anchor="b"/>
          <a:lstStyle/>
          <a:p>
            <a:pPr marL="0" indent="0" algn="l">
              <a:buNone/>
            </a:pPr>
            <a:r>
              <a:rPr lang="en-US" sz="3600" b="1" dirty="0">
                <a:solidFill>
                  <a:schemeClr val="bg1"/>
                </a:solidFill>
                <a:latin typeface="Arial" pitchFamily="34" charset="0"/>
                <a:ea typeface="Arial" pitchFamily="34" charset="-122"/>
                <a:cs typeface="Arial" pitchFamily="34" charset="-120"/>
              </a:rPr>
              <a:t>NYC congestion pricing: where transit should improve next</a:t>
            </a:r>
            <a:endParaRPr lang="en-US" sz="3600" dirty="0"/>
          </a:p>
        </p:txBody>
      </p:sp>
      <p:sp>
        <p:nvSpPr>
          <p:cNvPr id="4" name="Text 2"/>
          <p:cNvSpPr txBox="1"/>
          <p:nvPr/>
        </p:nvSpPr>
        <p:spPr>
          <a:xfrm>
            <a:off x="548640" y="6035040"/>
            <a:ext cx="7315200" cy="320040"/>
          </a:xfrm>
          <a:prstGeom prst="rect">
            <a:avLst/>
          </a:prstGeom>
          <a:noFill/>
          <a:ln/>
        </p:spPr>
        <p:txBody>
          <a:bodyPr wrap="square" lIns="0" tIns="0" rIns="0" bIns="0" rtlCol="0" anchor="ctr"/>
          <a:lstStyle/>
          <a:p>
            <a:pPr marL="0" indent="0">
              <a:buNone/>
            </a:pPr>
            <a:r>
              <a:rPr lang="en-US" sz="1200" dirty="0">
                <a:solidFill>
                  <a:srgbClr val="B8B8B8"/>
                </a:solidFill>
              </a:rPr>
              <a:t>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Four questions this briefing answers</a:t>
            </a:r>
            <a:endParaRPr lang="en-US" sz="2400" dirty="0"/>
          </a:p>
        </p:txBody>
      </p:sp>
      <p:sp>
        <p:nvSpPr>
          <p:cNvPr id="3" name="rule"/>
          <p:cNvSpPr/>
          <p:nvPr/>
        </p:nvSpPr>
        <p:spPr>
          <a:xfrm>
            <a:off x="548640" y="1508760"/>
            <a:ext cx="11094415" cy="0"/>
          </a:xfrm>
          <a:prstGeom prst="line">
            <a:avLst/>
          </a:prstGeom>
          <a:noFill/>
          <a:ln w="9525">
            <a:solidFill>
              <a:srgbClr val="D9D9D9"/>
            </a:solidFill>
            <a:prstDash val="solid"/>
          </a:ln>
        </p:spPr>
      </p:sp>
      <p:sp>
        <p:nvSpPr>
          <p:cNvPr id="4" name="Text 2"/>
          <p:cNvSpPr txBox="1"/>
          <p:nvPr/>
        </p:nvSpPr>
        <p:spPr>
          <a:xfrm>
            <a:off x="548640" y="1645920"/>
            <a:ext cx="731520" cy="548640"/>
          </a:xfrm>
          <a:prstGeom prst="rect">
            <a:avLst/>
          </a:prstGeom>
          <a:noFill/>
          <a:ln/>
        </p:spPr>
        <p:txBody>
          <a:bodyPr wrap="square" lIns="0" tIns="0" rIns="0" bIns="0" rtlCol="0" anchor="ctr"/>
          <a:lstStyle/>
          <a:p>
            <a:pPr marL="0" indent="0">
              <a:buNone/>
            </a:pPr>
            <a:r>
              <a:rPr lang="en-US" sz="2800" b="1" dirty="0">
                <a:solidFill>
                  <a:schemeClr val="accent2"/>
                </a:solidFill>
              </a:rPr>
              <a:t>01</a:t>
            </a:r>
            <a:endParaRPr lang="en-US" sz="2800" dirty="0"/>
          </a:p>
        </p:txBody>
      </p:sp>
      <p:sp>
        <p:nvSpPr>
          <p:cNvPr id="5" name="Text 3"/>
          <p:cNvSpPr txBox="1"/>
          <p:nvPr/>
        </p:nvSpPr>
        <p:spPr>
          <a:xfrm>
            <a:off x="1463040" y="1600200"/>
            <a:ext cx="7772400" cy="685800"/>
          </a:xfrm>
          <a:prstGeom prst="rect">
            <a:avLst/>
          </a:prstGeom>
          <a:noFill/>
          <a:ln/>
        </p:spPr>
        <p:txBody>
          <a:bodyPr wrap="square" lIns="0" tIns="0" rIns="0" bIns="0" rtlCol="0" anchor="ctr"/>
          <a:lstStyle/>
          <a:p>
            <a:pPr marL="0" indent="0">
              <a:buNone/>
            </a:pPr>
            <a:r>
              <a:rPr lang="en-US" sz="1800" b="1" dirty="0">
                <a:solidFill>
                  <a:schemeClr val="tx1"/>
                </a:solidFill>
              </a:rPr>
              <a:t>What has congestion pricing changed so far?</a:t>
            </a:r>
            <a:endParaRPr lang="en-US" sz="1800" dirty="0"/>
          </a:p>
          <a:p>
            <a:pPr marL="0" indent="0">
              <a:buNone/>
            </a:pPr>
            <a:r>
              <a:rPr lang="en-US" sz="1500" dirty="0">
                <a:solidFill>
                  <a:srgbClr val="5C5C5C"/>
                </a:solidFill>
              </a:rPr>
              <a:t>Traffic into the zone, and who travels to Manhattan</a:t>
            </a:r>
            <a:endParaRPr lang="en-US" sz="1800" dirty="0"/>
          </a:p>
        </p:txBody>
      </p:sp>
      <p:sp>
        <p:nvSpPr>
          <p:cNvPr id="6" name="Text 4"/>
          <p:cNvSpPr txBox="1"/>
          <p:nvPr/>
        </p:nvSpPr>
        <p:spPr>
          <a:xfrm>
            <a:off x="9814255" y="1645920"/>
            <a:ext cx="1828800" cy="548640"/>
          </a:xfrm>
          <a:prstGeom prst="rect">
            <a:avLst/>
          </a:prstGeom>
          <a:noFill/>
          <a:ln/>
        </p:spPr>
        <p:txBody>
          <a:bodyPr wrap="square" lIns="0" tIns="0" rIns="0" bIns="0" rtlCol="0" anchor="ctr"/>
          <a:lstStyle/>
          <a:p>
            <a:pPr marL="0" indent="0" algn="r">
              <a:buNone/>
            </a:pPr>
            <a:r>
              <a:rPr lang="en-US" sz="1300" dirty="0">
                <a:solidFill>
                  <a:schemeClr val="accent4"/>
                </a:solidFill>
              </a:rPr>
              <a:t>Slides 4–5</a:t>
            </a:r>
            <a:endParaRPr lang="en-US" sz="1300" dirty="0"/>
          </a:p>
        </p:txBody>
      </p:sp>
      <p:sp>
        <p:nvSpPr>
          <p:cNvPr id="7" name="rule"/>
          <p:cNvSpPr/>
          <p:nvPr/>
        </p:nvSpPr>
        <p:spPr>
          <a:xfrm>
            <a:off x="548640" y="2377440"/>
            <a:ext cx="11094415" cy="0"/>
          </a:xfrm>
          <a:prstGeom prst="line">
            <a:avLst/>
          </a:prstGeom>
          <a:noFill/>
          <a:ln w="9525">
            <a:solidFill>
              <a:srgbClr val="D9D9D9"/>
            </a:solidFill>
            <a:prstDash val="solid"/>
          </a:ln>
        </p:spPr>
      </p:sp>
      <p:sp>
        <p:nvSpPr>
          <p:cNvPr id="8" name="Text 6"/>
          <p:cNvSpPr txBox="1"/>
          <p:nvPr/>
        </p:nvSpPr>
        <p:spPr>
          <a:xfrm>
            <a:off x="548640" y="2514600"/>
            <a:ext cx="731520" cy="548640"/>
          </a:xfrm>
          <a:prstGeom prst="rect">
            <a:avLst/>
          </a:prstGeom>
          <a:noFill/>
          <a:ln/>
        </p:spPr>
        <p:txBody>
          <a:bodyPr wrap="square" lIns="0" tIns="0" rIns="0" bIns="0" rtlCol="0" anchor="ctr"/>
          <a:lstStyle/>
          <a:p>
            <a:pPr marL="0" indent="0">
              <a:buNone/>
            </a:pPr>
            <a:r>
              <a:rPr lang="en-US" sz="2800" b="1" dirty="0">
                <a:solidFill>
                  <a:schemeClr val="accent2"/>
                </a:solidFill>
              </a:rPr>
              <a:t>02</a:t>
            </a:r>
            <a:endParaRPr lang="en-US" sz="2800" dirty="0"/>
          </a:p>
        </p:txBody>
      </p:sp>
      <p:sp>
        <p:nvSpPr>
          <p:cNvPr id="9" name="Text 7"/>
          <p:cNvSpPr txBox="1"/>
          <p:nvPr/>
        </p:nvSpPr>
        <p:spPr>
          <a:xfrm>
            <a:off x="1463040" y="2468880"/>
            <a:ext cx="7772400" cy="685800"/>
          </a:xfrm>
          <a:prstGeom prst="rect">
            <a:avLst/>
          </a:prstGeom>
          <a:noFill/>
          <a:ln/>
        </p:spPr>
        <p:txBody>
          <a:bodyPr wrap="square" lIns="0" tIns="0" rIns="0" bIns="0" rtlCol="0" anchor="ctr"/>
          <a:lstStyle/>
          <a:p>
            <a:pPr marL="0" indent="0">
              <a:buNone/>
            </a:pPr>
            <a:r>
              <a:rPr lang="en-US" sz="1800" b="1" dirty="0">
                <a:solidFill>
                  <a:schemeClr val="tx1"/>
                </a:solidFill>
              </a:rPr>
              <a:t>Where does transit still fall short, and why?</a:t>
            </a:r>
            <a:endParaRPr lang="en-US" sz="1800" dirty="0"/>
          </a:p>
          <a:p>
            <a:pPr marL="0" indent="0">
              <a:buNone/>
            </a:pPr>
            <a:r>
              <a:rPr lang="en-US" sz="1500" dirty="0">
                <a:solidFill>
                  <a:srgbClr val="5C5C5C"/>
                </a:solidFill>
              </a:rPr>
              <a:t>Candidate areas, door-to-door trips and missing bus data</a:t>
            </a:r>
            <a:endParaRPr lang="en-US" sz="1800" dirty="0"/>
          </a:p>
        </p:txBody>
      </p:sp>
      <p:sp>
        <p:nvSpPr>
          <p:cNvPr id="10" name="Text 8"/>
          <p:cNvSpPr txBox="1"/>
          <p:nvPr/>
        </p:nvSpPr>
        <p:spPr>
          <a:xfrm>
            <a:off x="9814255" y="2514600"/>
            <a:ext cx="1828800" cy="548640"/>
          </a:xfrm>
          <a:prstGeom prst="rect">
            <a:avLst/>
          </a:prstGeom>
          <a:noFill/>
          <a:ln/>
        </p:spPr>
        <p:txBody>
          <a:bodyPr wrap="square" lIns="0" tIns="0" rIns="0" bIns="0" rtlCol="0" anchor="ctr"/>
          <a:lstStyle/>
          <a:p>
            <a:pPr marL="0" indent="0" algn="r">
              <a:buNone/>
            </a:pPr>
            <a:r>
              <a:rPr lang="en-US" sz="1300" dirty="0">
                <a:solidFill>
                  <a:schemeClr val="accent4"/>
                </a:solidFill>
              </a:rPr>
              <a:t>Slides 6–8</a:t>
            </a:r>
            <a:endParaRPr lang="en-US" sz="1300" dirty="0"/>
          </a:p>
        </p:txBody>
      </p:sp>
      <p:sp>
        <p:nvSpPr>
          <p:cNvPr id="11" name="rule"/>
          <p:cNvSpPr/>
          <p:nvPr/>
        </p:nvSpPr>
        <p:spPr>
          <a:xfrm>
            <a:off x="548640" y="3246120"/>
            <a:ext cx="11094415" cy="0"/>
          </a:xfrm>
          <a:prstGeom prst="line">
            <a:avLst/>
          </a:prstGeom>
          <a:noFill/>
          <a:ln w="9525">
            <a:solidFill>
              <a:srgbClr val="D9D9D9"/>
            </a:solidFill>
            <a:prstDash val="solid"/>
          </a:ln>
        </p:spPr>
      </p:sp>
      <p:sp>
        <p:nvSpPr>
          <p:cNvPr id="12" name="Text 10"/>
          <p:cNvSpPr txBox="1"/>
          <p:nvPr/>
        </p:nvSpPr>
        <p:spPr>
          <a:xfrm>
            <a:off x="548640" y="3383280"/>
            <a:ext cx="731520" cy="548640"/>
          </a:xfrm>
          <a:prstGeom prst="rect">
            <a:avLst/>
          </a:prstGeom>
          <a:noFill/>
          <a:ln/>
        </p:spPr>
        <p:txBody>
          <a:bodyPr wrap="square" lIns="0" tIns="0" rIns="0" bIns="0" rtlCol="0" anchor="ctr"/>
          <a:lstStyle/>
          <a:p>
            <a:pPr marL="0" indent="0">
              <a:buNone/>
            </a:pPr>
            <a:r>
              <a:rPr lang="en-US" sz="2800" b="1" dirty="0">
                <a:solidFill>
                  <a:schemeClr val="accent2"/>
                </a:solidFill>
              </a:rPr>
              <a:t>03</a:t>
            </a:r>
            <a:endParaRPr lang="en-US" sz="2800" dirty="0"/>
          </a:p>
        </p:txBody>
      </p:sp>
      <p:sp>
        <p:nvSpPr>
          <p:cNvPr id="13" name="Text 11"/>
          <p:cNvSpPr txBox="1"/>
          <p:nvPr/>
        </p:nvSpPr>
        <p:spPr>
          <a:xfrm>
            <a:off x="1463040" y="3337560"/>
            <a:ext cx="7772400" cy="685800"/>
          </a:xfrm>
          <a:prstGeom prst="rect">
            <a:avLst/>
          </a:prstGeom>
          <a:noFill/>
          <a:ln/>
        </p:spPr>
        <p:txBody>
          <a:bodyPr wrap="square" lIns="0" tIns="0" rIns="0" bIns="0" rtlCol="0" anchor="ctr"/>
          <a:lstStyle/>
          <a:p>
            <a:pPr marL="0" indent="0">
              <a:buNone/>
            </a:pPr>
            <a:r>
              <a:rPr lang="en-US" sz="1800" b="1" dirty="0">
                <a:solidFill>
                  <a:schemeClr val="tx1"/>
                </a:solidFill>
              </a:rPr>
              <a:t>What should be built, and where?</a:t>
            </a:r>
            <a:endParaRPr lang="en-US" sz="1800" dirty="0"/>
          </a:p>
          <a:p>
            <a:pPr marL="0" indent="0">
              <a:buNone/>
            </a:pPr>
            <a:r>
              <a:rPr lang="en-US" sz="1500" dirty="0">
                <a:solidFill>
                  <a:srgbClr val="5C5C5C"/>
                </a:solidFill>
              </a:rPr>
              <a:t>A fix for each area and a model test on Union Turnpike</a:t>
            </a:r>
            <a:endParaRPr lang="en-US" sz="1800" dirty="0"/>
          </a:p>
        </p:txBody>
      </p:sp>
      <p:sp>
        <p:nvSpPr>
          <p:cNvPr id="14" name="Text 12"/>
          <p:cNvSpPr txBox="1"/>
          <p:nvPr/>
        </p:nvSpPr>
        <p:spPr>
          <a:xfrm>
            <a:off x="9814255" y="3383280"/>
            <a:ext cx="1828800" cy="548640"/>
          </a:xfrm>
          <a:prstGeom prst="rect">
            <a:avLst/>
          </a:prstGeom>
          <a:noFill/>
          <a:ln/>
        </p:spPr>
        <p:txBody>
          <a:bodyPr wrap="square" lIns="0" tIns="0" rIns="0" bIns="0" rtlCol="0" anchor="ctr"/>
          <a:lstStyle/>
          <a:p>
            <a:pPr marL="0" indent="0" algn="r">
              <a:buNone/>
            </a:pPr>
            <a:r>
              <a:rPr lang="en-US" sz="1300" dirty="0">
                <a:solidFill>
                  <a:schemeClr val="accent4"/>
                </a:solidFill>
              </a:rPr>
              <a:t>Slides 9–10</a:t>
            </a:r>
            <a:endParaRPr lang="en-US" sz="1300" dirty="0"/>
          </a:p>
        </p:txBody>
      </p:sp>
      <p:sp>
        <p:nvSpPr>
          <p:cNvPr id="15" name="rule"/>
          <p:cNvSpPr/>
          <p:nvPr/>
        </p:nvSpPr>
        <p:spPr>
          <a:xfrm>
            <a:off x="548640" y="4114800"/>
            <a:ext cx="11094415" cy="0"/>
          </a:xfrm>
          <a:prstGeom prst="line">
            <a:avLst/>
          </a:prstGeom>
          <a:noFill/>
          <a:ln w="9525">
            <a:solidFill>
              <a:srgbClr val="D9D9D9"/>
            </a:solidFill>
            <a:prstDash val="solid"/>
          </a:ln>
        </p:spPr>
      </p:sp>
      <p:sp>
        <p:nvSpPr>
          <p:cNvPr id="16" name="Text 14"/>
          <p:cNvSpPr txBox="1"/>
          <p:nvPr/>
        </p:nvSpPr>
        <p:spPr>
          <a:xfrm>
            <a:off x="548640" y="4251960"/>
            <a:ext cx="731520" cy="548640"/>
          </a:xfrm>
          <a:prstGeom prst="rect">
            <a:avLst/>
          </a:prstGeom>
          <a:noFill/>
          <a:ln/>
        </p:spPr>
        <p:txBody>
          <a:bodyPr wrap="square" lIns="0" tIns="0" rIns="0" bIns="0" rtlCol="0" anchor="ctr"/>
          <a:lstStyle/>
          <a:p>
            <a:pPr marL="0" indent="0">
              <a:buNone/>
            </a:pPr>
            <a:r>
              <a:rPr lang="en-US" sz="2800" b="1" dirty="0">
                <a:solidFill>
                  <a:schemeClr val="accent2"/>
                </a:solidFill>
              </a:rPr>
              <a:t>04</a:t>
            </a:r>
            <a:endParaRPr lang="en-US" sz="2800" dirty="0"/>
          </a:p>
        </p:txBody>
      </p:sp>
      <p:sp>
        <p:nvSpPr>
          <p:cNvPr id="17" name="Text 15"/>
          <p:cNvSpPr txBox="1"/>
          <p:nvPr/>
        </p:nvSpPr>
        <p:spPr>
          <a:xfrm>
            <a:off x="1463040" y="4206240"/>
            <a:ext cx="7772400" cy="685800"/>
          </a:xfrm>
          <a:prstGeom prst="rect">
            <a:avLst/>
          </a:prstGeom>
          <a:noFill/>
          <a:ln/>
        </p:spPr>
        <p:txBody>
          <a:bodyPr wrap="square" lIns="0" tIns="0" rIns="0" bIns="0" rtlCol="0" anchor="ctr"/>
          <a:lstStyle/>
          <a:p>
            <a:pPr marL="0" indent="0">
              <a:buNone/>
            </a:pPr>
            <a:r>
              <a:rPr lang="en-US" sz="1800" b="1" dirty="0">
                <a:solidFill>
                  <a:schemeClr val="tx1"/>
                </a:solidFill>
              </a:rPr>
              <a:t>In what order, and what is decided today?</a:t>
            </a:r>
            <a:endParaRPr lang="en-US" sz="1800" dirty="0"/>
          </a:p>
          <a:p>
            <a:pPr marL="0" indent="0">
              <a:buNone/>
            </a:pPr>
            <a:r>
              <a:rPr lang="en-US" sz="1500" dirty="0">
                <a:solidFill>
                  <a:srgbClr val="5C5C5C"/>
                </a:solidFill>
              </a:rPr>
              <a:t>Three-phase roadmap, decisions and next 90 days</a:t>
            </a:r>
            <a:endParaRPr lang="en-US" sz="1800" dirty="0"/>
          </a:p>
        </p:txBody>
      </p:sp>
      <p:sp>
        <p:nvSpPr>
          <p:cNvPr id="18" name="Text 16"/>
          <p:cNvSpPr txBox="1"/>
          <p:nvPr/>
        </p:nvSpPr>
        <p:spPr>
          <a:xfrm>
            <a:off x="9814255" y="4251960"/>
            <a:ext cx="1828800" cy="548640"/>
          </a:xfrm>
          <a:prstGeom prst="rect">
            <a:avLst/>
          </a:prstGeom>
          <a:noFill/>
          <a:ln/>
        </p:spPr>
        <p:txBody>
          <a:bodyPr wrap="square" lIns="0" tIns="0" rIns="0" bIns="0" rtlCol="0" anchor="ctr"/>
          <a:lstStyle/>
          <a:p>
            <a:pPr marL="0" indent="0" algn="r">
              <a:buNone/>
            </a:pPr>
            <a:r>
              <a:rPr lang="en-US" sz="1300" dirty="0">
                <a:solidFill>
                  <a:schemeClr val="accent4"/>
                </a:solidFill>
              </a:rPr>
              <a:t>Slides 11–12</a:t>
            </a:r>
            <a:endParaRPr lang="en-US" sz="1300" dirty="0"/>
          </a:p>
        </p:txBody>
      </p:sp>
      <p:sp>
        <p:nvSpPr>
          <p:cNvPr id="19" name="rule"/>
          <p:cNvSpPr/>
          <p:nvPr/>
        </p:nvSpPr>
        <p:spPr>
          <a:xfrm>
            <a:off x="548640" y="4983480"/>
            <a:ext cx="11094415" cy="0"/>
          </a:xfrm>
          <a:prstGeom prst="line">
            <a:avLst/>
          </a:prstGeom>
          <a:noFill/>
          <a:ln w="9525">
            <a:solidFill>
              <a:srgbClr val="D9D9D9"/>
            </a:solidFill>
            <a:prstDash val="solid"/>
          </a:ln>
        </p:spPr>
      </p:sp>
      <p:sp>
        <p:nvSpPr>
          <p:cNvPr id="20" name="Text 18"/>
          <p:cNvSpPr txBox="1"/>
          <p:nvPr/>
        </p:nvSpPr>
        <p:spPr>
          <a:xfrm>
            <a:off x="1463040" y="5120640"/>
            <a:ext cx="7315200" cy="320040"/>
          </a:xfrm>
          <a:prstGeom prst="rect">
            <a:avLst/>
          </a:prstGeom>
          <a:noFill/>
          <a:ln/>
        </p:spPr>
        <p:txBody>
          <a:bodyPr wrap="square" lIns="0" tIns="0" rIns="0" bIns="0" rtlCol="0" anchor="ctr"/>
          <a:lstStyle/>
          <a:p>
            <a:pPr marL="0" indent="0">
              <a:buNone/>
            </a:pPr>
            <a:r>
              <a:rPr lang="en-US" sz="1300" dirty="0">
                <a:solidFill>
                  <a:schemeClr val="accent4"/>
                </a:solidFill>
              </a:rPr>
              <a:t>Appendix: highway speeds after tolling (slide 13)</a:t>
            </a:r>
            <a:endParaRPr lang="en-US" sz="1300" dirty="0"/>
          </a:p>
        </p:txBody>
      </p:sp>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Congestion pricing is working; the next step is a phased transit pilot, starting in Eastern Queens</a:t>
            </a:r>
            <a:endParaRPr lang="en-US" sz="2400" dirty="0"/>
          </a:p>
        </p:txBody>
      </p:sp>
      <p:sp>
        <p:nvSpPr>
          <p:cNvPr id="3" name="rule"/>
          <p:cNvSpPr/>
          <p:nvPr/>
        </p:nvSpPr>
        <p:spPr>
          <a:xfrm>
            <a:off x="548640" y="1463040"/>
            <a:ext cx="11094415" cy="0"/>
          </a:xfrm>
          <a:prstGeom prst="line">
            <a:avLst/>
          </a:prstGeom>
          <a:noFill/>
          <a:ln w="9525">
            <a:solidFill>
              <a:srgbClr val="2B2B2B"/>
            </a:solidFill>
            <a:prstDash val="solid"/>
          </a:ln>
        </p:spPr>
      </p:sp>
      <p:sp>
        <p:nvSpPr>
          <p:cNvPr id="4" name="Text 2"/>
          <p:cNvSpPr txBox="1"/>
          <p:nvPr/>
        </p:nvSpPr>
        <p:spPr>
          <a:xfrm>
            <a:off x="548640" y="1600200"/>
            <a:ext cx="192024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SITUATION</a:t>
            </a:r>
            <a:endParaRPr lang="en-US" sz="1200" dirty="0"/>
          </a:p>
        </p:txBody>
      </p:sp>
      <p:sp>
        <p:nvSpPr>
          <p:cNvPr id="5" name="Text 3"/>
          <p:cNvSpPr txBox="1"/>
          <p:nvPr/>
        </p:nvSpPr>
        <p:spPr>
          <a:xfrm>
            <a:off x="2651760" y="1572768"/>
            <a:ext cx="8991295" cy="777240"/>
          </a:xfrm>
          <a:prstGeom prst="rect">
            <a:avLst/>
          </a:prstGeom>
          <a:noFill/>
          <a:ln/>
        </p:spPr>
        <p:txBody>
          <a:bodyPr wrap="square" lIns="0" tIns="0" rIns="0" bIns="0" rtlCol="0" anchor="t"/>
          <a:lstStyle/>
          <a:p>
            <a:pPr marL="0" indent="0">
              <a:buNone/>
            </a:pPr>
            <a:r>
              <a:rPr lang="en-US" sz="1500" b="1" dirty="0">
                <a:solidFill>
                  <a:schemeClr val="tx1"/>
                </a:solidFill>
              </a:rPr>
              <a:t>Congestion pricing is working. </a:t>
            </a:r>
            <a:r>
              <a:rPr lang="en-US" sz="1500" dirty="0">
                <a:solidFill>
                  <a:schemeClr val="tx1"/>
                </a:solidFill>
              </a:rPr>
              <a:t>About 67,000 fewer vehicles a day (−11%) entered the zone in the first six months, and highway speeds across the city barely changed (median −0.37 mph).</a:t>
            </a:r>
            <a:endParaRPr lang="en-US" sz="1500" dirty="0"/>
          </a:p>
        </p:txBody>
      </p:sp>
      <p:sp>
        <p:nvSpPr>
          <p:cNvPr id="6" name="rule"/>
          <p:cNvSpPr/>
          <p:nvPr/>
        </p:nvSpPr>
        <p:spPr>
          <a:xfrm>
            <a:off x="548640" y="2560320"/>
            <a:ext cx="11094415" cy="0"/>
          </a:xfrm>
          <a:prstGeom prst="line">
            <a:avLst/>
          </a:prstGeom>
          <a:noFill/>
          <a:ln w="9525">
            <a:solidFill>
              <a:srgbClr val="2B2B2B"/>
            </a:solidFill>
            <a:prstDash val="solid"/>
          </a:ln>
        </p:spPr>
      </p:sp>
      <p:sp>
        <p:nvSpPr>
          <p:cNvPr id="7" name="Text 5"/>
          <p:cNvSpPr txBox="1"/>
          <p:nvPr/>
        </p:nvSpPr>
        <p:spPr>
          <a:xfrm>
            <a:off x="548640" y="2697480"/>
            <a:ext cx="192024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COMPLICATION</a:t>
            </a:r>
            <a:endParaRPr lang="en-US" sz="1200" dirty="0"/>
          </a:p>
        </p:txBody>
      </p:sp>
      <p:sp>
        <p:nvSpPr>
          <p:cNvPr id="8" name="Text 6"/>
          <p:cNvSpPr txBox="1"/>
          <p:nvPr/>
        </p:nvSpPr>
        <p:spPr>
          <a:xfrm>
            <a:off x="2651760" y="2670048"/>
            <a:ext cx="8991295" cy="777240"/>
          </a:xfrm>
          <a:prstGeom prst="rect">
            <a:avLst/>
          </a:prstGeom>
          <a:noFill/>
          <a:ln/>
        </p:spPr>
        <p:txBody>
          <a:bodyPr wrap="square" lIns="0" tIns="0" rIns="0" bIns="0" rtlCol="0" anchor="t"/>
          <a:lstStyle/>
          <a:p>
            <a:pPr marL="0" indent="0">
              <a:buNone/>
            </a:pPr>
            <a:r>
              <a:rPr lang="en-US" sz="1500" b="1" dirty="0">
                <a:solidFill>
                  <a:schemeClr val="tx1"/>
                </a:solidFill>
              </a:rPr>
              <a:t>Many outer-borough residents still lack a good alternative to driving. </a:t>
            </a:r>
            <a:r>
              <a:rPr lang="en-US" sz="1500" dirty="0">
                <a:solidFill>
                  <a:schemeClr val="tx1"/>
                </a:solidFill>
              </a:rPr>
              <a:t>Modelled transit trips to Manhattan take 56–71 minutes, 13–22 of them walking and waiting, and key feeder buses are slow, unreliable or not measured at all.</a:t>
            </a:r>
            <a:endParaRPr lang="en-US" sz="1500" dirty="0"/>
          </a:p>
        </p:txBody>
      </p:sp>
      <p:sp>
        <p:nvSpPr>
          <p:cNvPr id="9" name="rule"/>
          <p:cNvSpPr/>
          <p:nvPr/>
        </p:nvSpPr>
        <p:spPr>
          <a:xfrm>
            <a:off x="548640" y="3657600"/>
            <a:ext cx="11094415" cy="0"/>
          </a:xfrm>
          <a:prstGeom prst="line">
            <a:avLst/>
          </a:prstGeom>
          <a:noFill/>
          <a:ln w="9525">
            <a:solidFill>
              <a:srgbClr val="2B2B2B"/>
            </a:solidFill>
            <a:prstDash val="solid"/>
          </a:ln>
        </p:spPr>
      </p:sp>
      <p:sp>
        <p:nvSpPr>
          <p:cNvPr id="10" name="Text 8"/>
          <p:cNvSpPr txBox="1"/>
          <p:nvPr/>
        </p:nvSpPr>
        <p:spPr>
          <a:xfrm>
            <a:off x="548640" y="3794760"/>
            <a:ext cx="1920240" cy="274320"/>
          </a:xfrm>
          <a:prstGeom prst="rect">
            <a:avLst/>
          </a:prstGeom>
          <a:noFill/>
          <a:ln/>
        </p:spPr>
        <p:txBody>
          <a:bodyPr wrap="square" lIns="0" tIns="0" rIns="0" bIns="0" rtlCol="0" anchor="ctr"/>
          <a:lstStyle/>
          <a:p>
            <a:pPr marL="0" indent="0">
              <a:buNone/>
            </a:pPr>
            <a:r>
              <a:rPr lang="en-US" sz="1200" b="1" kern="0" spc="100" dirty="0">
                <a:solidFill>
                  <a:schemeClr val="accent2"/>
                </a:solidFill>
              </a:rPr>
              <a:t>RESOLUTION</a:t>
            </a:r>
            <a:endParaRPr lang="en-US" sz="1200" dirty="0"/>
          </a:p>
        </p:txBody>
      </p:sp>
      <p:sp>
        <p:nvSpPr>
          <p:cNvPr id="11" name="Text 9"/>
          <p:cNvSpPr txBox="1"/>
          <p:nvPr/>
        </p:nvSpPr>
        <p:spPr>
          <a:xfrm>
            <a:off x="2651760" y="3767328"/>
            <a:ext cx="8991295" cy="777240"/>
          </a:xfrm>
          <a:prstGeom prst="rect">
            <a:avLst/>
          </a:prstGeom>
          <a:noFill/>
          <a:ln/>
        </p:spPr>
        <p:txBody>
          <a:bodyPr wrap="square" lIns="0" tIns="0" rIns="0" bIns="0" rtlCol="0" anchor="t"/>
          <a:lstStyle/>
          <a:p>
            <a:pPr marL="0" indent="0">
              <a:buNone/>
            </a:pPr>
            <a:r>
              <a:rPr lang="en-US" sz="1500" b="1" dirty="0">
                <a:solidFill>
                  <a:schemeClr val="tx1"/>
                </a:solidFill>
              </a:rPr>
              <a:t>Use toll-funded capital money where demand and a measured barrier overlap. </a:t>
            </a:r>
            <a:r>
              <a:rPr lang="en-US" sz="1500" dirty="0">
                <a:solidFill>
                  <a:schemeClr val="tx1"/>
                </a:solidFill>
              </a:rPr>
              <a:t>Start in Eastern Queens, where a model test saves 6–12.5 minutes a trip; follow with the East Bronx and Southeast Queens once their delays are measured.</a:t>
            </a:r>
            <a:endParaRPr lang="en-US" sz="1500" dirty="0"/>
          </a:p>
        </p:txBody>
      </p:sp>
      <p:sp>
        <p:nvSpPr>
          <p:cNvPr id="14" name="source"/>
          <p:cNvSpPr txBox="1"/>
          <p:nvPr/>
        </p:nvSpPr>
        <p:spPr>
          <a:xfrm>
            <a:off x="548640" y="6272784"/>
            <a:ext cx="7863840" cy="411480"/>
          </a:xfrm>
          <a:prstGeom prst="rect">
            <a:avLst/>
          </a:prstGeom>
          <a:noFill/>
          <a:ln/>
        </p:spPr>
        <p:txBody>
          <a:bodyPr wrap="square" lIns="0" tIns="0" rIns="0" bIns="0" rtlCol="0" anchor="t"/>
          <a:lstStyle/>
          <a:p>
            <a:pPr marL="0" indent="0">
              <a:buNone/>
            </a:pPr>
            <a:r>
              <a:rPr lang="en-US" sz="900" dirty="0">
                <a:solidFill>
                  <a:schemeClr val="accent4"/>
                </a:solidFill>
              </a:rPr>
              <a:t>Sources: MTA six-month tolling report (2025); NYC DOT speed data; Census LODES 2023, ACS 2018–2022; OpenTripPlanner journey model. Note: [$__M] = cost to be confirmed.</a:t>
            </a:r>
            <a:endParaRPr lang="en-US" sz="900" dirty="0"/>
          </a:p>
        </p:txBody>
      </p:sp>
      <p:sp>
        <p:nvSpPr>
          <p:cNvPr id="15" name="exhibit link">
            <a:hlinkClick r:id="rId3" tooltip="All exhibits"/>
          </p:cNvPr>
          <p:cNvSpPr/>
          <p:nvPr/>
        </p:nvSpPr>
        <p:spPr>
          <a:xfrm>
            <a:off x="8641080" y="6291072"/>
            <a:ext cx="2514600" cy="310896"/>
          </a:xfrm>
          <a:prstGeom prst="rect">
            <a:avLst/>
          </a:prstGeom>
          <a:solidFill>
            <a:schemeClr val="accent1"/>
          </a:solidFill>
          <a:ln/>
        </p:spPr>
        <p:txBody>
          <a:bodyPr wrap="square" lIns="0" tIns="0" rIns="0" bIns="0" rtlCol="0" anchor="ctr"/>
          <a:lstStyle/>
          <a:p>
            <a:pPr marL="0" indent="0" algn="ctr">
              <a:buNone/>
            </a:pPr>
            <a:r>
              <a:rPr lang="en-US" sz="1100" b="1" u="sng" dirty="0">
                <a:solidFill>
                  <a:schemeClr val="bg1"/>
                </a:solidFill>
                <a:hlinkClick r:id="rId3" tooltip="All exhibits">
                  <a:extLst>
                    <a:ext uri="{A12FA001-AC4F-418D-AE19-62706E023703}">
                      <ahyp:hlinkClr xmlns:ahyp="http://schemas.microsoft.com/office/drawing/2018/hyperlinkcolor" val="tx"/>
                    </a:ext>
                  </a:extLst>
                </a:hlinkClick>
              </a:rPr>
              <a:t>Open interactive exhibit  ↗</a:t>
            </a:r>
            <a:endParaRPr lang="en-US" sz="1100" dirty="0"/>
          </a:p>
        </p:txBody>
      </p:sp>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Congestion pricing cut daily vehicle entries into the zone by about 11% in its first six months</a:t>
            </a:r>
            <a:endParaRPr lang="en-US" sz="2400" dirty="0"/>
          </a:p>
        </p:txBody>
      </p:sp>
      <p:sp>
        <p:nvSpPr>
          <p:cNvPr id="3" name="Text 0"/>
          <p:cNvSpPr>
            <a:spLocks noGrp="1"/>
          </p:cNvSpPr>
          <p:nvPr>
            <p:ph type="body" idx="101" hasCustomPrompt="1"/>
          </p:nvPr>
        </p:nvSpPr>
        <p:spPr>
          <a:xfrm>
            <a:off x="548640" y="1298448"/>
            <a:ext cx="11094415" cy="347472"/>
          </a:xfrm>
          <a:prstGeom prst="rect">
            <a:avLst/>
          </a:prstGeom>
          <a:noFill/>
          <a:ln/>
        </p:spPr>
        <p:txBody>
          <a:bodyPr wrap="square" lIns="0" tIns="0" rIns="0" bIns="0" rtlCol="0" anchor="t"/>
          <a:lstStyle/>
          <a:p>
            <a:pPr marL="0" indent="0">
              <a:buNone/>
            </a:pPr>
            <a:r>
              <a:rPr lang="en-US" sz="1400" dirty="0">
                <a:solidFill>
                  <a:schemeClr val="accent4"/>
                </a:solidFill>
              </a:rPr>
              <a:t>Vehicles entering Manhattan south of 60th Street. Official before/after estimate and 2025 weekday counts by crossing.</a:t>
            </a:r>
            <a:endParaRPr lang="en-US" sz="1400" dirty="0"/>
          </a:p>
        </p:txBody>
      </p:sp>
      <p:sp>
        <p:nvSpPr>
          <p:cNvPr id="4" name="panel"/>
          <p:cNvSpPr/>
          <p:nvPr/>
        </p:nvSpPr>
        <p:spPr>
          <a:xfrm>
            <a:off x="548640" y="1783080"/>
            <a:ext cx="4023360" cy="4206240"/>
          </a:xfrm>
          <a:prstGeom prst="rect">
            <a:avLst/>
          </a:prstGeom>
          <a:solidFill>
            <a:schemeClr val="bg2"/>
          </a:solidFill>
          <a:ln/>
        </p:spPr>
      </p:sp>
      <p:sp>
        <p:nvSpPr>
          <p:cNvPr id="5" name="Text 3"/>
          <p:cNvSpPr txBox="1"/>
          <p:nvPr/>
        </p:nvSpPr>
        <p:spPr>
          <a:xfrm>
            <a:off x="777240" y="1947672"/>
            <a:ext cx="3566160" cy="292608"/>
          </a:xfrm>
          <a:prstGeom prst="rect">
            <a:avLst/>
          </a:prstGeom>
          <a:noFill/>
          <a:ln/>
        </p:spPr>
        <p:txBody>
          <a:bodyPr wrap="square" lIns="0" tIns="0" rIns="0" bIns="0" rtlCol="0" anchor="ctr"/>
          <a:lstStyle/>
          <a:p>
            <a:pPr marL="0" indent="0">
              <a:buNone/>
            </a:pPr>
            <a:r>
              <a:rPr lang="en-US" sz="1400" b="1" dirty="0">
                <a:solidFill>
                  <a:schemeClr val="tx1"/>
                </a:solidFill>
              </a:rPr>
              <a:t>Daily vehicle entries (official estimate)</a:t>
            </a:r>
            <a:endParaRPr lang="en-US" sz="1400" dirty="0"/>
          </a:p>
        </p:txBody>
      </p:sp>
      <p:graphicFrame>
        <p:nvGraphicFramePr>
          <p:cNvPr id="6" name="Chart 0"/>
          <p:cNvGraphicFramePr/>
          <p:nvPr/>
        </p:nvGraphicFramePr>
        <p:xfrm>
          <a:off x="685800" y="2331720"/>
          <a:ext cx="374904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7" name="callout"/>
          <p:cNvSpPr txBox="1"/>
          <p:nvPr/>
        </p:nvSpPr>
        <p:spPr>
          <a:xfrm>
            <a:off x="2468880" y="2423160"/>
            <a:ext cx="1874520" cy="457200"/>
          </a:xfrm>
          <a:prstGeom prst="rect">
            <a:avLst/>
          </a:prstGeom>
          <a:solidFill>
            <a:srgbClr val="FFFFFF"/>
          </a:solidFill>
          <a:ln w="12700">
            <a:solidFill>
              <a:srgbClr val="C8532A"/>
            </a:solidFill>
          </a:ln>
        </p:spPr>
        <p:txBody>
          <a:bodyPr wrap="square" lIns="50800" tIns="50800" rIns="50800" bIns="50800" rtlCol="0" anchor="ctr"/>
          <a:lstStyle/>
          <a:p>
            <a:pPr marL="0" indent="0" algn="ctr">
              <a:buNone/>
            </a:pPr>
            <a:r>
              <a:rPr lang="en-US" sz="1200" b="1" dirty="0">
                <a:solidFill>
                  <a:schemeClr val="accent3"/>
                </a:solidFill>
              </a:rPr>
              <a:t>−67,000 a day (−11%)</a:t>
            </a:r>
            <a:endParaRPr lang="en-US" sz="1200" dirty="0"/>
          </a:p>
        </p:txBody>
      </p:sp>
      <p:sp>
        <p:nvSpPr>
          <p:cNvPr id="8" name="panel"/>
          <p:cNvSpPr/>
          <p:nvPr/>
        </p:nvSpPr>
        <p:spPr>
          <a:xfrm>
            <a:off x="4846320" y="1783080"/>
            <a:ext cx="6796735" cy="4206240"/>
          </a:xfrm>
          <a:prstGeom prst="rect">
            <a:avLst/>
          </a:prstGeom>
          <a:solidFill>
            <a:schemeClr val="bg2"/>
          </a:solidFill>
          <a:ln/>
        </p:spPr>
      </p:sp>
      <p:sp>
        <p:nvSpPr>
          <p:cNvPr id="9" name="Text 6"/>
          <p:cNvSpPr txBox="1"/>
          <p:nvPr/>
        </p:nvSpPr>
        <p:spPr>
          <a:xfrm>
            <a:off x="5074920" y="1947672"/>
            <a:ext cx="6339535" cy="292608"/>
          </a:xfrm>
          <a:prstGeom prst="rect">
            <a:avLst/>
          </a:prstGeom>
          <a:noFill/>
          <a:ln/>
        </p:spPr>
        <p:txBody>
          <a:bodyPr wrap="square" lIns="0" tIns="0" rIns="0" bIns="0" rtlCol="0" anchor="ctr"/>
          <a:lstStyle/>
          <a:p>
            <a:pPr marL="0" indent="0">
              <a:buNone/>
            </a:pPr>
            <a:r>
              <a:rPr lang="en-US" sz="1400" b="1" dirty="0">
                <a:solidFill>
                  <a:schemeClr val="tx1"/>
                </a:solidFill>
              </a:rPr>
              <a:t>Where vehicles enter: average weekday entries by crossing, 2025</a:t>
            </a:r>
            <a:endParaRPr lang="en-US" sz="1400" dirty="0"/>
          </a:p>
        </p:txBody>
      </p:sp>
      <p:pic>
        <p:nvPicPr>
          <p:cNvPr id="10" name="zone map" descr="Map of the congestion zone with circles sized by weekday entries at each of 12 crossings"/>
          <p:cNvPicPr>
            <a:picLocks noChangeAspect="1"/>
          </p:cNvPicPr>
          <p:nvPr/>
        </p:nvPicPr>
        <p:blipFill>
          <a:blip r:embed="rId4"/>
          <a:stretch>
            <a:fillRect/>
          </a:stretch>
        </p:blipFill>
        <p:spPr>
          <a:xfrm>
            <a:off x="5029200" y="2286000"/>
            <a:ext cx="3539490" cy="3566160"/>
          </a:xfrm>
          <a:prstGeom prst="rect">
            <a:avLst/>
          </a:prstGeom>
        </p:spPr>
      </p:pic>
      <p:sp>
        <p:nvSpPr>
          <p:cNvPr id="11" name="Text 7"/>
          <p:cNvSpPr txBox="1"/>
          <p:nvPr/>
        </p:nvSpPr>
        <p:spPr>
          <a:xfrm>
            <a:off x="8888730" y="2331720"/>
            <a:ext cx="2525725" cy="274320"/>
          </a:xfrm>
          <a:prstGeom prst="rect">
            <a:avLst/>
          </a:prstGeom>
          <a:noFill/>
          <a:ln/>
        </p:spPr>
        <p:txBody>
          <a:bodyPr wrap="square" lIns="0" tIns="0" rIns="0" bIns="0" rtlCol="0" anchor="ctr"/>
          <a:lstStyle/>
          <a:p>
            <a:pPr marL="0" indent="0">
              <a:buNone/>
            </a:pPr>
            <a:r>
              <a:rPr lang="en-US" sz="1300" b="1" dirty="0">
                <a:solidFill>
                  <a:schemeClr val="tx1"/>
                </a:solidFill>
              </a:rPr>
              <a:t>Busiest crossings</a:t>
            </a:r>
            <a:endParaRPr lang="en-US" sz="1300" dirty="0"/>
          </a:p>
        </p:txBody>
      </p:sp>
      <p:sp>
        <p:nvSpPr>
          <p:cNvPr id="12" name="Text 8"/>
          <p:cNvSpPr txBox="1"/>
          <p:nvPr/>
        </p:nvSpPr>
        <p:spPr>
          <a:xfrm>
            <a:off x="8888730" y="2697480"/>
            <a:ext cx="1794205" cy="274320"/>
          </a:xfrm>
          <a:prstGeom prst="rect">
            <a:avLst/>
          </a:prstGeom>
          <a:noFill/>
          <a:ln/>
        </p:spPr>
        <p:txBody>
          <a:bodyPr wrap="square" lIns="0" tIns="0" rIns="0" bIns="0" rtlCol="0" anchor="ctr"/>
          <a:lstStyle/>
          <a:p>
            <a:pPr marL="0" indent="0">
              <a:buNone/>
            </a:pPr>
            <a:r>
              <a:rPr lang="en-US" sz="1200" dirty="0">
                <a:solidFill>
                  <a:schemeClr val="tx1"/>
                </a:solidFill>
              </a:rPr>
              <a:t>East 60th St</a:t>
            </a:r>
            <a:endParaRPr lang="en-US" sz="1200" dirty="0"/>
          </a:p>
        </p:txBody>
      </p:sp>
      <p:sp>
        <p:nvSpPr>
          <p:cNvPr id="13" name="Text 9"/>
          <p:cNvSpPr txBox="1"/>
          <p:nvPr/>
        </p:nvSpPr>
        <p:spPr>
          <a:xfrm>
            <a:off x="10682935" y="2697480"/>
            <a:ext cx="731520" cy="274320"/>
          </a:xfrm>
          <a:prstGeom prst="rect">
            <a:avLst/>
          </a:prstGeom>
          <a:noFill/>
          <a:ln/>
        </p:spPr>
        <p:txBody>
          <a:bodyPr wrap="square" lIns="0" tIns="0" rIns="0" bIns="0" rtlCol="0" anchor="ctr"/>
          <a:lstStyle/>
          <a:p>
            <a:pPr marL="0" indent="0" algn="r">
              <a:buNone/>
            </a:pPr>
            <a:r>
              <a:rPr lang="en-US" sz="1200" b="1" dirty="0">
                <a:solidFill>
                  <a:schemeClr val="tx1"/>
                </a:solidFill>
              </a:rPr>
              <a:t>79.5k</a:t>
            </a:r>
            <a:endParaRPr lang="en-US" sz="1200" dirty="0"/>
          </a:p>
        </p:txBody>
      </p:sp>
      <p:sp>
        <p:nvSpPr>
          <p:cNvPr id="14" name="rule"/>
          <p:cNvSpPr/>
          <p:nvPr/>
        </p:nvSpPr>
        <p:spPr>
          <a:xfrm>
            <a:off x="8888730" y="3008376"/>
            <a:ext cx="2525725" cy="0"/>
          </a:xfrm>
          <a:prstGeom prst="line">
            <a:avLst/>
          </a:prstGeom>
          <a:noFill/>
          <a:ln w="9525">
            <a:solidFill>
              <a:srgbClr val="D9D9D9"/>
            </a:solidFill>
            <a:prstDash val="solid"/>
          </a:ln>
        </p:spPr>
      </p:sp>
      <p:sp>
        <p:nvSpPr>
          <p:cNvPr id="15" name="Text 11"/>
          <p:cNvSpPr txBox="1"/>
          <p:nvPr/>
        </p:nvSpPr>
        <p:spPr>
          <a:xfrm>
            <a:off x="8888730" y="3044952"/>
            <a:ext cx="1794205" cy="274320"/>
          </a:xfrm>
          <a:prstGeom prst="rect">
            <a:avLst/>
          </a:prstGeom>
          <a:noFill/>
          <a:ln/>
        </p:spPr>
        <p:txBody>
          <a:bodyPr wrap="square" lIns="0" tIns="0" rIns="0" bIns="0" rtlCol="0" anchor="ctr"/>
          <a:lstStyle/>
          <a:p>
            <a:pPr marL="0" indent="0">
              <a:buNone/>
            </a:pPr>
            <a:r>
              <a:rPr lang="en-US" sz="1200" dirty="0">
                <a:solidFill>
                  <a:schemeClr val="tx1"/>
                </a:solidFill>
              </a:rPr>
              <a:t>FDR Drive</a:t>
            </a:r>
            <a:endParaRPr lang="en-US" sz="1200" dirty="0"/>
          </a:p>
        </p:txBody>
      </p:sp>
      <p:sp>
        <p:nvSpPr>
          <p:cNvPr id="16" name="Text 12"/>
          <p:cNvSpPr txBox="1"/>
          <p:nvPr/>
        </p:nvSpPr>
        <p:spPr>
          <a:xfrm>
            <a:off x="10682935" y="3044952"/>
            <a:ext cx="731520" cy="274320"/>
          </a:xfrm>
          <a:prstGeom prst="rect">
            <a:avLst/>
          </a:prstGeom>
          <a:noFill/>
          <a:ln/>
        </p:spPr>
        <p:txBody>
          <a:bodyPr wrap="square" lIns="0" tIns="0" rIns="0" bIns="0" rtlCol="0" anchor="ctr"/>
          <a:lstStyle/>
          <a:p>
            <a:pPr marL="0" indent="0" algn="r">
              <a:buNone/>
            </a:pPr>
            <a:r>
              <a:rPr lang="en-US" sz="1200" b="1" dirty="0">
                <a:solidFill>
                  <a:schemeClr val="tx1"/>
                </a:solidFill>
              </a:rPr>
              <a:t>53.0k</a:t>
            </a:r>
            <a:endParaRPr lang="en-US" sz="1200" dirty="0"/>
          </a:p>
        </p:txBody>
      </p:sp>
      <p:sp>
        <p:nvSpPr>
          <p:cNvPr id="17" name="rule"/>
          <p:cNvSpPr/>
          <p:nvPr/>
        </p:nvSpPr>
        <p:spPr>
          <a:xfrm>
            <a:off x="8888730" y="3355848"/>
            <a:ext cx="2525725" cy="0"/>
          </a:xfrm>
          <a:prstGeom prst="line">
            <a:avLst/>
          </a:prstGeom>
          <a:noFill/>
          <a:ln w="9525">
            <a:solidFill>
              <a:srgbClr val="D9D9D9"/>
            </a:solidFill>
            <a:prstDash val="solid"/>
          </a:ln>
        </p:spPr>
      </p:sp>
      <p:sp>
        <p:nvSpPr>
          <p:cNvPr id="18" name="Text 14"/>
          <p:cNvSpPr txBox="1"/>
          <p:nvPr/>
        </p:nvSpPr>
        <p:spPr>
          <a:xfrm>
            <a:off x="8888730" y="3392424"/>
            <a:ext cx="1794205" cy="274320"/>
          </a:xfrm>
          <a:prstGeom prst="rect">
            <a:avLst/>
          </a:prstGeom>
          <a:noFill/>
          <a:ln/>
        </p:spPr>
        <p:txBody>
          <a:bodyPr wrap="square" lIns="0" tIns="0" rIns="0" bIns="0" rtlCol="0" anchor="ctr"/>
          <a:lstStyle/>
          <a:p>
            <a:pPr marL="0" indent="0">
              <a:buNone/>
            </a:pPr>
            <a:r>
              <a:rPr lang="en-US" sz="1200" dirty="0">
                <a:solidFill>
                  <a:schemeClr val="tx1"/>
                </a:solidFill>
              </a:rPr>
              <a:t>Lincoln Tunnel</a:t>
            </a:r>
            <a:endParaRPr lang="en-US" sz="1200" dirty="0"/>
          </a:p>
        </p:txBody>
      </p:sp>
      <p:sp>
        <p:nvSpPr>
          <p:cNvPr id="19" name="Text 15"/>
          <p:cNvSpPr txBox="1"/>
          <p:nvPr/>
        </p:nvSpPr>
        <p:spPr>
          <a:xfrm>
            <a:off x="10682935" y="3392424"/>
            <a:ext cx="731520" cy="274320"/>
          </a:xfrm>
          <a:prstGeom prst="rect">
            <a:avLst/>
          </a:prstGeom>
          <a:noFill/>
          <a:ln/>
        </p:spPr>
        <p:txBody>
          <a:bodyPr wrap="square" lIns="0" tIns="0" rIns="0" bIns="0" rtlCol="0" anchor="ctr"/>
          <a:lstStyle/>
          <a:p>
            <a:pPr marL="0" indent="0" algn="r">
              <a:buNone/>
            </a:pPr>
            <a:r>
              <a:rPr lang="en-US" sz="1200" b="1" dirty="0">
                <a:solidFill>
                  <a:schemeClr val="tx1"/>
                </a:solidFill>
              </a:rPr>
              <a:t>46.8k</a:t>
            </a:r>
            <a:endParaRPr lang="en-US" sz="1200" dirty="0"/>
          </a:p>
        </p:txBody>
      </p:sp>
      <p:sp>
        <p:nvSpPr>
          <p:cNvPr id="20" name="rule"/>
          <p:cNvSpPr/>
          <p:nvPr/>
        </p:nvSpPr>
        <p:spPr>
          <a:xfrm>
            <a:off x="8888730" y="3703320"/>
            <a:ext cx="2525725" cy="0"/>
          </a:xfrm>
          <a:prstGeom prst="line">
            <a:avLst/>
          </a:prstGeom>
          <a:noFill/>
          <a:ln w="9525">
            <a:solidFill>
              <a:srgbClr val="D9D9D9"/>
            </a:solidFill>
            <a:prstDash val="solid"/>
          </a:ln>
        </p:spPr>
      </p:sp>
      <p:sp>
        <p:nvSpPr>
          <p:cNvPr id="21" name="Text 17"/>
          <p:cNvSpPr txBox="1"/>
          <p:nvPr/>
        </p:nvSpPr>
        <p:spPr>
          <a:xfrm>
            <a:off x="8888730" y="3739896"/>
            <a:ext cx="1794205" cy="274320"/>
          </a:xfrm>
          <a:prstGeom prst="rect">
            <a:avLst/>
          </a:prstGeom>
          <a:noFill/>
          <a:ln/>
        </p:spPr>
        <p:txBody>
          <a:bodyPr wrap="square" lIns="0" tIns="0" rIns="0" bIns="0" rtlCol="0" anchor="ctr"/>
          <a:lstStyle/>
          <a:p>
            <a:pPr marL="0" indent="0">
              <a:buNone/>
            </a:pPr>
            <a:r>
              <a:rPr lang="en-US" sz="1200" dirty="0">
                <a:solidFill>
                  <a:schemeClr val="tx1"/>
                </a:solidFill>
              </a:rPr>
              <a:t>Queens Midtown Tunnel</a:t>
            </a:r>
            <a:endParaRPr lang="en-US" sz="1200" dirty="0"/>
          </a:p>
        </p:txBody>
      </p:sp>
      <p:sp>
        <p:nvSpPr>
          <p:cNvPr id="22" name="Text 18"/>
          <p:cNvSpPr txBox="1"/>
          <p:nvPr/>
        </p:nvSpPr>
        <p:spPr>
          <a:xfrm>
            <a:off x="10682935" y="3739896"/>
            <a:ext cx="731520" cy="274320"/>
          </a:xfrm>
          <a:prstGeom prst="rect">
            <a:avLst/>
          </a:prstGeom>
          <a:noFill/>
          <a:ln/>
        </p:spPr>
        <p:txBody>
          <a:bodyPr wrap="square" lIns="0" tIns="0" rIns="0" bIns="0" rtlCol="0" anchor="ctr"/>
          <a:lstStyle/>
          <a:p>
            <a:pPr marL="0" indent="0" algn="r">
              <a:buNone/>
            </a:pPr>
            <a:r>
              <a:rPr lang="en-US" sz="1200" b="1" dirty="0">
                <a:solidFill>
                  <a:schemeClr val="tx1"/>
                </a:solidFill>
              </a:rPr>
              <a:t>46.5k</a:t>
            </a:r>
            <a:endParaRPr lang="en-US" sz="1200" dirty="0"/>
          </a:p>
        </p:txBody>
      </p:sp>
      <p:sp>
        <p:nvSpPr>
          <p:cNvPr id="23" name="rule"/>
          <p:cNvSpPr/>
          <p:nvPr/>
        </p:nvSpPr>
        <p:spPr>
          <a:xfrm>
            <a:off x="8888730" y="4050792"/>
            <a:ext cx="2525725" cy="0"/>
          </a:xfrm>
          <a:prstGeom prst="line">
            <a:avLst/>
          </a:prstGeom>
          <a:noFill/>
          <a:ln w="9525">
            <a:solidFill>
              <a:srgbClr val="D9D9D9"/>
            </a:solidFill>
            <a:prstDash val="solid"/>
          </a:ln>
        </p:spPr>
      </p:sp>
      <p:sp>
        <p:nvSpPr>
          <p:cNvPr id="24" name="Text 20"/>
          <p:cNvSpPr txBox="1"/>
          <p:nvPr/>
        </p:nvSpPr>
        <p:spPr>
          <a:xfrm>
            <a:off x="8888730" y="4087368"/>
            <a:ext cx="1794205" cy="274320"/>
          </a:xfrm>
          <a:prstGeom prst="rect">
            <a:avLst/>
          </a:prstGeom>
          <a:noFill/>
          <a:ln/>
        </p:spPr>
        <p:txBody>
          <a:bodyPr wrap="square" lIns="0" tIns="0" rIns="0" bIns="0" rtlCol="0" anchor="ctr"/>
          <a:lstStyle/>
          <a:p>
            <a:pPr marL="0" indent="0">
              <a:buNone/>
            </a:pPr>
            <a:r>
              <a:rPr lang="en-US" sz="1200" dirty="0">
                <a:solidFill>
                  <a:schemeClr val="tx1"/>
                </a:solidFill>
              </a:rPr>
              <a:t>West Side Highway</a:t>
            </a:r>
            <a:endParaRPr lang="en-US" sz="1200" dirty="0"/>
          </a:p>
        </p:txBody>
      </p:sp>
      <p:sp>
        <p:nvSpPr>
          <p:cNvPr id="25" name="Text 21"/>
          <p:cNvSpPr txBox="1"/>
          <p:nvPr/>
        </p:nvSpPr>
        <p:spPr>
          <a:xfrm>
            <a:off x="10682935" y="4087368"/>
            <a:ext cx="731520" cy="274320"/>
          </a:xfrm>
          <a:prstGeom prst="rect">
            <a:avLst/>
          </a:prstGeom>
          <a:noFill/>
          <a:ln/>
        </p:spPr>
        <p:txBody>
          <a:bodyPr wrap="square" lIns="0" tIns="0" rIns="0" bIns="0" rtlCol="0" anchor="ctr"/>
          <a:lstStyle/>
          <a:p>
            <a:pPr marL="0" indent="0" algn="r">
              <a:buNone/>
            </a:pPr>
            <a:r>
              <a:rPr lang="en-US" sz="1200" b="1" dirty="0">
                <a:solidFill>
                  <a:schemeClr val="tx1"/>
                </a:solidFill>
              </a:rPr>
              <a:t>45.9k</a:t>
            </a:r>
            <a:endParaRPr lang="en-US" sz="1200" dirty="0"/>
          </a:p>
        </p:txBody>
      </p:sp>
      <p:sp>
        <p:nvSpPr>
          <p:cNvPr id="26" name="rule"/>
          <p:cNvSpPr/>
          <p:nvPr/>
        </p:nvSpPr>
        <p:spPr>
          <a:xfrm>
            <a:off x="8888730" y="4398264"/>
            <a:ext cx="2525725" cy="0"/>
          </a:xfrm>
          <a:prstGeom prst="line">
            <a:avLst/>
          </a:prstGeom>
          <a:noFill/>
          <a:ln w="9525">
            <a:solidFill>
              <a:srgbClr val="D9D9D9"/>
            </a:solidFill>
            <a:prstDash val="solid"/>
          </a:ln>
        </p:spPr>
      </p:sp>
      <p:sp>
        <p:nvSpPr>
          <p:cNvPr id="27" name="Text 23"/>
          <p:cNvSpPr txBox="1"/>
          <p:nvPr/>
        </p:nvSpPr>
        <p:spPr>
          <a:xfrm>
            <a:off x="8888730" y="4434840"/>
            <a:ext cx="1794205" cy="274320"/>
          </a:xfrm>
          <a:prstGeom prst="rect">
            <a:avLst/>
          </a:prstGeom>
          <a:noFill/>
          <a:ln/>
        </p:spPr>
        <p:txBody>
          <a:bodyPr wrap="square" lIns="0" tIns="0" rIns="0" bIns="0" rtlCol="0" anchor="ctr"/>
          <a:lstStyle/>
          <a:p>
            <a:pPr marL="0" indent="0">
              <a:buNone/>
            </a:pPr>
            <a:r>
              <a:rPr lang="en-US" sz="1200" dirty="0">
                <a:solidFill>
                  <a:schemeClr val="tx1"/>
                </a:solidFill>
              </a:rPr>
              <a:t>Holland Tunnel</a:t>
            </a:r>
            <a:endParaRPr lang="en-US" sz="1200" dirty="0"/>
          </a:p>
        </p:txBody>
      </p:sp>
      <p:sp>
        <p:nvSpPr>
          <p:cNvPr id="28" name="Text 24"/>
          <p:cNvSpPr txBox="1"/>
          <p:nvPr/>
        </p:nvSpPr>
        <p:spPr>
          <a:xfrm>
            <a:off x="10682935" y="4434840"/>
            <a:ext cx="731520" cy="274320"/>
          </a:xfrm>
          <a:prstGeom prst="rect">
            <a:avLst/>
          </a:prstGeom>
          <a:noFill/>
          <a:ln/>
        </p:spPr>
        <p:txBody>
          <a:bodyPr wrap="square" lIns="0" tIns="0" rIns="0" bIns="0" rtlCol="0" anchor="ctr"/>
          <a:lstStyle/>
          <a:p>
            <a:pPr marL="0" indent="0" algn="r">
              <a:buNone/>
            </a:pPr>
            <a:r>
              <a:rPr lang="en-US" sz="1200" b="1" dirty="0">
                <a:solidFill>
                  <a:schemeClr val="tx1"/>
                </a:solidFill>
              </a:rPr>
              <a:t>41.4k</a:t>
            </a:r>
            <a:endParaRPr lang="en-US" sz="1200" dirty="0"/>
          </a:p>
        </p:txBody>
      </p:sp>
      <p:sp>
        <p:nvSpPr>
          <p:cNvPr id="29" name="rule"/>
          <p:cNvSpPr/>
          <p:nvPr/>
        </p:nvSpPr>
        <p:spPr>
          <a:xfrm>
            <a:off x="8888730" y="4745736"/>
            <a:ext cx="2525725" cy="0"/>
          </a:xfrm>
          <a:prstGeom prst="line">
            <a:avLst/>
          </a:prstGeom>
          <a:noFill/>
          <a:ln w="9525">
            <a:solidFill>
              <a:srgbClr val="D9D9D9"/>
            </a:solidFill>
            <a:prstDash val="solid"/>
          </a:ln>
        </p:spPr>
      </p:sp>
      <p:sp>
        <p:nvSpPr>
          <p:cNvPr id="30" name="callout"/>
          <p:cNvSpPr txBox="1"/>
          <p:nvPr/>
        </p:nvSpPr>
        <p:spPr>
          <a:xfrm>
            <a:off x="8888730" y="4937760"/>
            <a:ext cx="2525725" cy="548640"/>
          </a:xfrm>
          <a:prstGeom prst="rect">
            <a:avLst/>
          </a:prstGeom>
          <a:solidFill>
            <a:srgbClr val="FFFFFF"/>
          </a:solidFill>
          <a:ln w="12700">
            <a:solidFill>
              <a:srgbClr val="C8532A"/>
            </a:solidFill>
          </a:ln>
        </p:spPr>
        <p:txBody>
          <a:bodyPr wrap="square" lIns="50800" tIns="50800" rIns="50800" bIns="50800" rtlCol="0" anchor="ctr"/>
          <a:lstStyle/>
          <a:p>
            <a:pPr marL="0" indent="0" algn="ctr">
              <a:buNone/>
            </a:pPr>
            <a:r>
              <a:rPr lang="en-US" sz="1200" b="1" dirty="0">
                <a:solidFill>
                  <a:schemeClr val="accent3"/>
                </a:solidFill>
              </a:rPr>
              <a:t>Top two crossings carry 26% of entries</a:t>
            </a:r>
            <a:endParaRPr lang="en-US" sz="1200" dirty="0"/>
          </a:p>
        </p:txBody>
      </p:sp>
      <p:sp>
        <p:nvSpPr>
          <p:cNvPr id="31" name="Text 27"/>
          <p:cNvSpPr txBox="1"/>
          <p:nvPr/>
        </p:nvSpPr>
        <p:spPr>
          <a:xfrm>
            <a:off x="8888730" y="5577840"/>
            <a:ext cx="2525725" cy="228600"/>
          </a:xfrm>
          <a:prstGeom prst="rect">
            <a:avLst/>
          </a:prstGeom>
          <a:noFill/>
          <a:ln/>
        </p:spPr>
        <p:txBody>
          <a:bodyPr wrap="square" lIns="0" tIns="0" rIns="0" bIns="0" rtlCol="0" anchor="ctr"/>
          <a:lstStyle/>
          <a:p>
            <a:pPr marL="0" indent="0">
              <a:buNone/>
            </a:pPr>
            <a:r>
              <a:rPr lang="en-US" sz="1000" dirty="0">
                <a:solidFill>
                  <a:schemeClr val="accent4"/>
                </a:solidFill>
              </a:rPr>
              <a:t>Circle size = weekday entries</a:t>
            </a:r>
            <a:endParaRPr lang="en-US" sz="1000" dirty="0"/>
          </a:p>
        </p:txBody>
      </p:sp>
      <p:sp>
        <p:nvSpPr>
          <p:cNvPr id="32" name="source"/>
          <p:cNvSpPr txBox="1"/>
          <p:nvPr/>
        </p:nvSpPr>
        <p:spPr>
          <a:xfrm>
            <a:off x="548640" y="6272784"/>
            <a:ext cx="7863840" cy="411480"/>
          </a:xfrm>
          <a:prstGeom prst="rect">
            <a:avLst/>
          </a:prstGeom>
          <a:noFill/>
          <a:ln/>
        </p:spPr>
        <p:txBody>
          <a:bodyPr wrap="square" lIns="0" tIns="0" rIns="0" bIns="0" rtlCol="0" anchor="t"/>
          <a:lstStyle/>
          <a:p>
            <a:pPr marL="0" indent="0">
              <a:buNone/>
            </a:pPr>
            <a:r>
              <a:rPr lang="en-US" sz="900" dirty="0">
                <a:solidFill>
                  <a:schemeClr val="accent4"/>
                </a:solidFill>
              </a:rPr>
              <a:t>Sources: MTA six-month tolling report; NY Open Data t6yz-b64h (5 Jan–30 Jun 2025). Note: crossing counts (511,829 a weekday) use a different method and do not add up to the official totals.</a:t>
            </a:r>
            <a:endParaRPr lang="en-US" sz="900" dirty="0"/>
          </a:p>
        </p:txBody>
      </p:sp>
      <p:sp>
        <p:nvSpPr>
          <p:cNvPr id="33" name="exhibit link">
            <a:hlinkClick r:id="rId5" tooltip="Exhibit 1: congestion pricing results"/>
          </p:cNvPr>
          <p:cNvSpPr/>
          <p:nvPr/>
        </p:nvSpPr>
        <p:spPr>
          <a:xfrm>
            <a:off x="8641080" y="6291072"/>
            <a:ext cx="2514600" cy="310896"/>
          </a:xfrm>
          <a:prstGeom prst="rect">
            <a:avLst/>
          </a:prstGeom>
          <a:solidFill>
            <a:schemeClr val="accent1"/>
          </a:solidFill>
          <a:ln/>
        </p:spPr>
        <p:txBody>
          <a:bodyPr wrap="square" lIns="0" tIns="0" rIns="0" bIns="0" rtlCol="0" anchor="ctr"/>
          <a:lstStyle/>
          <a:p>
            <a:pPr marL="0" indent="0" algn="ctr">
              <a:buNone/>
            </a:pPr>
            <a:r>
              <a:rPr lang="en-US" sz="1100" b="1" u="sng" dirty="0">
                <a:solidFill>
                  <a:schemeClr val="bg1"/>
                </a:solidFill>
                <a:hlinkClick r:id="rId5" tooltip="Exhibit 1: congestion pricing results">
                  <a:extLst>
                    <a:ext uri="{A12FA001-AC4F-418D-AE19-62706E023703}">
                      <ahyp:hlinkClr xmlns:ahyp="http://schemas.microsoft.com/office/drawing/2018/hyperlinkcolor" val="tx"/>
                    </a:ext>
                  </a:extLst>
                </a:hlinkClick>
              </a:rPr>
              <a:t>Open interactive exhibit  ↗</a:t>
            </a:r>
            <a:endParaRPr lang="en-US" sz="1100" dirty="0"/>
          </a:p>
        </p:txBody>
      </p:sp>
      <p:sp>
        <p:nvSpPr>
          <p:cNvPr id="34"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Brooklyn and Queens hold most Manhattan jobs, but the Bronx makes the most car trips into Manhattan</a:t>
            </a:r>
            <a:endParaRPr lang="en-US" sz="2400" dirty="0"/>
          </a:p>
        </p:txBody>
      </p:sp>
      <p:sp>
        <p:nvSpPr>
          <p:cNvPr id="4" name="panel"/>
          <p:cNvSpPr/>
          <p:nvPr/>
        </p:nvSpPr>
        <p:spPr>
          <a:xfrm>
            <a:off x="548640" y="1783080"/>
            <a:ext cx="3931920" cy="4206240"/>
          </a:xfrm>
          <a:prstGeom prst="rect">
            <a:avLst/>
          </a:prstGeom>
          <a:solidFill>
            <a:schemeClr val="bg2"/>
          </a:solidFill>
          <a:ln/>
        </p:spPr>
      </p:sp>
      <p:sp>
        <p:nvSpPr>
          <p:cNvPr id="5" name="Text 3"/>
          <p:cNvSpPr txBox="1"/>
          <p:nvPr/>
        </p:nvSpPr>
        <p:spPr>
          <a:xfrm>
            <a:off x="777240" y="1947672"/>
            <a:ext cx="3474720" cy="292608"/>
          </a:xfrm>
          <a:prstGeom prst="rect">
            <a:avLst/>
          </a:prstGeom>
          <a:noFill/>
          <a:ln/>
        </p:spPr>
        <p:txBody>
          <a:bodyPr wrap="square" lIns="0" tIns="0" rIns="0" bIns="0" rtlCol="0" anchor="ctr"/>
          <a:lstStyle/>
          <a:p>
            <a:pPr marL="0" indent="0">
              <a:buNone/>
            </a:pPr>
            <a:r>
              <a:rPr lang="en-US" sz="1400" b="1" dirty="0">
                <a:solidFill>
                  <a:schemeClr val="tx1"/>
                </a:solidFill>
              </a:rPr>
              <a:t>Where zone workers live</a:t>
            </a:r>
            <a:endParaRPr lang="en-US" sz="1400" dirty="0"/>
          </a:p>
        </p:txBody>
      </p:sp>
      <p:pic>
        <p:nvPicPr>
          <p:cNvPr id="6" name="jobs map" descr="Map of NYC census tracts shaded by residents working in the congestion zone"/>
          <p:cNvPicPr>
            <a:picLocks noChangeAspect="1"/>
          </p:cNvPicPr>
          <p:nvPr/>
        </p:nvPicPr>
        <p:blipFill>
          <a:blip r:embed="rId3"/>
          <a:stretch>
            <a:fillRect/>
          </a:stretch>
        </p:blipFill>
        <p:spPr>
          <a:xfrm>
            <a:off x="690581" y="2286000"/>
            <a:ext cx="3648039" cy="3611880"/>
          </a:xfrm>
          <a:prstGeom prst="rect">
            <a:avLst/>
          </a:prstGeom>
        </p:spPr>
      </p:pic>
      <p:sp>
        <p:nvSpPr>
          <p:cNvPr id="7" name="Jobs in Manhattan: Brooklyn + Queens hold 51%"/>
          <p:cNvSpPr/>
          <p:nvPr/>
        </p:nvSpPr>
        <p:spPr>
          <a:xfrm>
            <a:off x="4754880" y="1783080"/>
            <a:ext cx="3306928" cy="4206240"/>
          </a:xfrm>
          <a:prstGeom prst="rect">
            <a:avLst/>
          </a:prstGeom>
          <a:solidFill>
            <a:schemeClr val="bg2"/>
          </a:solidFill>
          <a:ln/>
        </p:spPr>
      </p:sp>
      <p:sp>
        <p:nvSpPr>
          <p:cNvPr id="8" name="Text 5"/>
          <p:cNvSpPr txBox="1"/>
          <p:nvPr/>
        </p:nvSpPr>
        <p:spPr>
          <a:xfrm>
            <a:off x="4983480" y="1920240"/>
            <a:ext cx="2849728" cy="502920"/>
          </a:xfrm>
          <a:prstGeom prst="rect">
            <a:avLst/>
          </a:prstGeom>
          <a:noFill/>
          <a:ln/>
        </p:spPr>
        <p:txBody>
          <a:bodyPr wrap="square" lIns="0" tIns="0" rIns="0" bIns="0" rtlCol="0" anchor="t"/>
          <a:lstStyle/>
          <a:p>
            <a:pPr marL="0" indent="0">
              <a:buNone/>
            </a:pPr>
            <a:r>
              <a:rPr lang="en-US" sz="1300" b="1" dirty="0">
                <a:solidFill>
                  <a:schemeClr val="tx1"/>
                </a:solidFill>
              </a:rPr>
              <a:t>Jobs in Manhattan: Brooklyn + Queens hold 51%</a:t>
            </a:r>
            <a:endParaRPr lang="en-US" sz="1300" dirty="0"/>
          </a:p>
        </p:txBody>
      </p:sp>
      <p:graphicFrame>
        <p:nvGraphicFramePr>
          <p:cNvPr id="9" name="Chart 0"/>
          <p:cNvGraphicFramePr/>
          <p:nvPr/>
        </p:nvGraphicFramePr>
        <p:xfrm>
          <a:off x="4846320" y="2468880"/>
          <a:ext cx="3124048"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10" name="Car trips into Manhattan: Bronx ≈2.8× Queens"/>
          <p:cNvSpPr/>
          <p:nvPr/>
        </p:nvSpPr>
        <p:spPr>
          <a:xfrm>
            <a:off x="8336128" y="1783080"/>
            <a:ext cx="3306928" cy="4206240"/>
          </a:xfrm>
          <a:prstGeom prst="rect">
            <a:avLst/>
          </a:prstGeom>
          <a:solidFill>
            <a:schemeClr val="bg2"/>
          </a:solidFill>
          <a:ln/>
        </p:spPr>
      </p:sp>
      <p:sp>
        <p:nvSpPr>
          <p:cNvPr id="11" name="Text 7"/>
          <p:cNvSpPr txBox="1"/>
          <p:nvPr/>
        </p:nvSpPr>
        <p:spPr>
          <a:xfrm>
            <a:off x="8564728" y="1920240"/>
            <a:ext cx="2849728" cy="502920"/>
          </a:xfrm>
          <a:prstGeom prst="rect">
            <a:avLst/>
          </a:prstGeom>
          <a:noFill/>
          <a:ln/>
        </p:spPr>
        <p:txBody>
          <a:bodyPr wrap="square" lIns="0" tIns="0" rIns="0" bIns="0" rtlCol="0" anchor="t"/>
          <a:lstStyle/>
          <a:p>
            <a:pPr marL="0" indent="0">
              <a:buNone/>
            </a:pPr>
            <a:r>
              <a:rPr lang="en-US" sz="1300" b="1" dirty="0">
                <a:solidFill>
                  <a:schemeClr val="tx1"/>
                </a:solidFill>
              </a:rPr>
              <a:t>Car trips into Manhattan: Bronx ≈2.8× Queens</a:t>
            </a:r>
            <a:endParaRPr lang="en-US" sz="1300" dirty="0"/>
          </a:p>
        </p:txBody>
      </p:sp>
      <p:graphicFrame>
        <p:nvGraphicFramePr>
          <p:cNvPr id="12" name="Chart 1"/>
          <p:cNvGraphicFramePr/>
          <p:nvPr/>
        </p:nvGraphicFramePr>
        <p:xfrm>
          <a:off x="8427568" y="2468880"/>
          <a:ext cx="3124048" cy="3383280"/>
        </p:xfrm>
        <a:graphic>
          <a:graphicData uri="http://schemas.openxmlformats.org/drawingml/2006/chart">
            <c:chart xmlns:c="http://schemas.openxmlformats.org/drawingml/2006/chart" xmlns:r="http://schemas.openxmlformats.org/officeDocument/2006/relationships" r:id="rId5"/>
          </a:graphicData>
        </a:graphic>
      </p:graphicFrame>
      <p:sp>
        <p:nvSpPr>
          <p:cNvPr id="13" name="source"/>
          <p:cNvSpPr txBox="1"/>
          <p:nvPr/>
        </p:nvSpPr>
        <p:spPr>
          <a:xfrm>
            <a:off x="548640" y="6272784"/>
            <a:ext cx="7863840" cy="411480"/>
          </a:xfrm>
          <a:prstGeom prst="rect">
            <a:avLst/>
          </a:prstGeom>
          <a:noFill/>
          <a:ln/>
        </p:spPr>
        <p:txBody>
          <a:bodyPr wrap="square" lIns="0" tIns="0" rIns="0" bIns="0" rtlCol="0" anchor="t"/>
          <a:lstStyle/>
          <a:p>
            <a:pPr marL="0" indent="0">
              <a:buNone/>
            </a:pPr>
            <a:r>
              <a:rPr lang="en-US" sz="900" dirty="0">
                <a:solidFill>
                  <a:schemeClr val="accent4"/>
                </a:solidFill>
              </a:rPr>
              <a:t>Sources: Census LEHD LODES 2023 (payroll jobs; Manhattan residents hold a further 532k); NYC DOT Citywide Mobility Survey 2024. Note: survey trips go to all of Manhattan, not only the zone.</a:t>
            </a:r>
            <a:endParaRPr lang="en-US" sz="900" dirty="0"/>
          </a:p>
        </p:txBody>
      </p:sp>
      <p:sp>
        <p:nvSpPr>
          <p:cNvPr id="14" name="exhibit link">
            <a:hlinkClick r:id="rId6" tooltip="Exhibit 3: travel origins"/>
          </p:cNvPr>
          <p:cNvSpPr/>
          <p:nvPr/>
        </p:nvSpPr>
        <p:spPr>
          <a:xfrm>
            <a:off x="8641080" y="6291072"/>
            <a:ext cx="2514600" cy="310896"/>
          </a:xfrm>
          <a:prstGeom prst="rect">
            <a:avLst/>
          </a:prstGeom>
          <a:solidFill>
            <a:schemeClr val="accent1"/>
          </a:solidFill>
          <a:ln/>
        </p:spPr>
        <p:txBody>
          <a:bodyPr wrap="square" lIns="0" tIns="0" rIns="0" bIns="0" rtlCol="0" anchor="ctr"/>
          <a:lstStyle/>
          <a:p>
            <a:pPr marL="0" indent="0" algn="ctr">
              <a:buNone/>
            </a:pPr>
            <a:r>
              <a:rPr lang="en-US" sz="1100" b="1" u="sng" dirty="0">
                <a:solidFill>
                  <a:schemeClr val="bg1"/>
                </a:solidFill>
                <a:hlinkClick r:id="rId6" tooltip="Exhibit 3: travel origins">
                  <a:extLst>
                    <a:ext uri="{A12FA001-AC4F-418D-AE19-62706E023703}">
                      <ahyp:hlinkClr xmlns:ahyp="http://schemas.microsoft.com/office/drawing/2018/hyperlinkcolor" val="tx"/>
                    </a:ext>
                  </a:extLst>
                </a:hlinkClick>
              </a:rPr>
              <a:t>Open interactive exhibit  ↗</a:t>
            </a:r>
            <a:endParaRPr lang="en-US" sz="1100" dirty="0"/>
          </a:p>
        </p:txBody>
      </p:sp>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Three areas combine car use, Manhattan jobs and slow transit; Eastern Queens has the most jobs, the East Bronx the most driving</a:t>
            </a:r>
            <a:endParaRPr lang="en-US" sz="2400" dirty="0"/>
          </a:p>
        </p:txBody>
      </p:sp>
      <p:sp>
        <p:nvSpPr>
          <p:cNvPr id="4" name="panel"/>
          <p:cNvSpPr/>
          <p:nvPr/>
        </p:nvSpPr>
        <p:spPr>
          <a:xfrm>
            <a:off x="548640" y="1783080"/>
            <a:ext cx="4206240" cy="4206240"/>
          </a:xfrm>
          <a:prstGeom prst="rect">
            <a:avLst/>
          </a:prstGeom>
          <a:solidFill>
            <a:schemeClr val="bg2"/>
          </a:solidFill>
          <a:ln/>
        </p:spPr>
      </p:sp>
      <p:pic>
        <p:nvPicPr>
          <p:cNvPr id="5" name="areas map" descr="Map of the three candidate areas in orange: East Bronx, Eastern Queens and Southeast Queens, with the congestion zone"/>
          <p:cNvPicPr>
            <a:picLocks noChangeAspect="1"/>
          </p:cNvPicPr>
          <p:nvPr/>
        </p:nvPicPr>
        <p:blipFill>
          <a:blip r:embed="rId3"/>
          <a:stretch>
            <a:fillRect/>
          </a:stretch>
        </p:blipFill>
        <p:spPr>
          <a:xfrm>
            <a:off x="685800" y="2123125"/>
            <a:ext cx="3931920" cy="3526149"/>
          </a:xfrm>
          <a:prstGeom prst="rect">
            <a:avLst/>
          </a:prstGeom>
        </p:spPr>
      </p:pic>
      <p:graphicFrame>
        <p:nvGraphicFramePr>
          <p:cNvPr id="7" name="area table"/>
          <p:cNvGraphicFramePr>
            <a:graphicFrameLocks noGrp="1"/>
          </p:cNvGraphicFramePr>
          <p:nvPr>
            <p:extLst>
              <p:ext uri="{D42A27DB-BD31-4B8C-83A1-F6EECF244321}">
                <p14:modId xmlns:p14="http://schemas.microsoft.com/office/powerpoint/2010/main" val="1579011935"/>
              </p:ext>
            </p:extLst>
          </p:nvPr>
        </p:nvGraphicFramePr>
        <p:xfrm>
          <a:off x="5029200" y="1783080"/>
          <a:ext cx="6613855" cy="2657856"/>
        </p:xfrm>
        <a:graphic>
          <a:graphicData uri="http://schemas.openxmlformats.org/drawingml/2006/table">
            <a:tbl>
              <a:tblPr/>
              <a:tblGrid>
                <a:gridCol w="19659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996135">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Arial" pitchFamily="34" charset="0"/>
                          <a:ea typeface="Arial" pitchFamily="34" charset="-122"/>
                          <a:cs typeface="Arial" pitchFamily="34" charset="-120"/>
                        </a:rPr>
                        <a:t>Area</a:t>
                      </a:r>
                      <a:endParaRPr lang="en-US" sz="1200" dirty="0">
                        <a:latin typeface="Arial" charset="0"/>
                        <a:ea typeface="Arial" charset="0"/>
                        <a:cs typeface="Arial" charset="0"/>
                      </a:endParaRPr>
                    </a:p>
                  </a:txBody>
                  <a:tcPr marL="101600" marR="1016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B2B2B"/>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Jobs in the zone</a:t>
                      </a:r>
                      <a:endParaRPr lang="en-US" sz="1200" dirty="0">
                        <a:latin typeface="Arial" charset="0"/>
                        <a:ea typeface="Arial" charset="0"/>
                        <a:cs typeface="Arial" charset="0"/>
                      </a:endParaRPr>
                    </a:p>
                  </a:txBody>
                  <a:tcPr marL="101600" marR="1016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B2B2B"/>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Drive alone</a:t>
                      </a:r>
                      <a:endParaRPr lang="en-US" sz="1200" dirty="0">
                        <a:latin typeface="Arial" charset="0"/>
                        <a:ea typeface="Arial" charset="0"/>
                        <a:cs typeface="Arial" charset="0"/>
                      </a:endParaRPr>
                    </a:p>
                  </a:txBody>
                  <a:tcPr marL="101600" marR="1016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B2B2B"/>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Transit trip and main barrier</a:t>
                      </a:r>
                      <a:endParaRPr lang="en-US" sz="1200" dirty="0">
                        <a:latin typeface="Arial" charset="0"/>
                        <a:ea typeface="Arial" charset="0"/>
                        <a:cs typeface="Arial" charset="0"/>
                      </a:endParaRPr>
                    </a:p>
                  </a:txBody>
                  <a:tcPr marL="101600" marR="1016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713232">
                <a:tc>
                  <a:txBody>
                    <a:bodyPr/>
                    <a:lstStyle/>
                    <a:p>
                      <a:pPr marL="0" indent="0">
                        <a:buNone/>
                      </a:pPr>
                      <a:r>
                        <a:rPr lang="en-US" sz="1200" b="1" dirty="0">
                          <a:solidFill>
                            <a:srgbClr val="1A1A1A"/>
                          </a:solidFill>
                          <a:latin typeface="Arial" pitchFamily="34" charset="0"/>
                          <a:ea typeface="Arial" pitchFamily="34" charset="-122"/>
                          <a:cs typeface="Arial" pitchFamily="34" charset="-120"/>
                        </a:rPr>
                        <a:t>Eastern Queens</a:t>
                      </a:r>
                      <a:endParaRPr lang="en-US" sz="1200" dirty="0">
                        <a:latin typeface="Arial" charset="0"/>
                        <a:ea typeface="Arial" charset="0"/>
                        <a:cs typeface="Arial" charset="0"/>
                      </a:endParaRPr>
                    </a:p>
                    <a:p>
                      <a:pPr marL="0" indent="0">
                        <a:buNone/>
                      </a:pPr>
                      <a:r>
                        <a:rPr lang="en-US" sz="1000" dirty="0">
                          <a:solidFill>
                            <a:srgbClr val="5C5C5C"/>
                          </a:solidFill>
                          <a:latin typeface="Arial" pitchFamily="34" charset="0"/>
                          <a:ea typeface="Arial" pitchFamily="34" charset="-122"/>
                          <a:cs typeface="Arial" pitchFamily="34" charset="-120"/>
                        </a:rPr>
                        <a:t>Union Tpke / Fresh Meadows</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tc>
                  <a:txBody>
                    <a:bodyPr/>
                    <a:lstStyle/>
                    <a:p>
                      <a:pPr marL="0" indent="0">
                        <a:buNone/>
                      </a:pPr>
                      <a:r>
                        <a:rPr lang="en-US" sz="1200" dirty="0">
                          <a:solidFill>
                            <a:srgbClr val="1A1A1A"/>
                          </a:solidFill>
                          <a:latin typeface="Arial" pitchFamily="34" charset="0"/>
                          <a:ea typeface="Arial" pitchFamily="34" charset="-122"/>
                          <a:cs typeface="Arial" pitchFamily="34" charset="-120"/>
                        </a:rPr>
                        <a:t>2,649 (28%)</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tc>
                  <a:txBody>
                    <a:bodyPr/>
                    <a:lstStyle/>
                    <a:p>
                      <a:pPr marL="0" indent="0">
                        <a:buNone/>
                      </a:pPr>
                      <a:r>
                        <a:rPr lang="en-US" sz="1200" dirty="0">
                          <a:solidFill>
                            <a:srgbClr val="1A1A1A"/>
                          </a:solidFill>
                          <a:latin typeface="Arial" pitchFamily="34" charset="0"/>
                          <a:ea typeface="Arial" pitchFamily="34" charset="-122"/>
                          <a:cs typeface="Arial" pitchFamily="34" charset="-120"/>
                        </a:rPr>
                        <a:t>30–60% (avg. ~42%)</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tc>
                  <a:txBody>
                    <a:bodyPr/>
                    <a:lstStyle/>
                    <a:p>
                      <a:pPr marL="0" indent="0">
                        <a:buNone/>
                      </a:pPr>
                      <a:r>
                        <a:rPr lang="en-US" sz="1200" dirty="0">
                          <a:solidFill>
                            <a:srgbClr val="1A1A1A"/>
                          </a:solidFill>
                          <a:latin typeface="Arial" pitchFamily="34" charset="0"/>
                          <a:ea typeface="Arial" pitchFamily="34" charset="-122"/>
                          <a:cs typeface="Arial" pitchFamily="34" charset="-120"/>
                        </a:rPr>
                        <a:t>55.6 min; long walks to the bus</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extLst>
                  <a:ext uri="{0D108BD9-81ED-4DB2-BD59-A6C34878D82A}">
                    <a16:rowId xmlns:a16="http://schemas.microsoft.com/office/drawing/2014/main" val="10001"/>
                  </a:ext>
                </a:extLst>
              </a:tr>
              <a:tr h="713232">
                <a:tc>
                  <a:txBody>
                    <a:bodyPr/>
                    <a:lstStyle/>
                    <a:p>
                      <a:pPr marL="0" indent="0">
                        <a:buNone/>
                      </a:pPr>
                      <a:r>
                        <a:rPr lang="en-US" sz="1200" b="1" dirty="0">
                          <a:solidFill>
                            <a:srgbClr val="1A1A1A"/>
                          </a:solidFill>
                          <a:latin typeface="Arial" pitchFamily="34" charset="0"/>
                          <a:ea typeface="Arial" pitchFamily="34" charset="-122"/>
                          <a:cs typeface="Arial" pitchFamily="34" charset="-120"/>
                        </a:rPr>
                        <a:t>East Bronx</a:t>
                      </a:r>
                      <a:endParaRPr lang="en-US" sz="1200" dirty="0">
                        <a:latin typeface="Arial" charset="0"/>
                        <a:ea typeface="Arial" charset="0"/>
                        <a:cs typeface="Arial" charset="0"/>
                      </a:endParaRPr>
                    </a:p>
                    <a:p>
                      <a:pPr marL="0" indent="0">
                        <a:buNone/>
                      </a:pPr>
                      <a:r>
                        <a:rPr lang="en-US" sz="1000" dirty="0">
                          <a:solidFill>
                            <a:srgbClr val="5C5C5C"/>
                          </a:solidFill>
                          <a:latin typeface="Arial" pitchFamily="34" charset="0"/>
                          <a:ea typeface="Arial" pitchFamily="34" charset="-122"/>
                          <a:cs typeface="Arial" pitchFamily="34" charset="-120"/>
                        </a:rPr>
                        <a:t>Throggs Neck / Pelham Bay</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rgbClr val="1A1A1A"/>
                          </a:solidFill>
                          <a:latin typeface="Arial" pitchFamily="34" charset="0"/>
                          <a:ea typeface="Arial" pitchFamily="34" charset="-122"/>
                          <a:cs typeface="Arial" pitchFamily="34" charset="-120"/>
                        </a:rPr>
                        <a:t>1,454 (29%)</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rgbClr val="1A1A1A"/>
                          </a:solidFill>
                          <a:latin typeface="Arial" pitchFamily="34" charset="0"/>
                          <a:ea typeface="Arial" pitchFamily="34" charset="-122"/>
                          <a:cs typeface="Arial" pitchFamily="34" charset="-120"/>
                        </a:rPr>
                        <a:t>50–81% (avg. ~57%)</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rgbClr val="1A1A1A"/>
                          </a:solidFill>
                          <a:latin typeface="Arial" pitchFamily="34" charset="0"/>
                          <a:ea typeface="Arial" pitchFamily="34" charset="-122"/>
                          <a:cs typeface="Arial" pitchFamily="34" charset="-120"/>
                        </a:rPr>
                        <a:t>71.2 min; 16-min feeder bus</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buNone/>
                      </a:pPr>
                      <a:r>
                        <a:rPr lang="en-US" sz="1200" b="1" dirty="0">
                          <a:solidFill>
                            <a:srgbClr val="1A1A1A"/>
                          </a:solidFill>
                          <a:latin typeface="Arial" pitchFamily="34" charset="0"/>
                          <a:ea typeface="Arial" pitchFamily="34" charset="-122"/>
                          <a:cs typeface="Arial" pitchFamily="34" charset="-120"/>
                        </a:rPr>
                        <a:t>Southeast Queens</a:t>
                      </a:r>
                      <a:endParaRPr lang="en-US" sz="1200" dirty="0">
                        <a:latin typeface="Arial" charset="0"/>
                        <a:ea typeface="Arial" charset="0"/>
                        <a:cs typeface="Arial" charset="0"/>
                      </a:endParaRPr>
                    </a:p>
                    <a:p>
                      <a:pPr marL="0" indent="0">
                        <a:buNone/>
                      </a:pPr>
                      <a:r>
                        <a:rPr lang="en-US" sz="1000" dirty="0">
                          <a:solidFill>
                            <a:srgbClr val="5C5C5C"/>
                          </a:solidFill>
                          <a:latin typeface="Arial" pitchFamily="34" charset="0"/>
                          <a:ea typeface="Arial" pitchFamily="34" charset="-122"/>
                          <a:cs typeface="Arial" pitchFamily="34" charset="-120"/>
                        </a:rPr>
                        <a:t>Rosedale / Laurelton</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rgbClr val="1A1A1A"/>
                          </a:solidFill>
                          <a:latin typeface="Arial" pitchFamily="34" charset="0"/>
                          <a:ea typeface="Arial" pitchFamily="34" charset="-122"/>
                          <a:cs typeface="Arial" pitchFamily="34" charset="-120"/>
                        </a:rPr>
                        <a:t>651 (27%)</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rgbClr val="1A1A1A"/>
                          </a:solidFill>
                          <a:latin typeface="Arial" pitchFamily="34" charset="0"/>
                          <a:ea typeface="Arial" pitchFamily="34" charset="-122"/>
                          <a:cs typeface="Arial" pitchFamily="34" charset="-120"/>
                        </a:rPr>
                        <a:t>50–60% (avg. ~53%)</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200" dirty="0">
                          <a:solidFill>
                            <a:srgbClr val="1A1A1A"/>
                          </a:solidFill>
                          <a:latin typeface="Arial" pitchFamily="34" charset="0"/>
                          <a:ea typeface="Arial" pitchFamily="34" charset="-122"/>
                          <a:cs typeface="Arial" pitchFamily="34" charset="-120"/>
                        </a:rPr>
                        <a:t>61.9 min; outdoor transfer and 2nd fare</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panel"/>
          <p:cNvSpPr/>
          <p:nvPr/>
        </p:nvSpPr>
        <p:spPr>
          <a:xfrm>
            <a:off x="5029200" y="4581144"/>
            <a:ext cx="3169768" cy="1408176"/>
          </a:xfrm>
          <a:prstGeom prst="rect">
            <a:avLst/>
          </a:prstGeom>
          <a:solidFill>
            <a:schemeClr val="bg2"/>
          </a:solidFill>
          <a:ln/>
        </p:spPr>
      </p:sp>
      <p:sp>
        <p:nvSpPr>
          <p:cNvPr id="8" name="Text 4"/>
          <p:cNvSpPr txBox="1"/>
          <p:nvPr/>
        </p:nvSpPr>
        <p:spPr>
          <a:xfrm>
            <a:off x="5212080" y="4672584"/>
            <a:ext cx="2804008" cy="1225296"/>
          </a:xfrm>
          <a:prstGeom prst="rect">
            <a:avLst/>
          </a:prstGeom>
          <a:noFill/>
          <a:ln/>
        </p:spPr>
        <p:txBody>
          <a:bodyPr wrap="square" lIns="0" tIns="0" rIns="0" bIns="0" rtlCol="0" anchor="ctr"/>
          <a:lstStyle/>
          <a:p>
            <a:pPr marL="0" indent="0">
              <a:buNone/>
            </a:pPr>
            <a:r>
              <a:rPr lang="en-US" sz="1300" b="1" dirty="0">
                <a:solidFill>
                  <a:srgbClr val="A8441F"/>
                </a:solidFill>
              </a:rPr>
              <a:t>Strongest case on demand</a:t>
            </a:r>
            <a:endParaRPr lang="en-US" sz="1300" dirty="0"/>
          </a:p>
          <a:p>
            <a:pPr marL="0" indent="0">
              <a:buNone/>
            </a:pPr>
            <a:r>
              <a:rPr lang="en-US" sz="1300" dirty="0">
                <a:solidFill>
                  <a:schemeClr val="tx1"/>
                </a:solidFill>
              </a:rPr>
              <a:t>Eastern Queens: 2,649 zone jobs, almost twice the East Bronx.</a:t>
            </a:r>
            <a:endParaRPr lang="en-US" sz="1300" dirty="0"/>
          </a:p>
        </p:txBody>
      </p:sp>
      <p:sp>
        <p:nvSpPr>
          <p:cNvPr id="9" name="panel"/>
          <p:cNvSpPr/>
          <p:nvPr/>
        </p:nvSpPr>
        <p:spPr>
          <a:xfrm>
            <a:off x="8473288" y="4581144"/>
            <a:ext cx="3169768" cy="1408176"/>
          </a:xfrm>
          <a:prstGeom prst="rect">
            <a:avLst/>
          </a:prstGeom>
          <a:solidFill>
            <a:schemeClr val="bg2"/>
          </a:solidFill>
          <a:ln/>
        </p:spPr>
      </p:sp>
      <p:sp>
        <p:nvSpPr>
          <p:cNvPr id="10" name="Text 6"/>
          <p:cNvSpPr txBox="1"/>
          <p:nvPr/>
        </p:nvSpPr>
        <p:spPr>
          <a:xfrm>
            <a:off x="8656168" y="4672584"/>
            <a:ext cx="2804008" cy="1225296"/>
          </a:xfrm>
          <a:prstGeom prst="rect">
            <a:avLst/>
          </a:prstGeom>
          <a:noFill/>
          <a:ln/>
        </p:spPr>
        <p:txBody>
          <a:bodyPr wrap="square" lIns="0" tIns="0" rIns="0" bIns="0" rtlCol="0" anchor="ctr"/>
          <a:lstStyle/>
          <a:p>
            <a:pPr marL="0" indent="0">
              <a:buNone/>
            </a:pPr>
            <a:r>
              <a:rPr lang="en-US" sz="1300" b="1" dirty="0">
                <a:solidFill>
                  <a:srgbClr val="A8441F"/>
                </a:solidFill>
              </a:rPr>
              <a:t>Strongest case on car use</a:t>
            </a:r>
            <a:endParaRPr lang="en-US" sz="1300" dirty="0"/>
          </a:p>
          <a:p>
            <a:pPr marL="0" indent="0">
              <a:buNone/>
            </a:pPr>
            <a:r>
              <a:rPr lang="en-US" sz="1300" dirty="0">
                <a:solidFill>
                  <a:schemeClr val="tx1"/>
                </a:solidFill>
              </a:rPr>
              <a:t>East Bronx: 57% drive alone, but its bus delay is not yet measured.</a:t>
            </a:r>
            <a:endParaRPr lang="en-US" sz="1300" dirty="0"/>
          </a:p>
        </p:txBody>
      </p:sp>
      <p:sp>
        <p:nvSpPr>
          <p:cNvPr id="11" name="source"/>
          <p:cNvSpPr txBox="1"/>
          <p:nvPr/>
        </p:nvSpPr>
        <p:spPr>
          <a:xfrm>
            <a:off x="548640" y="6272784"/>
            <a:ext cx="7863840" cy="411480"/>
          </a:xfrm>
          <a:prstGeom prst="rect">
            <a:avLst/>
          </a:prstGeom>
          <a:noFill/>
          <a:ln/>
        </p:spPr>
        <p:txBody>
          <a:bodyPr wrap="square" lIns="0" tIns="0" rIns="0" bIns="0" rtlCol="0" anchor="t"/>
          <a:lstStyle/>
          <a:p>
            <a:pPr marL="0" indent="0">
              <a:buNone/>
            </a:pPr>
            <a:r>
              <a:rPr lang="en-US" sz="900" dirty="0">
                <a:solidFill>
                  <a:schemeClr val="accent4"/>
                </a:solidFill>
              </a:rPr>
              <a:t>Sources: Census LODES 2023; ACS 2018–2022; OpenTripPlanner journeys M01, M02, M07. Note: jobs show where workers live, not who drives in; drive-alone rates cover all commutes.</a:t>
            </a:r>
            <a:endParaRPr lang="en-US" sz="900" dirty="0"/>
          </a:p>
        </p:txBody>
      </p:sp>
      <p:sp>
        <p:nvSpPr>
          <p:cNvPr id="12" name="exhibit link">
            <a:hlinkClick r:id="rId4" tooltip="Exhibit 3: travel origins"/>
          </p:cNvPr>
          <p:cNvSpPr/>
          <p:nvPr/>
        </p:nvSpPr>
        <p:spPr>
          <a:xfrm>
            <a:off x="8641080" y="6291072"/>
            <a:ext cx="2514600" cy="310896"/>
          </a:xfrm>
          <a:prstGeom prst="rect">
            <a:avLst/>
          </a:prstGeom>
          <a:solidFill>
            <a:schemeClr val="accent1"/>
          </a:solidFill>
          <a:ln/>
        </p:spPr>
        <p:txBody>
          <a:bodyPr wrap="square" lIns="0" tIns="0" rIns="0" bIns="0" rtlCol="0" anchor="ctr"/>
          <a:lstStyle/>
          <a:p>
            <a:pPr marL="0" indent="0" algn="ctr">
              <a:buNone/>
            </a:pPr>
            <a:r>
              <a:rPr lang="en-US" sz="1100" b="1" u="sng" dirty="0">
                <a:solidFill>
                  <a:schemeClr val="bg1"/>
                </a:solidFill>
                <a:hlinkClick r:id="rId4" tooltip="Exhibit 3: travel origins">
                  <a:extLst>
                    <a:ext uri="{A12FA001-AC4F-418D-AE19-62706E023703}">
                      <ahyp:hlinkClr xmlns:ahyp="http://schemas.microsoft.com/office/drawing/2018/hyperlinkcolor" val="tx"/>
                    </a:ext>
                  </a:extLst>
                </a:hlinkClick>
              </a:rPr>
              <a:t>Open interactive exhibit  ↗</a:t>
            </a:r>
            <a:endParaRPr lang="en-US" sz="1100" dirty="0"/>
          </a:p>
        </p:txBody>
      </p:sp>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Transit trips take about an hour, and walking and waiting take 13–22 minutes of each one</a:t>
            </a:r>
            <a:endParaRPr lang="en-US" sz="2400" dirty="0"/>
          </a:p>
        </p:txBody>
      </p:sp>
      <p:sp>
        <p:nvSpPr>
          <p:cNvPr id="4" name="panel"/>
          <p:cNvSpPr/>
          <p:nvPr/>
        </p:nvSpPr>
        <p:spPr>
          <a:xfrm>
            <a:off x="548640" y="1783080"/>
            <a:ext cx="6309360" cy="4206240"/>
          </a:xfrm>
          <a:prstGeom prst="rect">
            <a:avLst/>
          </a:prstGeom>
          <a:solidFill>
            <a:schemeClr val="bg2"/>
          </a:solidFill>
          <a:ln/>
        </p:spPr>
      </p:sp>
      <p:sp>
        <p:nvSpPr>
          <p:cNvPr id="5" name="Text 3"/>
          <p:cNvSpPr txBox="1"/>
          <p:nvPr/>
        </p:nvSpPr>
        <p:spPr>
          <a:xfrm>
            <a:off x="777240" y="1947672"/>
            <a:ext cx="5852160" cy="292608"/>
          </a:xfrm>
          <a:prstGeom prst="rect">
            <a:avLst/>
          </a:prstGeom>
          <a:noFill/>
          <a:ln/>
        </p:spPr>
        <p:txBody>
          <a:bodyPr wrap="square" lIns="0" tIns="0" rIns="0" bIns="0" rtlCol="0" anchor="ctr"/>
          <a:lstStyle/>
          <a:p>
            <a:pPr marL="0" indent="0">
              <a:buNone/>
            </a:pPr>
            <a:r>
              <a:rPr lang="en-US" sz="1400" b="1" dirty="0">
                <a:solidFill>
                  <a:schemeClr val="tx1"/>
                </a:solidFill>
              </a:rPr>
              <a:t>Where the time goes (minutes)</a:t>
            </a:r>
            <a:endParaRPr lang="en-US" sz="1400" dirty="0"/>
          </a:p>
        </p:txBody>
      </p:sp>
      <p:graphicFrame>
        <p:nvGraphicFramePr>
          <p:cNvPr id="6" name="Chart 0"/>
          <p:cNvGraphicFramePr/>
          <p:nvPr/>
        </p:nvGraphicFramePr>
        <p:xfrm>
          <a:off x="685800" y="2286000"/>
          <a:ext cx="60350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Fresh Meadows → Midtown East"/>
          <p:cNvSpPr/>
          <p:nvPr/>
        </p:nvSpPr>
        <p:spPr>
          <a:xfrm>
            <a:off x="7132320" y="1783080"/>
            <a:ext cx="4510735" cy="1280160"/>
          </a:xfrm>
          <a:prstGeom prst="rect">
            <a:avLst/>
          </a:prstGeom>
          <a:solidFill>
            <a:schemeClr val="bg2"/>
          </a:solidFill>
          <a:ln/>
        </p:spPr>
      </p:sp>
      <p:sp>
        <p:nvSpPr>
          <p:cNvPr id="8" name="Text 5"/>
          <p:cNvSpPr txBox="1"/>
          <p:nvPr/>
        </p:nvSpPr>
        <p:spPr>
          <a:xfrm>
            <a:off x="7360920" y="1892808"/>
            <a:ext cx="3093415" cy="274320"/>
          </a:xfrm>
          <a:prstGeom prst="rect">
            <a:avLst/>
          </a:prstGeom>
          <a:noFill/>
          <a:ln/>
        </p:spPr>
        <p:txBody>
          <a:bodyPr wrap="square" lIns="0" tIns="0" rIns="0" bIns="0" rtlCol="0" anchor="ctr"/>
          <a:lstStyle/>
          <a:p>
            <a:pPr marL="0" indent="0">
              <a:buNone/>
            </a:pPr>
            <a:r>
              <a:rPr lang="en-US" sz="1300" b="1" dirty="0">
                <a:solidFill>
                  <a:schemeClr val="tx1"/>
                </a:solidFill>
              </a:rPr>
              <a:t>Fresh Meadows → Midtown East</a:t>
            </a:r>
            <a:endParaRPr lang="en-US" sz="1300" dirty="0"/>
          </a:p>
        </p:txBody>
      </p:sp>
      <p:sp>
        <p:nvSpPr>
          <p:cNvPr id="9" name="Text 6"/>
          <p:cNvSpPr txBox="1"/>
          <p:nvPr/>
        </p:nvSpPr>
        <p:spPr>
          <a:xfrm>
            <a:off x="10454335" y="1874520"/>
            <a:ext cx="960120" cy="310896"/>
          </a:xfrm>
          <a:prstGeom prst="rect">
            <a:avLst/>
          </a:prstGeom>
          <a:noFill/>
          <a:ln/>
        </p:spPr>
        <p:txBody>
          <a:bodyPr wrap="square" lIns="0" tIns="0" rIns="0" bIns="0" rtlCol="0" anchor="ctr"/>
          <a:lstStyle/>
          <a:p>
            <a:pPr marL="0" indent="0" algn="r">
              <a:buNone/>
            </a:pPr>
            <a:r>
              <a:rPr lang="en-US" sz="1600" b="1" dirty="0">
                <a:solidFill>
                  <a:schemeClr val="tx1"/>
                </a:solidFill>
              </a:rPr>
              <a:t>55.6 min</a:t>
            </a:r>
            <a:endParaRPr lang="en-US" sz="1600" dirty="0"/>
          </a:p>
        </p:txBody>
      </p:sp>
      <p:sp>
        <p:nvSpPr>
          <p:cNvPr id="10" name="Text 7"/>
          <p:cNvSpPr txBox="1"/>
          <p:nvPr/>
        </p:nvSpPr>
        <p:spPr>
          <a:xfrm>
            <a:off x="7360920" y="2194560"/>
            <a:ext cx="4053535" cy="822960"/>
          </a:xfrm>
          <a:prstGeom prst="rect">
            <a:avLst/>
          </a:prstGeom>
          <a:noFill/>
          <a:ln/>
        </p:spPr>
        <p:txBody>
          <a:bodyPr wrap="square" lIns="0" tIns="0" rIns="0" bIns="0" rtlCol="0" anchor="t"/>
          <a:lstStyle/>
          <a:p>
            <a:pPr marL="0" indent="0">
              <a:buNone/>
            </a:pPr>
            <a:r>
              <a:rPr lang="en-US" sz="1200" b="1" dirty="0">
                <a:solidFill>
                  <a:srgbClr val="A8441F"/>
                </a:solidFill>
              </a:rPr>
              <a:t>Walk and wait: 20.2 min</a:t>
            </a:r>
            <a:endParaRPr lang="en-US" sz="1200" dirty="0"/>
          </a:p>
          <a:p>
            <a:pPr marL="0" indent="0">
              <a:buNone/>
            </a:pPr>
            <a:r>
              <a:rPr lang="en-US" sz="1200" dirty="0">
                <a:solidFill>
                  <a:schemeClr val="tx1"/>
                </a:solidFill>
              </a:rPr>
              <a:t>17.7 min is walking. The Q30 ride is only 6.9 min, so bus lanes alone won’t fix it.</a:t>
            </a:r>
            <a:endParaRPr lang="en-US" sz="1200" dirty="0"/>
          </a:p>
        </p:txBody>
      </p:sp>
      <p:sp>
        <p:nvSpPr>
          <p:cNvPr id="11" name="Rosedale → Lower Manhattan"/>
          <p:cNvSpPr/>
          <p:nvPr/>
        </p:nvSpPr>
        <p:spPr>
          <a:xfrm>
            <a:off x="7132320" y="3246120"/>
            <a:ext cx="4510735" cy="1280160"/>
          </a:xfrm>
          <a:prstGeom prst="rect">
            <a:avLst/>
          </a:prstGeom>
          <a:solidFill>
            <a:schemeClr val="bg2"/>
          </a:solidFill>
          <a:ln/>
        </p:spPr>
      </p:sp>
      <p:sp>
        <p:nvSpPr>
          <p:cNvPr id="12" name="Text 9"/>
          <p:cNvSpPr txBox="1"/>
          <p:nvPr/>
        </p:nvSpPr>
        <p:spPr>
          <a:xfrm>
            <a:off x="7360920" y="3355848"/>
            <a:ext cx="3093415" cy="274320"/>
          </a:xfrm>
          <a:prstGeom prst="rect">
            <a:avLst/>
          </a:prstGeom>
          <a:noFill/>
          <a:ln/>
        </p:spPr>
        <p:txBody>
          <a:bodyPr wrap="square" lIns="0" tIns="0" rIns="0" bIns="0" rtlCol="0" anchor="ctr"/>
          <a:lstStyle/>
          <a:p>
            <a:pPr marL="0" indent="0">
              <a:buNone/>
            </a:pPr>
            <a:r>
              <a:rPr lang="en-US" sz="1300" b="1" dirty="0">
                <a:solidFill>
                  <a:schemeClr val="tx1"/>
                </a:solidFill>
              </a:rPr>
              <a:t>Rosedale → Lower Manhattan</a:t>
            </a:r>
            <a:endParaRPr lang="en-US" sz="1300" dirty="0"/>
          </a:p>
        </p:txBody>
      </p:sp>
      <p:sp>
        <p:nvSpPr>
          <p:cNvPr id="13" name="Text 10"/>
          <p:cNvSpPr txBox="1"/>
          <p:nvPr/>
        </p:nvSpPr>
        <p:spPr>
          <a:xfrm>
            <a:off x="10454335" y="3337560"/>
            <a:ext cx="960120" cy="310896"/>
          </a:xfrm>
          <a:prstGeom prst="rect">
            <a:avLst/>
          </a:prstGeom>
          <a:noFill/>
          <a:ln/>
        </p:spPr>
        <p:txBody>
          <a:bodyPr wrap="square" lIns="0" tIns="0" rIns="0" bIns="0" rtlCol="0" anchor="ctr"/>
          <a:lstStyle/>
          <a:p>
            <a:pPr marL="0" indent="0" algn="r">
              <a:buNone/>
            </a:pPr>
            <a:r>
              <a:rPr lang="en-US" sz="1600" b="1" dirty="0">
                <a:solidFill>
                  <a:schemeClr val="tx1"/>
                </a:solidFill>
              </a:rPr>
              <a:t>61.9 min</a:t>
            </a:r>
            <a:endParaRPr lang="en-US" sz="1600" dirty="0"/>
          </a:p>
        </p:txBody>
      </p:sp>
      <p:sp>
        <p:nvSpPr>
          <p:cNvPr id="14" name="Text 11"/>
          <p:cNvSpPr txBox="1"/>
          <p:nvPr/>
        </p:nvSpPr>
        <p:spPr>
          <a:xfrm>
            <a:off x="7360920" y="3657600"/>
            <a:ext cx="4053535" cy="822960"/>
          </a:xfrm>
          <a:prstGeom prst="rect">
            <a:avLst/>
          </a:prstGeom>
          <a:noFill/>
          <a:ln/>
        </p:spPr>
        <p:txBody>
          <a:bodyPr wrap="square" lIns="0" tIns="0" rIns="0" bIns="0" rtlCol="0" anchor="t"/>
          <a:lstStyle/>
          <a:p>
            <a:pPr marL="0" indent="0">
              <a:buNone/>
            </a:pPr>
            <a:r>
              <a:rPr lang="en-US" sz="1200" b="1" dirty="0">
                <a:solidFill>
                  <a:srgbClr val="A8441F"/>
                </a:solidFill>
              </a:rPr>
              <a:t>Walk and wait: 22.4 min</a:t>
            </a:r>
            <a:endParaRPr lang="en-US" sz="1200" dirty="0"/>
          </a:p>
          <a:p>
            <a:pPr marL="0" indent="0">
              <a:buNone/>
            </a:pPr>
            <a:r>
              <a:rPr lang="en-US" sz="1200" dirty="0">
                <a:solidFill>
                  <a:schemeClr val="tx1"/>
                </a:solidFill>
              </a:rPr>
              <a:t>LIRR is fast (27 min), but the Nostrand Ave transfer adds an outdoor walk and a second fare.</a:t>
            </a:r>
            <a:endParaRPr lang="en-US" sz="1200" dirty="0"/>
          </a:p>
        </p:txBody>
      </p:sp>
      <p:sp>
        <p:nvSpPr>
          <p:cNvPr id="15" name="Throggs Neck → Grand Central"/>
          <p:cNvSpPr/>
          <p:nvPr/>
        </p:nvSpPr>
        <p:spPr>
          <a:xfrm>
            <a:off x="7132320" y="4709160"/>
            <a:ext cx="4510735" cy="1280160"/>
          </a:xfrm>
          <a:prstGeom prst="rect">
            <a:avLst/>
          </a:prstGeom>
          <a:solidFill>
            <a:schemeClr val="bg2"/>
          </a:solidFill>
          <a:ln/>
        </p:spPr>
      </p:sp>
      <p:sp>
        <p:nvSpPr>
          <p:cNvPr id="16" name="Text 13"/>
          <p:cNvSpPr txBox="1"/>
          <p:nvPr/>
        </p:nvSpPr>
        <p:spPr>
          <a:xfrm>
            <a:off x="7360920" y="4818888"/>
            <a:ext cx="3093415" cy="274320"/>
          </a:xfrm>
          <a:prstGeom prst="rect">
            <a:avLst/>
          </a:prstGeom>
          <a:noFill/>
          <a:ln/>
        </p:spPr>
        <p:txBody>
          <a:bodyPr wrap="square" lIns="0" tIns="0" rIns="0" bIns="0" rtlCol="0" anchor="ctr"/>
          <a:lstStyle/>
          <a:p>
            <a:pPr marL="0" indent="0">
              <a:buNone/>
            </a:pPr>
            <a:r>
              <a:rPr lang="en-US" sz="1300" b="1" dirty="0">
                <a:solidFill>
                  <a:schemeClr val="tx1"/>
                </a:solidFill>
              </a:rPr>
              <a:t>Throggs Neck → Grand Central</a:t>
            </a:r>
            <a:endParaRPr lang="en-US" sz="1300" dirty="0"/>
          </a:p>
        </p:txBody>
      </p:sp>
      <p:sp>
        <p:nvSpPr>
          <p:cNvPr id="17" name="Text 14"/>
          <p:cNvSpPr txBox="1"/>
          <p:nvPr/>
        </p:nvSpPr>
        <p:spPr>
          <a:xfrm>
            <a:off x="10454335" y="4800600"/>
            <a:ext cx="960120" cy="310896"/>
          </a:xfrm>
          <a:prstGeom prst="rect">
            <a:avLst/>
          </a:prstGeom>
          <a:noFill/>
          <a:ln/>
        </p:spPr>
        <p:txBody>
          <a:bodyPr wrap="square" lIns="0" tIns="0" rIns="0" bIns="0" rtlCol="0" anchor="ctr"/>
          <a:lstStyle/>
          <a:p>
            <a:pPr marL="0" indent="0" algn="r">
              <a:buNone/>
            </a:pPr>
            <a:r>
              <a:rPr lang="en-US" sz="1600" b="1" dirty="0">
                <a:solidFill>
                  <a:schemeClr val="tx1"/>
                </a:solidFill>
              </a:rPr>
              <a:t>71.2 min</a:t>
            </a:r>
            <a:endParaRPr lang="en-US" sz="1600" dirty="0"/>
          </a:p>
        </p:txBody>
      </p:sp>
      <p:sp>
        <p:nvSpPr>
          <p:cNvPr id="18" name="Text 15"/>
          <p:cNvSpPr txBox="1"/>
          <p:nvPr/>
        </p:nvSpPr>
        <p:spPr>
          <a:xfrm>
            <a:off x="7360920" y="5120640"/>
            <a:ext cx="4053535" cy="822960"/>
          </a:xfrm>
          <a:prstGeom prst="rect">
            <a:avLst/>
          </a:prstGeom>
          <a:noFill/>
          <a:ln/>
        </p:spPr>
        <p:txBody>
          <a:bodyPr wrap="square" lIns="0" tIns="0" rIns="0" bIns="0" rtlCol="0" anchor="t"/>
          <a:lstStyle/>
          <a:p>
            <a:pPr marL="0" indent="0">
              <a:buNone/>
            </a:pPr>
            <a:r>
              <a:rPr lang="en-US" sz="1200" b="1" dirty="0">
                <a:solidFill>
                  <a:srgbClr val="A8441F"/>
                </a:solidFill>
              </a:rPr>
              <a:t>Walk and wait: 12.7 min</a:t>
            </a:r>
            <a:endParaRPr lang="en-US" sz="1200" dirty="0"/>
          </a:p>
          <a:p>
            <a:pPr marL="0" indent="0">
              <a:buNone/>
            </a:pPr>
            <a:r>
              <a:rPr lang="en-US" sz="1200" dirty="0">
                <a:solidFill>
                  <a:schemeClr val="tx1"/>
                </a:solidFill>
              </a:rPr>
              <a:t>The Bx8 bus takes 16 min on Crosby Ave; its real speed is not yet measured.</a:t>
            </a:r>
            <a:endParaRPr lang="en-US" sz="1200" dirty="0"/>
          </a:p>
        </p:txBody>
      </p:sp>
      <p:sp>
        <p:nvSpPr>
          <p:cNvPr id="19" name="source"/>
          <p:cNvSpPr txBox="1"/>
          <p:nvPr/>
        </p:nvSpPr>
        <p:spPr>
          <a:xfrm>
            <a:off x="548640" y="6272784"/>
            <a:ext cx="7863840" cy="411480"/>
          </a:xfrm>
          <a:prstGeom prst="rect">
            <a:avLst/>
          </a:prstGeom>
          <a:noFill/>
          <a:ln/>
        </p:spPr>
        <p:txBody>
          <a:bodyPr wrap="square" lIns="0" tIns="0" rIns="0" bIns="0" rtlCol="0" anchor="t"/>
          <a:lstStyle/>
          <a:p>
            <a:pPr marL="0" indent="0">
              <a:buNone/>
            </a:pPr>
            <a:r>
              <a:rPr lang="en-US" sz="900" dirty="0">
                <a:solidFill>
                  <a:schemeClr val="accent4"/>
                </a:solidFill>
              </a:rPr>
              <a:t>Source: OpenTripPlanner v2 with MTA fall 2026 schedules (OTP_VERIFIED_10_OD_ITINERARIES.csv, trips M01, M02, M07). Note: driving times not shown because they are not calibrated.</a:t>
            </a:r>
            <a:endParaRPr lang="en-US" sz="900" dirty="0"/>
          </a:p>
        </p:txBody>
      </p:sp>
      <p:sp>
        <p:nvSpPr>
          <p:cNvPr id="20" name="exhibit link">
            <a:hlinkClick r:id="rId4" tooltip="Exhibit 4: transit journeys"/>
          </p:cNvPr>
          <p:cNvSpPr/>
          <p:nvPr/>
        </p:nvSpPr>
        <p:spPr>
          <a:xfrm>
            <a:off x="8641080" y="6291072"/>
            <a:ext cx="2514600" cy="310896"/>
          </a:xfrm>
          <a:prstGeom prst="rect">
            <a:avLst/>
          </a:prstGeom>
          <a:solidFill>
            <a:schemeClr val="accent1"/>
          </a:solidFill>
          <a:ln/>
        </p:spPr>
        <p:txBody>
          <a:bodyPr wrap="square" lIns="0" tIns="0" rIns="0" bIns="0" rtlCol="0" anchor="ctr"/>
          <a:lstStyle/>
          <a:p>
            <a:pPr marL="0" indent="0" algn="ctr">
              <a:buNone/>
            </a:pPr>
            <a:r>
              <a:rPr lang="en-US" sz="1100" b="1" u="sng" dirty="0">
                <a:solidFill>
                  <a:schemeClr val="bg1"/>
                </a:solidFill>
                <a:hlinkClick r:id="rId4" tooltip="Exhibit 4: transit journeys">
                  <a:extLst>
                    <a:ext uri="{A12FA001-AC4F-418D-AE19-62706E023703}">
                      <ahyp:hlinkClr xmlns:ahyp="http://schemas.microsoft.com/office/drawing/2018/hyperlinkcolor" val="tx"/>
                    </a:ext>
                  </a:extLst>
                </a:hlinkClick>
              </a:rPr>
              <a:t>Open interactive exhibit  ↗</a:t>
            </a:r>
            <a:endParaRPr lang="en-US" sz="1100" dirty="0"/>
          </a:p>
        </p:txBody>
      </p:sp>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The two feeder buses that matter most, the Q30 and Bx8, have never been measured</a:t>
            </a:r>
            <a:endParaRPr lang="en-US" sz="2400" dirty="0"/>
          </a:p>
        </p:txBody>
      </p:sp>
      <p:sp>
        <p:nvSpPr>
          <p:cNvPr id="3" name="Text 0"/>
          <p:cNvSpPr>
            <a:spLocks noGrp="1"/>
          </p:cNvSpPr>
          <p:nvPr>
            <p:ph type="body" idx="101" hasCustomPrompt="1"/>
          </p:nvPr>
        </p:nvSpPr>
        <p:spPr>
          <a:xfrm>
            <a:off x="548640" y="1298448"/>
            <a:ext cx="11094415" cy="347472"/>
          </a:xfrm>
          <a:prstGeom prst="rect">
            <a:avLst/>
          </a:prstGeom>
          <a:noFill/>
          <a:ln/>
        </p:spPr>
        <p:txBody>
          <a:bodyPr wrap="square" lIns="0" tIns="0" rIns="0" bIns="0" rtlCol="0" anchor="t"/>
          <a:lstStyle/>
          <a:p>
            <a:pPr marL="0" indent="0">
              <a:buNone/>
            </a:pPr>
            <a:r>
              <a:rPr lang="en-US" sz="1400" dirty="0">
                <a:solidFill>
                  <a:schemeClr val="accent4"/>
                </a:solidFill>
              </a:rPr>
              <a:t>MTA bus data, weekday mornings, August 2026. What we know about nearby Queens routes, and what is missing.</a:t>
            </a:r>
            <a:endParaRPr lang="en-US" sz="1400" dirty="0"/>
          </a:p>
        </p:txBody>
      </p:sp>
      <p:sp>
        <p:nvSpPr>
          <p:cNvPr id="4" name="panel"/>
          <p:cNvSpPr/>
          <p:nvPr/>
        </p:nvSpPr>
        <p:spPr>
          <a:xfrm>
            <a:off x="548640" y="1783080"/>
            <a:ext cx="5410048" cy="4206240"/>
          </a:xfrm>
          <a:prstGeom prst="rect">
            <a:avLst/>
          </a:prstGeom>
          <a:solidFill>
            <a:schemeClr val="bg2"/>
          </a:solidFill>
          <a:ln/>
        </p:spPr>
      </p:sp>
      <p:sp>
        <p:nvSpPr>
          <p:cNvPr id="5" name="Text 3"/>
          <p:cNvSpPr txBox="1"/>
          <p:nvPr/>
        </p:nvSpPr>
        <p:spPr>
          <a:xfrm>
            <a:off x="777240" y="1947672"/>
            <a:ext cx="4952848" cy="292608"/>
          </a:xfrm>
          <a:prstGeom prst="rect">
            <a:avLst/>
          </a:prstGeom>
          <a:noFill/>
          <a:ln/>
        </p:spPr>
        <p:txBody>
          <a:bodyPr wrap="square" lIns="0" tIns="0" rIns="0" bIns="0" rtlCol="0" anchor="ctr"/>
          <a:lstStyle/>
          <a:p>
            <a:pPr marL="0" indent="0">
              <a:buNone/>
            </a:pPr>
            <a:r>
              <a:rPr lang="en-US" sz="1400" b="1" dirty="0">
                <a:solidFill>
                  <a:schemeClr val="tx1"/>
                </a:solidFill>
              </a:rPr>
              <a:t>Queens routes we can measure: average morning speed (mph)</a:t>
            </a:r>
            <a:endParaRPr lang="en-US" sz="1400" dirty="0"/>
          </a:p>
        </p:txBody>
      </p:sp>
      <p:graphicFrame>
        <p:nvGraphicFramePr>
          <p:cNvPr id="6" name="Chart 0"/>
          <p:cNvGraphicFramePr/>
          <p:nvPr/>
        </p:nvGraphicFramePr>
        <p:xfrm>
          <a:off x="685800" y="2331720"/>
          <a:ext cx="5135728"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7" name="rule"/>
          <p:cNvSpPr/>
          <p:nvPr/>
        </p:nvSpPr>
        <p:spPr>
          <a:xfrm>
            <a:off x="777240" y="4526280"/>
            <a:ext cx="4952848" cy="0"/>
          </a:xfrm>
          <a:prstGeom prst="line">
            <a:avLst/>
          </a:prstGeom>
          <a:noFill/>
          <a:ln w="9525">
            <a:solidFill>
              <a:srgbClr val="D9D9D9"/>
            </a:solidFill>
            <a:prstDash val="solid"/>
          </a:ln>
        </p:spPr>
      </p:sp>
      <p:sp>
        <p:nvSpPr>
          <p:cNvPr id="8" name="Text 5"/>
          <p:cNvSpPr txBox="1"/>
          <p:nvPr/>
        </p:nvSpPr>
        <p:spPr>
          <a:xfrm>
            <a:off x="777240" y="4636008"/>
            <a:ext cx="4952848" cy="1234440"/>
          </a:xfrm>
          <a:prstGeom prst="rect">
            <a:avLst/>
          </a:prstGeom>
          <a:noFill/>
          <a:ln/>
        </p:spPr>
        <p:txBody>
          <a:bodyPr wrap="square" lIns="0" tIns="0" rIns="0" bIns="0" rtlCol="0" anchor="t"/>
          <a:lstStyle/>
          <a:p>
            <a:pPr marL="0" indent="0">
              <a:spcAft>
                <a:spcPts val="600"/>
              </a:spcAft>
              <a:buNone/>
            </a:pPr>
            <a:r>
              <a:rPr lang="en-US" sz="1300" b="1" dirty="0">
                <a:solidFill>
                  <a:schemeClr val="tx1"/>
                </a:solidFill>
              </a:rPr>
              <a:t>Q46 </a:t>
            </a:r>
            <a:r>
              <a:rPr lang="en-US" sz="1300" dirty="0">
                <a:solidFill>
                  <a:schemeClr val="tx1"/>
                </a:solidFill>
              </a:rPr>
              <a:t>is the Union Turnpike feeder in our model test, and the fastest of these routes.</a:t>
            </a:r>
            <a:endParaRPr lang="en-US" sz="1300" dirty="0"/>
          </a:p>
          <a:p>
            <a:pPr marL="0" indent="0">
              <a:spcAft>
                <a:spcPts val="600"/>
              </a:spcAft>
              <a:buNone/>
            </a:pPr>
            <a:r>
              <a:rPr lang="en-US" sz="1300" b="1" dirty="0">
                <a:solidFill>
                  <a:schemeClr val="tx1"/>
                </a:solidFill>
              </a:rPr>
              <a:t>Q58 </a:t>
            </a:r>
            <a:r>
              <a:rPr lang="en-US" sz="1300" dirty="0">
                <a:solidFill>
                  <a:schemeClr val="tx1"/>
                </a:solidFill>
              </a:rPr>
              <a:t>arrives on time 66% of the time, below MTA’s 70% target.</a:t>
            </a:r>
            <a:endParaRPr lang="en-US" sz="1300" dirty="0"/>
          </a:p>
        </p:txBody>
      </p:sp>
      <p:sp>
        <p:nvSpPr>
          <p:cNvPr id="9" name="panel"/>
          <p:cNvSpPr/>
          <p:nvPr/>
        </p:nvSpPr>
        <p:spPr>
          <a:xfrm>
            <a:off x="6233008" y="1783080"/>
            <a:ext cx="5410048" cy="4206240"/>
          </a:xfrm>
          <a:prstGeom prst="rect">
            <a:avLst/>
          </a:prstGeom>
          <a:solidFill>
            <a:schemeClr val="bg2"/>
          </a:solidFill>
          <a:ln/>
        </p:spPr>
      </p:sp>
      <p:sp>
        <p:nvSpPr>
          <p:cNvPr id="10" name="Text 7"/>
          <p:cNvSpPr txBox="1"/>
          <p:nvPr/>
        </p:nvSpPr>
        <p:spPr>
          <a:xfrm>
            <a:off x="6461608" y="1947672"/>
            <a:ext cx="4952848" cy="292608"/>
          </a:xfrm>
          <a:prstGeom prst="rect">
            <a:avLst/>
          </a:prstGeom>
          <a:noFill/>
          <a:ln/>
        </p:spPr>
        <p:txBody>
          <a:bodyPr wrap="square" lIns="0" tIns="0" rIns="0" bIns="0" rtlCol="0" anchor="ctr"/>
          <a:lstStyle/>
          <a:p>
            <a:pPr marL="0" indent="0">
              <a:buNone/>
            </a:pPr>
            <a:r>
              <a:rPr lang="en-US" sz="1400" b="1" dirty="0">
                <a:solidFill>
                  <a:schemeClr val="tx1"/>
                </a:solidFill>
              </a:rPr>
              <a:t>Not measured yet</a:t>
            </a:r>
            <a:endParaRPr lang="en-US" sz="1400" dirty="0"/>
          </a:p>
        </p:txBody>
      </p:sp>
      <p:sp>
        <p:nvSpPr>
          <p:cNvPr id="11" name="gap Q30"/>
          <p:cNvSpPr/>
          <p:nvPr/>
        </p:nvSpPr>
        <p:spPr>
          <a:xfrm>
            <a:off x="6461608" y="2377440"/>
            <a:ext cx="4952848" cy="868680"/>
          </a:xfrm>
          <a:prstGeom prst="rect">
            <a:avLst/>
          </a:prstGeom>
          <a:solidFill>
            <a:srgbClr val="FFFFFF"/>
          </a:solidFill>
          <a:ln w="9525">
            <a:solidFill>
              <a:srgbClr val="D9D9D9"/>
            </a:solidFill>
            <a:prstDash val="solid"/>
          </a:ln>
        </p:spPr>
      </p:sp>
      <p:sp>
        <p:nvSpPr>
          <p:cNvPr id="12" name="Text 9"/>
          <p:cNvSpPr txBox="1"/>
          <p:nvPr/>
        </p:nvSpPr>
        <p:spPr>
          <a:xfrm>
            <a:off x="6598768" y="2377440"/>
            <a:ext cx="914400" cy="868680"/>
          </a:xfrm>
          <a:prstGeom prst="rect">
            <a:avLst/>
          </a:prstGeom>
          <a:noFill/>
          <a:ln/>
        </p:spPr>
        <p:txBody>
          <a:bodyPr wrap="square" lIns="0" tIns="0" rIns="0" bIns="0" rtlCol="0" anchor="ctr"/>
          <a:lstStyle/>
          <a:p>
            <a:pPr marL="0" indent="0">
              <a:buNone/>
            </a:pPr>
            <a:r>
              <a:rPr lang="en-US" sz="2600" b="1" dirty="0">
                <a:solidFill>
                  <a:schemeClr val="accent2"/>
                </a:solidFill>
              </a:rPr>
              <a:t>Q30</a:t>
            </a:r>
            <a:endParaRPr lang="en-US" sz="2600" dirty="0"/>
          </a:p>
        </p:txBody>
      </p:sp>
      <p:sp>
        <p:nvSpPr>
          <p:cNvPr id="13" name="Text 10"/>
          <p:cNvSpPr txBox="1"/>
          <p:nvPr/>
        </p:nvSpPr>
        <p:spPr>
          <a:xfrm>
            <a:off x="7558888" y="2377440"/>
            <a:ext cx="3718408" cy="868680"/>
          </a:xfrm>
          <a:prstGeom prst="rect">
            <a:avLst/>
          </a:prstGeom>
          <a:noFill/>
          <a:ln/>
        </p:spPr>
        <p:txBody>
          <a:bodyPr wrap="square" lIns="0" tIns="0" rIns="0" bIns="0" rtlCol="0" anchor="ctr"/>
          <a:lstStyle/>
          <a:p>
            <a:pPr marL="0" indent="0">
              <a:buNone/>
            </a:pPr>
            <a:r>
              <a:rPr lang="en-US" sz="1300" b="1" dirty="0">
                <a:solidFill>
                  <a:schemeClr val="tx1"/>
                </a:solidFill>
              </a:rPr>
              <a:t>Fresh Meadows feeder to the F train</a:t>
            </a:r>
            <a:endParaRPr lang="en-US" sz="1300" dirty="0"/>
          </a:p>
          <a:p>
            <a:pPr marL="0" indent="0">
              <a:buNone/>
            </a:pPr>
            <a:r>
              <a:rPr lang="en-US" sz="1300" dirty="0">
                <a:solidFill>
                  <a:srgbClr val="5C5C5C"/>
                </a:solidFill>
              </a:rPr>
              <a:t>Speed: unknown   ·   On time: unknown</a:t>
            </a:r>
            <a:endParaRPr lang="en-US" sz="1300" dirty="0"/>
          </a:p>
        </p:txBody>
      </p:sp>
      <p:sp>
        <p:nvSpPr>
          <p:cNvPr id="14" name="gap Bx8"/>
          <p:cNvSpPr/>
          <p:nvPr/>
        </p:nvSpPr>
        <p:spPr>
          <a:xfrm>
            <a:off x="6461608" y="3429000"/>
            <a:ext cx="4952848" cy="868680"/>
          </a:xfrm>
          <a:prstGeom prst="rect">
            <a:avLst/>
          </a:prstGeom>
          <a:solidFill>
            <a:srgbClr val="FFFFFF"/>
          </a:solidFill>
          <a:ln w="9525">
            <a:solidFill>
              <a:srgbClr val="D9D9D9"/>
            </a:solidFill>
            <a:prstDash val="solid"/>
          </a:ln>
        </p:spPr>
      </p:sp>
      <p:sp>
        <p:nvSpPr>
          <p:cNvPr id="15" name="Text 12"/>
          <p:cNvSpPr txBox="1"/>
          <p:nvPr/>
        </p:nvSpPr>
        <p:spPr>
          <a:xfrm>
            <a:off x="6598768" y="3429000"/>
            <a:ext cx="914400" cy="868680"/>
          </a:xfrm>
          <a:prstGeom prst="rect">
            <a:avLst/>
          </a:prstGeom>
          <a:noFill/>
          <a:ln/>
        </p:spPr>
        <p:txBody>
          <a:bodyPr wrap="square" lIns="0" tIns="0" rIns="0" bIns="0" rtlCol="0" anchor="ctr"/>
          <a:lstStyle/>
          <a:p>
            <a:pPr marL="0" indent="0">
              <a:buNone/>
            </a:pPr>
            <a:r>
              <a:rPr lang="en-US" sz="2600" b="1" dirty="0">
                <a:solidFill>
                  <a:schemeClr val="accent2"/>
                </a:solidFill>
              </a:rPr>
              <a:t>Bx8</a:t>
            </a:r>
            <a:endParaRPr lang="en-US" sz="2600" dirty="0"/>
          </a:p>
        </p:txBody>
      </p:sp>
      <p:sp>
        <p:nvSpPr>
          <p:cNvPr id="16" name="Text 13"/>
          <p:cNvSpPr txBox="1"/>
          <p:nvPr/>
        </p:nvSpPr>
        <p:spPr>
          <a:xfrm>
            <a:off x="7558888" y="3429000"/>
            <a:ext cx="3718408" cy="868680"/>
          </a:xfrm>
          <a:prstGeom prst="rect">
            <a:avLst/>
          </a:prstGeom>
          <a:noFill/>
          <a:ln/>
        </p:spPr>
        <p:txBody>
          <a:bodyPr wrap="square" lIns="0" tIns="0" rIns="0" bIns="0" rtlCol="0" anchor="ctr"/>
          <a:lstStyle/>
          <a:p>
            <a:pPr marL="0" indent="0">
              <a:buNone/>
            </a:pPr>
            <a:r>
              <a:rPr lang="en-US" sz="1300" b="1" dirty="0">
                <a:solidFill>
                  <a:schemeClr val="tx1"/>
                </a:solidFill>
              </a:rPr>
              <a:t>Throggs Neck feeder to the 6 train</a:t>
            </a:r>
            <a:endParaRPr lang="en-US" sz="1300" dirty="0"/>
          </a:p>
          <a:p>
            <a:pPr marL="0" indent="0">
              <a:buNone/>
            </a:pPr>
            <a:r>
              <a:rPr lang="en-US" sz="1300" dirty="0">
                <a:solidFill>
                  <a:srgbClr val="5C5C5C"/>
                </a:solidFill>
              </a:rPr>
              <a:t>Speed: unknown   ·   On time: unknown</a:t>
            </a:r>
            <a:endParaRPr lang="en-US" sz="1300" dirty="0"/>
          </a:p>
        </p:txBody>
      </p:sp>
      <p:sp>
        <p:nvSpPr>
          <p:cNvPr id="17" name="Text 14"/>
          <p:cNvSpPr txBox="1"/>
          <p:nvPr/>
        </p:nvSpPr>
        <p:spPr>
          <a:xfrm>
            <a:off x="6461608" y="4617720"/>
            <a:ext cx="4952848" cy="1188720"/>
          </a:xfrm>
          <a:prstGeom prst="rect">
            <a:avLst/>
          </a:prstGeom>
          <a:noFill/>
          <a:ln/>
        </p:spPr>
        <p:txBody>
          <a:bodyPr wrap="square" lIns="0" tIns="0" rIns="0" bIns="0" rtlCol="0" anchor="t"/>
          <a:lstStyle/>
          <a:p>
            <a:pPr marL="0" indent="0">
              <a:buNone/>
            </a:pPr>
            <a:r>
              <a:rPr lang="en-US" sz="1300" b="1" dirty="0">
                <a:solidFill>
                  <a:srgbClr val="A8441F"/>
                </a:solidFill>
              </a:rPr>
              <a:t>What to do: </a:t>
            </a:r>
            <a:r>
              <a:rPr lang="en-US" sz="1300" dirty="0">
                <a:solidFill>
                  <a:schemeClr val="tx1"/>
                </a:solidFill>
              </a:rPr>
              <a:t>collect speed and on-time data on both routes before committing capital money to bus lanes.</a:t>
            </a:r>
            <a:endParaRPr lang="en-US" sz="1300" dirty="0"/>
          </a:p>
        </p:txBody>
      </p:sp>
      <p:sp>
        <p:nvSpPr>
          <p:cNvPr id="18" name="source"/>
          <p:cNvSpPr txBox="1"/>
          <p:nvPr/>
        </p:nvSpPr>
        <p:spPr>
          <a:xfrm>
            <a:off x="548640" y="6272784"/>
            <a:ext cx="7863840" cy="411480"/>
          </a:xfrm>
          <a:prstGeom prst="rect">
            <a:avLst/>
          </a:prstGeom>
          <a:noFill/>
          <a:ln/>
        </p:spPr>
        <p:txBody>
          <a:bodyPr wrap="square" lIns="0" tIns="0" rIns="0" bIns="0" rtlCol="0" anchor="t"/>
          <a:lstStyle/>
          <a:p>
            <a:pPr marL="0" indent="0">
              <a:buNone/>
            </a:pPr>
            <a:r>
              <a:rPr lang="en-US" sz="900" dirty="0">
                <a:solidFill>
                  <a:schemeClr val="accent4"/>
                </a:solidFill>
              </a:rPr>
              <a:t>Sources: NY Open Data kufs-yh3x (MTA bus segment speeds, Aug 2026, Mon–Fri 7–9 a.m.); MTA bus wait assessment (scheduled gap + 3 min). Note: Q30 and Bx8 are not among the 29 routes in the dataset.</a:t>
            </a:r>
            <a:endParaRPr lang="en-US" sz="900" dirty="0"/>
          </a:p>
        </p:txBody>
      </p:sp>
      <p:sp>
        <p:nvSpPr>
          <p:cNvPr id="19" name="exhibit link">
            <a:hlinkClick r:id="rId4" tooltip="All exhibits"/>
          </p:cNvPr>
          <p:cNvSpPr/>
          <p:nvPr/>
        </p:nvSpPr>
        <p:spPr>
          <a:xfrm>
            <a:off x="8641080" y="6291072"/>
            <a:ext cx="2514600" cy="310896"/>
          </a:xfrm>
          <a:prstGeom prst="rect">
            <a:avLst/>
          </a:prstGeom>
          <a:solidFill>
            <a:schemeClr val="accent1"/>
          </a:solidFill>
          <a:ln/>
        </p:spPr>
        <p:txBody>
          <a:bodyPr wrap="square" lIns="0" tIns="0" rIns="0" bIns="0" rtlCol="0" anchor="ctr"/>
          <a:lstStyle/>
          <a:p>
            <a:pPr marL="0" indent="0" algn="ctr">
              <a:buNone/>
            </a:pPr>
            <a:r>
              <a:rPr lang="en-US" sz="1100" b="1" u="sng" dirty="0">
                <a:solidFill>
                  <a:schemeClr val="bg1"/>
                </a:solidFill>
                <a:hlinkClick r:id="rId4" tooltip="All exhibits">
                  <a:extLst>
                    <a:ext uri="{A12FA001-AC4F-418D-AE19-62706E023703}">
                      <ahyp:hlinkClr xmlns:ahyp="http://schemas.microsoft.com/office/drawing/2018/hyperlinkcolor" val="tx"/>
                    </a:ext>
                  </a:extLst>
                </a:hlinkClick>
              </a:rPr>
              <a:t>Open interactive exhibit  ↗</a:t>
            </a:r>
            <a:endParaRPr lang="en-US" sz="1100" dirty="0"/>
          </a:p>
        </p:txBody>
      </p:sp>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Each area needs a different fix; the two Eastern Queens projects are ready to start first</a:t>
            </a:r>
            <a:endParaRPr lang="en-US" sz="2400" dirty="0"/>
          </a:p>
        </p:txBody>
      </p:sp>
      <p:sp>
        <p:nvSpPr>
          <p:cNvPr id="3" name="Text 0"/>
          <p:cNvSpPr>
            <a:spLocks noGrp="1"/>
          </p:cNvSpPr>
          <p:nvPr>
            <p:ph type="body" idx="101" hasCustomPrompt="1"/>
          </p:nvPr>
        </p:nvSpPr>
        <p:spPr>
          <a:xfrm>
            <a:off x="548640" y="1298448"/>
            <a:ext cx="11094415" cy="347472"/>
          </a:xfrm>
          <a:prstGeom prst="rect">
            <a:avLst/>
          </a:prstGeom>
          <a:noFill/>
          <a:ln/>
        </p:spPr>
        <p:txBody>
          <a:bodyPr wrap="square" lIns="0" tIns="0" rIns="0" bIns="0" rtlCol="0" anchor="t"/>
          <a:lstStyle/>
          <a:p>
            <a:pPr marL="0" indent="0">
              <a:buNone/>
            </a:pPr>
            <a:r>
              <a:rPr lang="en-US" sz="1400" dirty="0">
                <a:solidFill>
                  <a:schemeClr val="accent4"/>
                </a:solidFill>
              </a:rPr>
              <a:t>One main barrier and one main fix per place. Evidence for each is in the speaker notes.</a:t>
            </a:r>
            <a:endParaRPr lang="en-US" sz="1400" dirty="0"/>
          </a:p>
        </p:txBody>
      </p:sp>
      <p:graphicFrame>
        <p:nvGraphicFramePr>
          <p:cNvPr id="10" name="solutions matrix"/>
          <p:cNvGraphicFramePr>
            <a:graphicFrameLocks noGrp="1"/>
          </p:cNvGraphicFramePr>
          <p:nvPr>
            <p:extLst>
              <p:ext uri="{D42A27DB-BD31-4B8C-83A1-F6EECF244321}">
                <p14:modId xmlns:p14="http://schemas.microsoft.com/office/powerpoint/2010/main" val="3102420169"/>
              </p:ext>
            </p:extLst>
          </p:nvPr>
        </p:nvGraphicFramePr>
        <p:xfrm>
          <a:off x="548640" y="1783080"/>
          <a:ext cx="9235440" cy="4114800"/>
        </p:xfrm>
        <a:graphic>
          <a:graphicData uri="http://schemas.openxmlformats.org/drawingml/2006/table">
            <a:tbl>
              <a:tblPr/>
              <a:tblGrid>
                <a:gridCol w="21945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57200">
                <a:tc>
                  <a:txBody>
                    <a:bodyPr/>
                    <a:lstStyle/>
                    <a:p>
                      <a:pPr marL="0" indent="0">
                        <a:buNone/>
                      </a:pPr>
                      <a:r>
                        <a:rPr lang="en-US" sz="1300" b="1" dirty="0">
                          <a:solidFill>
                            <a:srgbClr val="FFFFFF"/>
                          </a:solidFill>
                          <a:latin typeface="Arial" pitchFamily="34" charset="0"/>
                          <a:ea typeface="Arial" pitchFamily="34" charset="-122"/>
                          <a:cs typeface="Arial" pitchFamily="34" charset="-120"/>
                        </a:rPr>
                        <a:t>Place</a:t>
                      </a:r>
                      <a:endParaRPr lang="en-US" sz="13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B2B2B"/>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Main barrier</a:t>
                      </a:r>
                      <a:endParaRPr lang="en-US" sz="13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B2B2B"/>
                    </a:solidFill>
                  </a:tcPr>
                </a:tc>
                <a:tc>
                  <a:txBody>
                    <a:bodyPr/>
                    <a:lstStyle/>
                    <a:p>
                      <a:pPr marL="0" indent="0">
                        <a:buNone/>
                      </a:pPr>
                      <a:r>
                        <a:rPr lang="en-US" sz="1300" b="1" dirty="0">
                          <a:solidFill>
                            <a:srgbClr val="FFFFFF"/>
                          </a:solidFill>
                          <a:latin typeface="Arial" pitchFamily="34" charset="0"/>
                          <a:ea typeface="Arial" pitchFamily="34" charset="-122"/>
                          <a:cs typeface="Arial" pitchFamily="34" charset="-120"/>
                        </a:rPr>
                        <a:t>What to build</a:t>
                      </a:r>
                      <a:endParaRPr lang="en-US" sz="13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1A1A1A"/>
                          </a:solidFill>
                          <a:latin typeface="Arial" pitchFamily="34" charset="0"/>
                          <a:ea typeface="Arial" pitchFamily="34" charset="-122"/>
                          <a:cs typeface="Arial" pitchFamily="34" charset="-120"/>
                        </a:rPr>
                        <a:t>Fresh Meadows</a:t>
                      </a:r>
                      <a:endParaRPr lang="en-US" sz="1400" dirty="0">
                        <a:latin typeface="Arial" charset="0"/>
                        <a:ea typeface="Arial" charset="0"/>
                        <a:cs typeface="Arial" charset="0"/>
                      </a:endParaRPr>
                    </a:p>
                    <a:p>
                      <a:pPr marL="0" indent="0">
                        <a:buNone/>
                      </a:pPr>
                      <a:r>
                        <a:rPr lang="en-US" sz="1100" dirty="0">
                          <a:solidFill>
                            <a:srgbClr val="5C5C5C"/>
                          </a:solidFill>
                          <a:latin typeface="Arial" pitchFamily="34" charset="0"/>
                          <a:ea typeface="Arial" pitchFamily="34" charset="-122"/>
                          <a:cs typeface="Arial" pitchFamily="34" charset="-120"/>
                        </a:rPr>
                        <a:t>Eastern Queens</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tc>
                  <a:txBody>
                    <a:bodyPr/>
                    <a:lstStyle/>
                    <a:p>
                      <a:pPr marL="0" indent="0">
                        <a:buNone/>
                      </a:pPr>
                      <a:r>
                        <a:rPr lang="en-US" sz="1400" dirty="0">
                          <a:solidFill>
                            <a:srgbClr val="1A1A1A"/>
                          </a:solidFill>
                          <a:latin typeface="Arial" pitchFamily="34" charset="0"/>
                          <a:ea typeface="Arial" pitchFamily="34" charset="-122"/>
                          <a:cs typeface="Arial" pitchFamily="34" charset="-120"/>
                        </a:rPr>
                        <a:t>Long walks to the bus</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tc>
                  <a:txBody>
                    <a:bodyPr/>
                    <a:lstStyle/>
                    <a:p>
                      <a:pPr marL="0" indent="0">
                        <a:buNone/>
                      </a:pPr>
                      <a:r>
                        <a:rPr lang="en-US" sz="1400" dirty="0">
                          <a:solidFill>
                            <a:srgbClr val="1A1A1A"/>
                          </a:solidFill>
                          <a:latin typeface="Arial" pitchFamily="34" charset="0"/>
                          <a:ea typeface="Arial" pitchFamily="34" charset="-122"/>
                          <a:cs typeface="Arial" pitchFamily="34" charset="-120"/>
                        </a:rPr>
                        <a:t>Safer, shorter walks to Q30 stops; better shelters</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1A1A1A"/>
                          </a:solidFill>
                          <a:latin typeface="Arial" pitchFamily="34" charset="0"/>
                          <a:ea typeface="Arial" pitchFamily="34" charset="-122"/>
                          <a:cs typeface="Arial" pitchFamily="34" charset="-120"/>
                        </a:rPr>
                        <a:t>Union Turnpike</a:t>
                      </a:r>
                      <a:endParaRPr lang="en-US" sz="1400" dirty="0">
                        <a:latin typeface="Arial" charset="0"/>
                        <a:ea typeface="Arial" charset="0"/>
                        <a:cs typeface="Arial" charset="0"/>
                      </a:endParaRPr>
                    </a:p>
                    <a:p>
                      <a:pPr marL="0" indent="0">
                        <a:buNone/>
                      </a:pPr>
                      <a:r>
                        <a:rPr lang="en-US" sz="1100" dirty="0">
                          <a:solidFill>
                            <a:srgbClr val="5C5C5C"/>
                          </a:solidFill>
                          <a:latin typeface="Arial" pitchFamily="34" charset="0"/>
                          <a:ea typeface="Arial" pitchFamily="34" charset="-122"/>
                          <a:cs typeface="Arial" pitchFamily="34" charset="-120"/>
                        </a:rPr>
                        <a:t>Eastern Queens</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tc>
                  <a:txBody>
                    <a:bodyPr/>
                    <a:lstStyle/>
                    <a:p>
                      <a:pPr marL="0" indent="0">
                        <a:buNone/>
                      </a:pPr>
                      <a:r>
                        <a:rPr lang="en-US" sz="1400" dirty="0">
                          <a:solidFill>
                            <a:srgbClr val="1A1A1A"/>
                          </a:solidFill>
                          <a:latin typeface="Arial" pitchFamily="34" charset="0"/>
                          <a:ea typeface="Arial" pitchFamily="34" charset="-122"/>
                          <a:cs typeface="Arial" pitchFamily="34" charset="-120"/>
                        </a:rPr>
                        <a:t>Slow feeder bus and transfer</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tc>
                  <a:txBody>
                    <a:bodyPr/>
                    <a:lstStyle/>
                    <a:p>
                      <a:pPr marL="0" indent="0">
                        <a:buNone/>
                      </a:pPr>
                      <a:r>
                        <a:rPr lang="en-US" sz="1400" dirty="0">
                          <a:solidFill>
                            <a:srgbClr val="1A1A1A"/>
                          </a:solidFill>
                          <a:latin typeface="Arial" pitchFamily="34" charset="0"/>
                          <a:ea typeface="Arial" pitchFamily="34" charset="-122"/>
                          <a:cs typeface="Arial" pitchFamily="34" charset="-120"/>
                        </a:rPr>
                        <a:t>Q46 bus lanes and signal priority; sheltered transfer at Kew Gardens</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BEDE7"/>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1A1A1A"/>
                          </a:solidFill>
                          <a:latin typeface="Arial" pitchFamily="34" charset="0"/>
                          <a:ea typeface="Arial" pitchFamily="34" charset="-122"/>
                          <a:cs typeface="Arial" pitchFamily="34" charset="-120"/>
                        </a:rPr>
                        <a:t>Throggs Neck</a:t>
                      </a:r>
                      <a:endParaRPr lang="en-US" sz="1400" dirty="0">
                        <a:latin typeface="Arial" charset="0"/>
                        <a:ea typeface="Arial" charset="0"/>
                        <a:cs typeface="Arial" charset="0"/>
                      </a:endParaRPr>
                    </a:p>
                    <a:p>
                      <a:pPr marL="0" indent="0">
                        <a:buNone/>
                      </a:pPr>
                      <a:r>
                        <a:rPr lang="en-US" sz="1100" dirty="0">
                          <a:solidFill>
                            <a:srgbClr val="5C5C5C"/>
                          </a:solidFill>
                          <a:latin typeface="Arial" pitchFamily="34" charset="0"/>
                          <a:ea typeface="Arial" pitchFamily="34" charset="-122"/>
                          <a:cs typeface="Arial" pitchFamily="34" charset="-120"/>
                        </a:rPr>
                        <a:t>East Bronx</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1A1A1A"/>
                          </a:solidFill>
                          <a:latin typeface="Arial" pitchFamily="34" charset="0"/>
                          <a:ea typeface="Arial" pitchFamily="34" charset="-122"/>
                          <a:cs typeface="Arial" pitchFamily="34" charset="-120"/>
                        </a:rPr>
                        <a:t>16-minute feeder bus</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1A1A1A"/>
                          </a:solidFill>
                          <a:latin typeface="Arial" pitchFamily="34" charset="0"/>
                          <a:ea typeface="Arial" pitchFamily="34" charset="-122"/>
                          <a:cs typeface="Arial" pitchFamily="34" charset="-120"/>
                        </a:rPr>
                        <a:t>Measure Bx8 delays, then a bus lane on Crosby Ave</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1A1A1A"/>
                          </a:solidFill>
                          <a:latin typeface="Arial" pitchFamily="34" charset="0"/>
                          <a:ea typeface="Arial" pitchFamily="34" charset="-122"/>
                          <a:cs typeface="Arial" pitchFamily="34" charset="-120"/>
                        </a:rPr>
                        <a:t>Rosedale</a:t>
                      </a:r>
                      <a:endParaRPr lang="en-US" sz="1400" dirty="0">
                        <a:latin typeface="Arial" charset="0"/>
                        <a:ea typeface="Arial" charset="0"/>
                        <a:cs typeface="Arial" charset="0"/>
                      </a:endParaRPr>
                    </a:p>
                    <a:p>
                      <a:pPr marL="0" indent="0">
                        <a:buNone/>
                      </a:pPr>
                      <a:r>
                        <a:rPr lang="en-US" sz="1100" dirty="0">
                          <a:solidFill>
                            <a:srgbClr val="5C5C5C"/>
                          </a:solidFill>
                          <a:latin typeface="Arial" pitchFamily="34" charset="0"/>
                          <a:ea typeface="Arial" pitchFamily="34" charset="-122"/>
                          <a:cs typeface="Arial" pitchFamily="34" charset="-120"/>
                        </a:rPr>
                        <a:t>Southeast Queens</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1A1A1A"/>
                          </a:solidFill>
                          <a:latin typeface="Arial" pitchFamily="34" charset="0"/>
                          <a:ea typeface="Arial" pitchFamily="34" charset="-122"/>
                          <a:cs typeface="Arial" pitchFamily="34" charset="-120"/>
                        </a:rPr>
                        <a:t>Outdoor transfer and a 2nd fare</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buNone/>
                      </a:pPr>
                      <a:r>
                        <a:rPr lang="en-US" sz="1400" dirty="0">
                          <a:solidFill>
                            <a:srgbClr val="1A1A1A"/>
                          </a:solidFill>
                          <a:latin typeface="Arial" pitchFamily="34" charset="0"/>
                          <a:ea typeface="Arial" pitchFamily="34" charset="-122"/>
                          <a:cs typeface="Arial" pitchFamily="34" charset="-120"/>
                        </a:rPr>
                        <a:t>Covered LIRR–A train link at Nostrand Ave; cheaper transfer fare</a:t>
                      </a:r>
                      <a:endParaRPr lang="en-US" sz="1400" dirty="0">
                        <a:latin typeface="Arial" charset="0"/>
                        <a:ea typeface="Arial" charset="0"/>
                        <a:cs typeface="Arial" charset="0"/>
                      </a:endParaRPr>
                    </a:p>
                  </a:txBody>
                  <a:tcPr marL="127000" marR="1270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ource"/>
          <p:cNvSpPr txBox="1"/>
          <p:nvPr/>
        </p:nvSpPr>
        <p:spPr>
          <a:xfrm>
            <a:off x="548640" y="6272784"/>
            <a:ext cx="7863840" cy="411480"/>
          </a:xfrm>
          <a:prstGeom prst="rect">
            <a:avLst/>
          </a:prstGeom>
          <a:noFill/>
          <a:ln/>
        </p:spPr>
        <p:txBody>
          <a:bodyPr wrap="square" lIns="0" tIns="0" rIns="0" bIns="0" rtlCol="0" anchor="t"/>
          <a:lstStyle/>
          <a:p>
            <a:pPr marL="0" indent="0">
              <a:buNone/>
            </a:pPr>
            <a:r>
              <a:rPr lang="en-US" sz="900" dirty="0">
                <a:solidFill>
                  <a:schemeClr val="accent4"/>
                </a:solidFill>
              </a:rPr>
              <a:t>Sources: Census LODES 2023 and ACS 2018–2022; OpenTripPlanner journeys M01, M02, M07; Stage 5 scenario model. Note: [$__M] = cost estimate to be confirmed with MTA and NYC DOT.</a:t>
            </a:r>
            <a:endParaRPr lang="en-US" sz="900" dirty="0"/>
          </a:p>
        </p:txBody>
      </p:sp>
      <p:sp>
        <p:nvSpPr>
          <p:cNvPr id="6" name="exhibit link">
            <a:hlinkClick r:id="rId3" tooltip="Exhibit 6: decision framework"/>
          </p:cNvPr>
          <p:cNvSpPr/>
          <p:nvPr/>
        </p:nvSpPr>
        <p:spPr>
          <a:xfrm>
            <a:off x="8641080" y="6291072"/>
            <a:ext cx="2514600" cy="310896"/>
          </a:xfrm>
          <a:prstGeom prst="rect">
            <a:avLst/>
          </a:prstGeom>
          <a:solidFill>
            <a:schemeClr val="accent1"/>
          </a:solidFill>
          <a:ln/>
        </p:spPr>
        <p:txBody>
          <a:bodyPr wrap="square" lIns="0" tIns="0" rIns="0" bIns="0" rtlCol="0" anchor="ctr"/>
          <a:lstStyle/>
          <a:p>
            <a:pPr marL="0" indent="0" algn="ctr">
              <a:buNone/>
            </a:pPr>
            <a:r>
              <a:rPr lang="en-US" sz="1100" b="1" u="sng" dirty="0">
                <a:solidFill>
                  <a:schemeClr val="bg1"/>
                </a:solidFill>
                <a:hlinkClick r:id="rId3" tooltip="Exhibit 6: decision framework">
                  <a:extLst>
                    <a:ext uri="{A12FA001-AC4F-418D-AE19-62706E023703}">
                      <ahyp:hlinkClr xmlns:ahyp="http://schemas.microsoft.com/office/drawing/2018/hyperlinkcolor" val="tx"/>
                    </a:ext>
                  </a:extLst>
                </a:hlinkClick>
              </a:rPr>
              <a:t>Open interactive exhibit  ↗</a:t>
            </a:r>
            <a:endParaRPr lang="en-US" sz="1100" dirty="0"/>
          </a:p>
        </p:txBody>
      </p:sp>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On Union Turnpike, faster buses and easier transfers would save 6–12.5 minutes a trip in a model test</a:t>
            </a:r>
            <a:endParaRPr lang="en-US" sz="2400" dirty="0"/>
          </a:p>
        </p:txBody>
      </p:sp>
      <p:sp>
        <p:nvSpPr>
          <p:cNvPr id="3" name="Text 0"/>
          <p:cNvSpPr>
            <a:spLocks noGrp="1"/>
          </p:cNvSpPr>
          <p:nvPr>
            <p:ph type="body" idx="101" hasCustomPrompt="1"/>
          </p:nvPr>
        </p:nvSpPr>
        <p:spPr>
          <a:xfrm>
            <a:off x="548640" y="1298448"/>
            <a:ext cx="11094415" cy="347472"/>
          </a:xfrm>
          <a:prstGeom prst="rect">
            <a:avLst/>
          </a:prstGeom>
          <a:noFill/>
          <a:ln/>
        </p:spPr>
        <p:txBody>
          <a:bodyPr wrap="square" lIns="0" tIns="0" rIns="0" bIns="0" rtlCol="0" anchor="t"/>
          <a:lstStyle/>
          <a:p>
            <a:pPr marL="0" indent="0">
              <a:buNone/>
            </a:pPr>
            <a:r>
              <a:rPr lang="en-US" sz="1400" dirty="0">
                <a:solidFill>
                  <a:schemeClr val="accent4"/>
                </a:solidFill>
              </a:rPr>
              <a:t>Six origins along Union Turnpike to Midtown East. A what-if model, not a ridership forecast.</a:t>
            </a:r>
            <a:endParaRPr lang="en-US" sz="1400" dirty="0"/>
          </a:p>
        </p:txBody>
      </p:sp>
      <p:sp>
        <p:nvSpPr>
          <p:cNvPr id="4" name="panel"/>
          <p:cNvSpPr/>
          <p:nvPr/>
        </p:nvSpPr>
        <p:spPr>
          <a:xfrm>
            <a:off x="548640" y="1783080"/>
            <a:ext cx="6766560" cy="4206240"/>
          </a:xfrm>
          <a:prstGeom prst="rect">
            <a:avLst/>
          </a:prstGeom>
          <a:solidFill>
            <a:schemeClr val="bg2"/>
          </a:solidFill>
          <a:ln/>
        </p:spPr>
      </p:sp>
      <p:sp>
        <p:nvSpPr>
          <p:cNvPr id="5" name="Text 3"/>
          <p:cNvSpPr txBox="1"/>
          <p:nvPr/>
        </p:nvSpPr>
        <p:spPr>
          <a:xfrm>
            <a:off x="777240" y="1947672"/>
            <a:ext cx="6309360" cy="292608"/>
          </a:xfrm>
          <a:prstGeom prst="rect">
            <a:avLst/>
          </a:prstGeom>
          <a:noFill/>
          <a:ln/>
        </p:spPr>
        <p:txBody>
          <a:bodyPr wrap="square" lIns="0" tIns="0" rIns="0" bIns="0" rtlCol="0" anchor="ctr"/>
          <a:lstStyle/>
          <a:p>
            <a:pPr marL="0" indent="0">
              <a:buNone/>
            </a:pPr>
            <a:r>
              <a:rPr lang="en-US" sz="1400" b="1" dirty="0">
                <a:solidFill>
                  <a:schemeClr val="tx1"/>
                </a:solidFill>
              </a:rPr>
              <a:t>Door-to-door trip time (minutes)</a:t>
            </a:r>
            <a:endParaRPr lang="en-US" sz="1400" dirty="0"/>
          </a:p>
        </p:txBody>
      </p:sp>
      <p:graphicFrame>
        <p:nvGraphicFramePr>
          <p:cNvPr id="6" name="Chart 0"/>
          <p:cNvGraphicFramePr/>
          <p:nvPr/>
        </p:nvGraphicFramePr>
        <p:xfrm>
          <a:off x="685800" y="2286000"/>
          <a:ext cx="64922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panel"/>
          <p:cNvSpPr/>
          <p:nvPr/>
        </p:nvSpPr>
        <p:spPr>
          <a:xfrm>
            <a:off x="7589520" y="1783080"/>
            <a:ext cx="4053535" cy="1234440"/>
          </a:xfrm>
          <a:prstGeom prst="rect">
            <a:avLst/>
          </a:prstGeom>
          <a:solidFill>
            <a:schemeClr val="bg2"/>
          </a:solidFill>
          <a:ln/>
        </p:spPr>
      </p:sp>
      <p:sp>
        <p:nvSpPr>
          <p:cNvPr id="8" name="Text 5"/>
          <p:cNvSpPr txBox="1"/>
          <p:nvPr/>
        </p:nvSpPr>
        <p:spPr>
          <a:xfrm>
            <a:off x="7818120" y="1920240"/>
            <a:ext cx="3596335" cy="594360"/>
          </a:xfrm>
          <a:prstGeom prst="rect">
            <a:avLst/>
          </a:prstGeom>
          <a:noFill/>
          <a:ln/>
        </p:spPr>
        <p:txBody>
          <a:bodyPr wrap="square" lIns="0" tIns="0" rIns="0" bIns="0" rtlCol="0" anchor="ctr"/>
          <a:lstStyle/>
          <a:p>
            <a:pPr marL="0" indent="0">
              <a:buNone/>
            </a:pPr>
            <a:r>
              <a:rPr lang="en-US" sz="3600" b="1" dirty="0">
                <a:solidFill>
                  <a:schemeClr val="accent2"/>
                </a:solidFill>
              </a:rPr>
              <a:t>8.7 min</a:t>
            </a:r>
            <a:endParaRPr lang="en-US" sz="3600" dirty="0"/>
          </a:p>
        </p:txBody>
      </p:sp>
      <p:sp>
        <p:nvSpPr>
          <p:cNvPr id="9" name="Text 6"/>
          <p:cNvSpPr txBox="1"/>
          <p:nvPr/>
        </p:nvSpPr>
        <p:spPr>
          <a:xfrm>
            <a:off x="7818120" y="2532888"/>
            <a:ext cx="3596335" cy="320040"/>
          </a:xfrm>
          <a:prstGeom prst="rect">
            <a:avLst/>
          </a:prstGeom>
          <a:noFill/>
          <a:ln/>
        </p:spPr>
        <p:txBody>
          <a:bodyPr wrap="square" lIns="0" tIns="0" rIns="0" bIns="0" rtlCol="0" anchor="ctr"/>
          <a:lstStyle/>
          <a:p>
            <a:pPr marL="0" indent="0">
              <a:buNone/>
            </a:pPr>
            <a:r>
              <a:rPr lang="en-US" sz="1400" dirty="0">
                <a:solidFill>
                  <a:schemeClr val="tx1"/>
                </a:solidFill>
              </a:rPr>
              <a:t>average time saved per trip (13.5%)</a:t>
            </a:r>
            <a:endParaRPr lang="en-US" sz="1400" dirty="0"/>
          </a:p>
        </p:txBody>
      </p:sp>
      <p:sp>
        <p:nvSpPr>
          <p:cNvPr id="10" name="panel"/>
          <p:cNvSpPr/>
          <p:nvPr/>
        </p:nvSpPr>
        <p:spPr>
          <a:xfrm>
            <a:off x="7589520" y="3291840"/>
            <a:ext cx="4053535" cy="1234440"/>
          </a:xfrm>
          <a:prstGeom prst="rect">
            <a:avLst/>
          </a:prstGeom>
          <a:solidFill>
            <a:schemeClr val="bg2"/>
          </a:solidFill>
          <a:ln/>
        </p:spPr>
      </p:sp>
      <p:sp>
        <p:nvSpPr>
          <p:cNvPr id="11" name="Text 8"/>
          <p:cNvSpPr txBox="1"/>
          <p:nvPr/>
        </p:nvSpPr>
        <p:spPr>
          <a:xfrm>
            <a:off x="7818120" y="3429000"/>
            <a:ext cx="3596335" cy="960120"/>
          </a:xfrm>
          <a:prstGeom prst="rect">
            <a:avLst/>
          </a:prstGeom>
          <a:noFill/>
          <a:ln/>
        </p:spPr>
        <p:txBody>
          <a:bodyPr wrap="square" lIns="0" tIns="0" rIns="0" bIns="0" rtlCol="0" anchor="t"/>
          <a:lstStyle/>
          <a:p>
            <a:pPr marL="0" indent="0">
              <a:spcAft>
                <a:spcPts val="400"/>
              </a:spcAft>
              <a:buNone/>
            </a:pPr>
            <a:r>
              <a:rPr lang="en-US" sz="1300" b="1" dirty="0">
                <a:solidFill>
                  <a:schemeClr val="tx1"/>
                </a:solidFill>
              </a:rPr>
              <a:t>Where the saving comes from</a:t>
            </a:r>
            <a:endParaRPr lang="en-US" sz="1300" dirty="0"/>
          </a:p>
          <a:p>
            <a:pPr marL="152400" indent="-152400">
              <a:buSzPct val="100000"/>
              <a:buChar char="•"/>
            </a:pPr>
            <a:r>
              <a:rPr lang="en-US" sz="1300" dirty="0">
                <a:solidFill>
                  <a:schemeClr val="tx1"/>
                </a:solidFill>
              </a:rPr>
              <a:t>Faster buses (+30% speed): 3.2–9.5 min</a:t>
            </a:r>
            <a:endParaRPr lang="en-US" sz="1300" dirty="0"/>
          </a:p>
          <a:p>
            <a:pPr marL="152400" indent="-152400">
              <a:buSzPct val="100000"/>
              <a:buChar char="•"/>
            </a:pPr>
            <a:r>
              <a:rPr lang="en-US" sz="1300" dirty="0">
                <a:solidFill>
                  <a:schemeClr val="tx1"/>
                </a:solidFill>
              </a:rPr>
              <a:t>Easier transfer: 3.0 min on every trip</a:t>
            </a:r>
            <a:endParaRPr lang="en-US" sz="1300" dirty="0"/>
          </a:p>
        </p:txBody>
      </p:sp>
      <p:sp>
        <p:nvSpPr>
          <p:cNvPr id="12" name="panel"/>
          <p:cNvSpPr/>
          <p:nvPr/>
        </p:nvSpPr>
        <p:spPr>
          <a:xfrm>
            <a:off x="7589520" y="4800600"/>
            <a:ext cx="4053535" cy="1188720"/>
          </a:xfrm>
          <a:prstGeom prst="rect">
            <a:avLst/>
          </a:prstGeom>
          <a:solidFill>
            <a:schemeClr val="bg2"/>
          </a:solidFill>
          <a:ln/>
        </p:spPr>
      </p:sp>
      <p:sp>
        <p:nvSpPr>
          <p:cNvPr id="13" name="Text 10"/>
          <p:cNvSpPr txBox="1"/>
          <p:nvPr/>
        </p:nvSpPr>
        <p:spPr>
          <a:xfrm>
            <a:off x="7818120" y="4892040"/>
            <a:ext cx="3596335" cy="1005840"/>
          </a:xfrm>
          <a:prstGeom prst="rect">
            <a:avLst/>
          </a:prstGeom>
          <a:noFill/>
          <a:ln/>
        </p:spPr>
        <p:txBody>
          <a:bodyPr wrap="square" lIns="0" tIns="0" rIns="0" bIns="0" rtlCol="0" anchor="ctr"/>
          <a:lstStyle/>
          <a:p>
            <a:pPr marL="0" indent="0">
              <a:buNone/>
            </a:pPr>
            <a:r>
              <a:rPr lang="en-US" sz="1300" b="1" dirty="0">
                <a:solidFill>
                  <a:srgbClr val="A8441F"/>
                </a:solidFill>
              </a:rPr>
              <a:t>Read with care</a:t>
            </a:r>
            <a:endParaRPr lang="en-US" sz="1300" dirty="0"/>
          </a:p>
          <a:p>
            <a:pPr marL="0" indent="0">
              <a:buNone/>
            </a:pPr>
            <a:r>
              <a:rPr lang="en-US" sz="1300" dirty="0">
                <a:solidFill>
                  <a:schemeClr val="tx1"/>
                </a:solidFill>
              </a:rPr>
              <a:t>Trips still take 46–70 min. Covers the Q46 only, not Fresh Meadows walking.</a:t>
            </a:r>
            <a:endParaRPr lang="en-US" sz="1300" dirty="0"/>
          </a:p>
        </p:txBody>
      </p:sp>
      <p:sp>
        <p:nvSpPr>
          <p:cNvPr id="14" name="source"/>
          <p:cNvSpPr txBox="1"/>
          <p:nvPr/>
        </p:nvSpPr>
        <p:spPr>
          <a:xfrm>
            <a:off x="548640" y="6272784"/>
            <a:ext cx="7863840" cy="411480"/>
          </a:xfrm>
          <a:prstGeom prst="rect">
            <a:avLst/>
          </a:prstGeom>
          <a:noFill/>
          <a:ln/>
        </p:spPr>
        <p:txBody>
          <a:bodyPr wrap="square" lIns="0" tIns="0" rIns="0" bIns="0" rtlCol="0" anchor="t"/>
          <a:lstStyle/>
          <a:p>
            <a:pPr marL="0" indent="0">
              <a:buNone/>
            </a:pPr>
            <a:r>
              <a:rPr lang="en-US" sz="900" dirty="0">
                <a:solidFill>
                  <a:schemeClr val="accent4"/>
                </a:solidFill>
              </a:rPr>
              <a:t>Source: Stage 5 scenario model (stage5_od_scenario_results.csv); OpenTripPlanner baselines. Note: assumes the Q46 runs 30% faster and transfers take 3 min less.</a:t>
            </a:r>
            <a:endParaRPr lang="en-US" sz="900" dirty="0"/>
          </a:p>
        </p:txBody>
      </p:sp>
      <p:sp>
        <p:nvSpPr>
          <p:cNvPr id="15" name="exhibit link">
            <a:hlinkClick r:id="rId4" tooltip="Exhibit 5: improvement scenarios"/>
          </p:cNvPr>
          <p:cNvSpPr/>
          <p:nvPr/>
        </p:nvSpPr>
        <p:spPr>
          <a:xfrm>
            <a:off x="8641080" y="6291072"/>
            <a:ext cx="2514600" cy="310896"/>
          </a:xfrm>
          <a:prstGeom prst="rect">
            <a:avLst/>
          </a:prstGeom>
          <a:solidFill>
            <a:schemeClr val="accent1"/>
          </a:solidFill>
          <a:ln/>
        </p:spPr>
        <p:txBody>
          <a:bodyPr wrap="square" lIns="0" tIns="0" rIns="0" bIns="0" rtlCol="0" anchor="ctr"/>
          <a:lstStyle/>
          <a:p>
            <a:pPr marL="0" indent="0" algn="ctr">
              <a:buNone/>
            </a:pPr>
            <a:r>
              <a:rPr lang="en-US" sz="1100" b="1" u="sng" dirty="0">
                <a:solidFill>
                  <a:schemeClr val="bg1"/>
                </a:solidFill>
                <a:hlinkClick r:id="rId4" tooltip="Exhibit 5: improvement scenarios">
                  <a:extLst>
                    <a:ext uri="{A12FA001-AC4F-418D-AE19-62706E023703}">
                      <ahyp:hlinkClr xmlns:ahyp="http://schemas.microsoft.com/office/drawing/2018/hyperlinkcolor" val="tx"/>
                    </a:ext>
                  </a:extLst>
                </a:hlinkClick>
              </a:rPr>
              <a:t>Open interactive exhibit  ↗</a:t>
            </a:r>
            <a:endParaRPr lang="en-US" sz="1100" dirty="0"/>
          </a:p>
        </p:txBody>
      </p:sp>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Three decisions today would let work start within 90 days</a:t>
            </a:r>
            <a:endParaRPr lang="en-US" sz="2400" dirty="0"/>
          </a:p>
        </p:txBody>
      </p:sp>
      <p:sp>
        <p:nvSpPr>
          <p:cNvPr id="3" name="Text 0"/>
          <p:cNvSpPr>
            <a:spLocks noGrp="1"/>
          </p:cNvSpPr>
          <p:nvPr>
            <p:ph type="body" idx="101" hasCustomPrompt="1"/>
          </p:nvPr>
        </p:nvSpPr>
        <p:spPr>
          <a:xfrm>
            <a:off x="548640" y="1298448"/>
            <a:ext cx="11094415" cy="347472"/>
          </a:xfrm>
          <a:prstGeom prst="rect">
            <a:avLst/>
          </a:prstGeom>
          <a:noFill/>
          <a:ln/>
        </p:spPr>
        <p:txBody>
          <a:bodyPr wrap="square" lIns="0" tIns="0" rIns="0" bIns="0" rtlCol="0" anchor="t"/>
          <a:lstStyle/>
          <a:p>
            <a:pPr marL="0" indent="0">
              <a:buNone/>
            </a:pPr>
            <a:r>
              <a:rPr lang="en-US" sz="1400" dirty="0">
                <a:solidFill>
                  <a:schemeClr val="accent4"/>
                </a:solidFill>
              </a:rPr>
              <a:t>Decisions requested from this meeting, and the first actions that follow.</a:t>
            </a:r>
            <a:endParaRPr lang="en-US" sz="1400" dirty="0"/>
          </a:p>
        </p:txBody>
      </p:sp>
      <p:sp>
        <p:nvSpPr>
          <p:cNvPr id="4" name="Text 2"/>
          <p:cNvSpPr txBox="1"/>
          <p:nvPr/>
        </p:nvSpPr>
        <p:spPr>
          <a:xfrm>
            <a:off x="548640" y="1783080"/>
            <a:ext cx="4937760"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DECISIONS REQUESTED</a:t>
            </a:r>
            <a:endParaRPr lang="en-US" sz="1100" dirty="0"/>
          </a:p>
        </p:txBody>
      </p:sp>
      <p:sp>
        <p:nvSpPr>
          <p:cNvPr id="5" name="rule"/>
          <p:cNvSpPr/>
          <p:nvPr/>
        </p:nvSpPr>
        <p:spPr>
          <a:xfrm>
            <a:off x="548640" y="2148840"/>
            <a:ext cx="4937760" cy="0"/>
          </a:xfrm>
          <a:prstGeom prst="line">
            <a:avLst/>
          </a:prstGeom>
          <a:noFill/>
          <a:ln w="9525">
            <a:solidFill>
              <a:srgbClr val="2B2B2B"/>
            </a:solidFill>
            <a:prstDash val="solid"/>
          </a:ln>
        </p:spPr>
      </p:sp>
      <p:sp>
        <p:nvSpPr>
          <p:cNvPr id="6" name="Text 4"/>
          <p:cNvSpPr txBox="1"/>
          <p:nvPr/>
        </p:nvSpPr>
        <p:spPr>
          <a:xfrm>
            <a:off x="548640" y="2258568"/>
            <a:ext cx="548640" cy="411480"/>
          </a:xfrm>
          <a:prstGeom prst="rect">
            <a:avLst/>
          </a:prstGeom>
          <a:noFill/>
          <a:ln/>
        </p:spPr>
        <p:txBody>
          <a:bodyPr wrap="square" lIns="0" tIns="0" rIns="0" bIns="0" rtlCol="0" anchor="t"/>
          <a:lstStyle/>
          <a:p>
            <a:pPr marL="0" indent="0">
              <a:buNone/>
            </a:pPr>
            <a:r>
              <a:rPr lang="en-US" sz="2200" b="1" dirty="0">
                <a:solidFill>
                  <a:schemeClr val="accent2"/>
                </a:solidFill>
              </a:rPr>
              <a:t>01</a:t>
            </a:r>
            <a:endParaRPr lang="en-US" sz="2200" dirty="0"/>
          </a:p>
        </p:txBody>
      </p:sp>
      <p:sp>
        <p:nvSpPr>
          <p:cNvPr id="7" name="Text 5"/>
          <p:cNvSpPr txBox="1"/>
          <p:nvPr/>
        </p:nvSpPr>
        <p:spPr>
          <a:xfrm>
            <a:off x="1188720" y="2258568"/>
            <a:ext cx="4297680" cy="96012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Approve Phase 1 in Eastern Queens</a:t>
            </a:r>
            <a:endParaRPr lang="en-US" sz="1500" dirty="0"/>
          </a:p>
          <a:p>
            <a:pPr marL="0" indent="0">
              <a:buNone/>
            </a:pPr>
            <a:r>
              <a:rPr lang="en-US" sz="1300" dirty="0">
                <a:solidFill>
                  <a:srgbClr val="5C5C5C"/>
                </a:solidFill>
              </a:rPr>
              <a:t>Q46 bus priority, Fresh Meadows walk access and the Kew Gardens transfer. Budget [$__M].</a:t>
            </a:r>
            <a:endParaRPr lang="en-US" sz="1500" dirty="0"/>
          </a:p>
        </p:txBody>
      </p:sp>
      <p:sp>
        <p:nvSpPr>
          <p:cNvPr id="8" name="rule"/>
          <p:cNvSpPr/>
          <p:nvPr/>
        </p:nvSpPr>
        <p:spPr>
          <a:xfrm>
            <a:off x="548640" y="3337560"/>
            <a:ext cx="4937760" cy="0"/>
          </a:xfrm>
          <a:prstGeom prst="line">
            <a:avLst/>
          </a:prstGeom>
          <a:noFill/>
          <a:ln w="9525">
            <a:solidFill>
              <a:srgbClr val="2B2B2B"/>
            </a:solidFill>
            <a:prstDash val="solid"/>
          </a:ln>
        </p:spPr>
      </p:sp>
      <p:sp>
        <p:nvSpPr>
          <p:cNvPr id="9" name="Text 7"/>
          <p:cNvSpPr txBox="1"/>
          <p:nvPr/>
        </p:nvSpPr>
        <p:spPr>
          <a:xfrm>
            <a:off x="548640" y="3447288"/>
            <a:ext cx="548640" cy="411480"/>
          </a:xfrm>
          <a:prstGeom prst="rect">
            <a:avLst/>
          </a:prstGeom>
          <a:noFill/>
          <a:ln/>
        </p:spPr>
        <p:txBody>
          <a:bodyPr wrap="square" lIns="0" tIns="0" rIns="0" bIns="0" rtlCol="0" anchor="t"/>
          <a:lstStyle/>
          <a:p>
            <a:pPr marL="0" indent="0">
              <a:buNone/>
            </a:pPr>
            <a:r>
              <a:rPr lang="en-US" sz="2200" b="1" dirty="0">
                <a:solidFill>
                  <a:schemeClr val="accent2"/>
                </a:solidFill>
              </a:rPr>
              <a:t>02</a:t>
            </a:r>
            <a:endParaRPr lang="en-US" sz="2200" dirty="0"/>
          </a:p>
        </p:txBody>
      </p:sp>
      <p:sp>
        <p:nvSpPr>
          <p:cNvPr id="10" name="Text 8"/>
          <p:cNvSpPr txBox="1"/>
          <p:nvPr/>
        </p:nvSpPr>
        <p:spPr>
          <a:xfrm>
            <a:off x="1188720" y="3447288"/>
            <a:ext cx="4297680" cy="96012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Fund delay measurement on the Bx8 and Q30</a:t>
            </a:r>
            <a:endParaRPr lang="en-US" sz="1500" dirty="0"/>
          </a:p>
          <a:p>
            <a:pPr marL="0" indent="0">
              <a:buNone/>
            </a:pPr>
            <a:r>
              <a:rPr lang="en-US" sz="1300" dirty="0">
                <a:solidFill>
                  <a:srgbClr val="5C5C5C"/>
                </a:solidFill>
              </a:rPr>
              <a:t>Speed and on-time data before any construction in the Bronx.</a:t>
            </a:r>
            <a:endParaRPr lang="en-US" sz="1500" dirty="0"/>
          </a:p>
        </p:txBody>
      </p:sp>
      <p:sp>
        <p:nvSpPr>
          <p:cNvPr id="11" name="rule"/>
          <p:cNvSpPr/>
          <p:nvPr/>
        </p:nvSpPr>
        <p:spPr>
          <a:xfrm>
            <a:off x="548640" y="4526280"/>
            <a:ext cx="4937760" cy="0"/>
          </a:xfrm>
          <a:prstGeom prst="line">
            <a:avLst/>
          </a:prstGeom>
          <a:noFill/>
          <a:ln w="9525">
            <a:solidFill>
              <a:srgbClr val="2B2B2B"/>
            </a:solidFill>
            <a:prstDash val="solid"/>
          </a:ln>
        </p:spPr>
      </p:sp>
      <p:sp>
        <p:nvSpPr>
          <p:cNvPr id="12" name="Text 10"/>
          <p:cNvSpPr txBox="1"/>
          <p:nvPr/>
        </p:nvSpPr>
        <p:spPr>
          <a:xfrm>
            <a:off x="548640" y="4636008"/>
            <a:ext cx="548640" cy="411480"/>
          </a:xfrm>
          <a:prstGeom prst="rect">
            <a:avLst/>
          </a:prstGeom>
          <a:noFill/>
          <a:ln/>
        </p:spPr>
        <p:txBody>
          <a:bodyPr wrap="square" lIns="0" tIns="0" rIns="0" bIns="0" rtlCol="0" anchor="t"/>
          <a:lstStyle/>
          <a:p>
            <a:pPr marL="0" indent="0">
              <a:buNone/>
            </a:pPr>
            <a:r>
              <a:rPr lang="en-US" sz="2200" b="1" dirty="0">
                <a:solidFill>
                  <a:schemeClr val="accent2"/>
                </a:solidFill>
              </a:rPr>
              <a:t>03</a:t>
            </a:r>
            <a:endParaRPr lang="en-US" sz="2200" dirty="0"/>
          </a:p>
        </p:txBody>
      </p:sp>
      <p:sp>
        <p:nvSpPr>
          <p:cNvPr id="13" name="Text 11"/>
          <p:cNvSpPr txBox="1"/>
          <p:nvPr/>
        </p:nvSpPr>
        <p:spPr>
          <a:xfrm>
            <a:off x="1188720" y="4636008"/>
            <a:ext cx="4297680" cy="960120"/>
          </a:xfrm>
          <a:prstGeom prst="rect">
            <a:avLst/>
          </a:prstGeom>
          <a:noFill/>
          <a:ln/>
        </p:spPr>
        <p:txBody>
          <a:bodyPr wrap="square" lIns="0" tIns="0" rIns="0" bIns="0" rtlCol="0" anchor="t"/>
          <a:lstStyle/>
          <a:p>
            <a:pPr marL="0" indent="0">
              <a:spcAft>
                <a:spcPts val="300"/>
              </a:spcAft>
              <a:buNone/>
            </a:pPr>
            <a:r>
              <a:rPr lang="en-US" sz="1500" b="1" dirty="0">
                <a:solidFill>
                  <a:schemeClr val="tx1"/>
                </a:solidFill>
              </a:rPr>
              <a:t>Agree how success is judged</a:t>
            </a:r>
            <a:endParaRPr lang="en-US" sz="1500" dirty="0"/>
          </a:p>
          <a:p>
            <a:pPr marL="0" indent="0">
              <a:buNone/>
            </a:pPr>
            <a:r>
              <a:rPr lang="en-US" sz="1300" dirty="0">
                <a:solidFill>
                  <a:srgbClr val="5C5C5C"/>
                </a:solidFill>
              </a:rPr>
              <a:t>Five measures and a control road (Hillside Ave), reported to the MTA Board.</a:t>
            </a:r>
            <a:endParaRPr lang="en-US" sz="1500" dirty="0"/>
          </a:p>
        </p:txBody>
      </p:sp>
      <p:sp>
        <p:nvSpPr>
          <p:cNvPr id="14" name="Text 12"/>
          <p:cNvSpPr txBox="1"/>
          <p:nvPr/>
        </p:nvSpPr>
        <p:spPr>
          <a:xfrm>
            <a:off x="5760720" y="1783080"/>
            <a:ext cx="5882335" cy="274320"/>
          </a:xfrm>
          <a:prstGeom prst="rect">
            <a:avLst/>
          </a:prstGeom>
          <a:noFill/>
          <a:ln/>
        </p:spPr>
        <p:txBody>
          <a:bodyPr wrap="square" lIns="0" tIns="0" rIns="0" bIns="0" rtlCol="0" anchor="ctr"/>
          <a:lstStyle/>
          <a:p>
            <a:pPr marL="0" indent="0">
              <a:buNone/>
            </a:pPr>
            <a:r>
              <a:rPr lang="en-US" sz="1100" b="1" kern="0" spc="100" dirty="0">
                <a:solidFill>
                  <a:schemeClr val="accent2"/>
                </a:solidFill>
              </a:rPr>
              <a:t>NEXT 90 DAYS</a:t>
            </a:r>
            <a:endParaRPr lang="en-US" sz="1100" dirty="0"/>
          </a:p>
        </p:txBody>
      </p:sp>
      <p:graphicFrame>
        <p:nvGraphicFramePr>
          <p:cNvPr id="15" name="next steps"/>
          <p:cNvGraphicFramePr>
            <a:graphicFrameLocks noGrp="1"/>
          </p:cNvGraphicFramePr>
          <p:nvPr>
            <p:extLst>
              <p:ext uri="{D42A27DB-BD31-4B8C-83A1-F6EECF244321}">
                <p14:modId xmlns:p14="http://schemas.microsoft.com/office/powerpoint/2010/main" val="2521377944"/>
              </p:ext>
            </p:extLst>
          </p:nvPr>
        </p:nvGraphicFramePr>
        <p:xfrm>
          <a:off x="5760720" y="2148840"/>
          <a:ext cx="5145578" cy="2898646"/>
        </p:xfrm>
        <a:graphic>
          <a:graphicData uri="http://schemas.openxmlformats.org/drawingml/2006/table">
            <a:tbl>
              <a:tblPr/>
              <a:tblGrid>
                <a:gridCol w="5145578">
                  <a:extLst>
                    <a:ext uri="{9D8B030D-6E8A-4147-A177-3AD203B41FA5}">
                      <a16:colId xmlns:a16="http://schemas.microsoft.com/office/drawing/2014/main" val="20000"/>
                    </a:ext>
                  </a:extLst>
                </a:gridCol>
              </a:tblGrid>
              <a:tr h="351351">
                <a:tc>
                  <a:txBody>
                    <a:bodyPr/>
                    <a:lstStyle/>
                    <a:p>
                      <a:pPr marL="0" indent="0">
                        <a:buNone/>
                      </a:pPr>
                      <a:r>
                        <a:rPr lang="en-US" sz="1200" b="1" dirty="0">
                          <a:solidFill>
                            <a:srgbClr val="FFFFFF"/>
                          </a:solidFill>
                          <a:latin typeface="Arial" pitchFamily="34" charset="0"/>
                          <a:ea typeface="Arial" pitchFamily="34" charset="-122"/>
                          <a:cs typeface="Arial" pitchFamily="34" charset="-120"/>
                        </a:rPr>
                        <a:t>Action</a:t>
                      </a:r>
                      <a:endParaRPr lang="en-US" sz="1200" dirty="0">
                        <a:latin typeface="Arial" charset="0"/>
                        <a:ea typeface="Arial" charset="0"/>
                        <a:cs typeface="Arial" charset="0"/>
                      </a:endParaRPr>
                    </a:p>
                  </a:txBody>
                  <a:tcPr marL="101600" marR="101600" marT="76200" marB="762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2B2B2B"/>
                    </a:solidFill>
                  </a:tcPr>
                </a:tc>
                <a:extLst>
                  <a:ext uri="{0D108BD9-81ED-4DB2-BD59-A6C34878D82A}">
                    <a16:rowId xmlns:a16="http://schemas.microsoft.com/office/drawing/2014/main" val="10000"/>
                  </a:ext>
                </a:extLst>
              </a:tr>
              <a:tr h="509459">
                <a:tc>
                  <a:txBody>
                    <a:bodyPr/>
                    <a:lstStyle/>
                    <a:p>
                      <a:pPr marL="0" indent="0">
                        <a:buNone/>
                      </a:pPr>
                      <a:r>
                        <a:rPr lang="en-US" sz="1200" dirty="0">
                          <a:solidFill>
                            <a:srgbClr val="1A1A1A"/>
                          </a:solidFill>
                          <a:latin typeface="Arial" pitchFamily="34" charset="0"/>
                          <a:ea typeface="Arial" pitchFamily="34" charset="-122"/>
                          <a:cs typeface="Arial" pitchFamily="34" charset="-120"/>
                        </a:rPr>
                        <a:t>Start speed and on-time tracking on the Bx8 and Q30</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09459">
                <a:tc>
                  <a:txBody>
                    <a:bodyPr/>
                    <a:lstStyle/>
                    <a:p>
                      <a:pPr marL="0" indent="0">
                        <a:buNone/>
                      </a:pPr>
                      <a:r>
                        <a:rPr lang="en-US" sz="1200" dirty="0">
                          <a:solidFill>
                            <a:srgbClr val="1A1A1A"/>
                          </a:solidFill>
                          <a:latin typeface="Arial" pitchFamily="34" charset="0"/>
                          <a:ea typeface="Arial" pitchFamily="34" charset="-122"/>
                          <a:cs typeface="Arial" pitchFamily="34" charset="-120"/>
                        </a:rPr>
                        <a:t>Design Q46 bus lanes and signal priority on Union Tpke</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09459">
                <a:tc>
                  <a:txBody>
                    <a:bodyPr/>
                    <a:lstStyle/>
                    <a:p>
                      <a:pPr marL="0" indent="0">
                        <a:buNone/>
                      </a:pPr>
                      <a:r>
                        <a:rPr lang="en-US" sz="1200" dirty="0">
                          <a:solidFill>
                            <a:srgbClr val="1A1A1A"/>
                          </a:solidFill>
                          <a:latin typeface="Arial" pitchFamily="34" charset="0"/>
                          <a:ea typeface="Arial" pitchFamily="34" charset="-122"/>
                          <a:cs typeface="Arial" pitchFamily="34" charset="-120"/>
                        </a:rPr>
                        <a:t>Audit walking routes to Q30 stops in Fresh Meadows</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509459">
                <a:tc>
                  <a:txBody>
                    <a:bodyPr/>
                    <a:lstStyle/>
                    <a:p>
                      <a:pPr marL="0" indent="0">
                        <a:buNone/>
                      </a:pPr>
                      <a:r>
                        <a:rPr lang="en-US" sz="1200" dirty="0">
                          <a:solidFill>
                            <a:srgbClr val="1A1A1A"/>
                          </a:solidFill>
                          <a:latin typeface="Arial" pitchFamily="34" charset="0"/>
                          <a:ea typeface="Arial" pitchFamily="34" charset="-122"/>
                          <a:cs typeface="Arial" pitchFamily="34" charset="-120"/>
                        </a:rPr>
                        <a:t>Baseline counts: ridership, car entries, control road</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509459">
                <a:tc>
                  <a:txBody>
                    <a:bodyPr/>
                    <a:lstStyle/>
                    <a:p>
                      <a:pPr marL="0" indent="0">
                        <a:buNone/>
                      </a:pPr>
                      <a:r>
                        <a:rPr lang="en-US" sz="1200" dirty="0">
                          <a:solidFill>
                            <a:srgbClr val="1A1A1A"/>
                          </a:solidFill>
                          <a:latin typeface="Arial" pitchFamily="34" charset="0"/>
                          <a:ea typeface="Arial" pitchFamily="34" charset="-122"/>
                          <a:cs typeface="Arial" pitchFamily="34" charset="-120"/>
                        </a:rPr>
                        <a:t>Confirm capital eligibility and cost estimates</a:t>
                      </a:r>
                      <a:endParaRPr lang="en-US" sz="1200" dirty="0">
                        <a:latin typeface="Arial" charset="0"/>
                        <a:ea typeface="Arial" charset="0"/>
                        <a:cs typeface="Arial" charset="0"/>
                      </a:endParaRPr>
                    </a:p>
                  </a:txBody>
                  <a:tcPr marL="101600" marR="101600" marT="76200" marB="7620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841248"/>
          </a:xfrm>
          <a:prstGeom prst="rect">
            <a:avLst/>
          </a:prstGeom>
          <a:noFill/>
          <a:ln/>
        </p:spPr>
        <p:txBody>
          <a:bodyPr wrap="square" lIns="0" tIns="0" rIns="0" bIns="0" rtlCol="0" anchor="t"/>
          <a:lstStyle/>
          <a:p>
            <a:pPr marL="0" indent="0" algn="l">
              <a:buNone/>
            </a:pPr>
            <a:r>
              <a:rPr lang="en-US" sz="2400" b="1" dirty="0">
                <a:solidFill>
                  <a:schemeClr val="tx1"/>
                </a:solidFill>
                <a:latin typeface="Arial" pitchFamily="34" charset="0"/>
                <a:ea typeface="Arial" pitchFamily="34" charset="-122"/>
                <a:cs typeface="Arial" pitchFamily="34" charset="-120"/>
              </a:rPr>
              <a:t>Highway speeds barely changed overall; the biggest slowdown came during roadwork</a:t>
            </a:r>
            <a:endParaRPr lang="en-US" sz="2400" dirty="0"/>
          </a:p>
        </p:txBody>
      </p:sp>
      <p:sp>
        <p:nvSpPr>
          <p:cNvPr id="3" name="Text 0"/>
          <p:cNvSpPr>
            <a:spLocks noGrp="1"/>
          </p:cNvSpPr>
          <p:nvPr>
            <p:ph type="body" idx="101" hasCustomPrompt="1"/>
          </p:nvPr>
        </p:nvSpPr>
        <p:spPr>
          <a:xfrm>
            <a:off x="548640" y="1298448"/>
            <a:ext cx="11094415" cy="347472"/>
          </a:xfrm>
          <a:prstGeom prst="rect">
            <a:avLst/>
          </a:prstGeom>
          <a:noFill/>
          <a:ln/>
        </p:spPr>
        <p:txBody>
          <a:bodyPr wrap="square" lIns="0" tIns="0" rIns="0" bIns="0" rtlCol="0" anchor="t"/>
          <a:lstStyle/>
          <a:p>
            <a:pPr marL="0" indent="0">
              <a:buNone/>
            </a:pPr>
            <a:r>
              <a:rPr lang="en-US" sz="1400" dirty="0">
                <a:solidFill>
                  <a:schemeClr val="accent4"/>
                </a:solidFill>
              </a:rPr>
              <a:t>80 links with good data (of 122 monitored), weekday mornings 7–10 a.m., March–June 2024 vs 2025.</a:t>
            </a:r>
            <a:endParaRPr lang="en-US" sz="1400" dirty="0"/>
          </a:p>
        </p:txBody>
      </p:sp>
      <p:pic>
        <p:nvPicPr>
          <p:cNvPr id="4" name="highway map" descr="Map of NYC highway links coloured by speed change: faster, little change, or slower"/>
          <p:cNvPicPr>
            <a:picLocks noChangeAspect="1"/>
          </p:cNvPicPr>
          <p:nvPr/>
        </p:nvPicPr>
        <p:blipFill>
          <a:blip r:embed="rId3"/>
          <a:stretch>
            <a:fillRect/>
          </a:stretch>
        </p:blipFill>
        <p:spPr>
          <a:xfrm>
            <a:off x="548640" y="1783080"/>
            <a:ext cx="4175912" cy="4206240"/>
          </a:xfrm>
          <a:prstGeom prst="rect">
            <a:avLst/>
          </a:prstGeom>
        </p:spPr>
      </p:pic>
      <p:sp>
        <p:nvSpPr>
          <p:cNvPr id="5" name="key"/>
          <p:cNvSpPr/>
          <p:nvPr/>
        </p:nvSpPr>
        <p:spPr>
          <a:xfrm>
            <a:off x="5181752" y="1883664"/>
            <a:ext cx="182880" cy="182880"/>
          </a:xfrm>
          <a:prstGeom prst="rect">
            <a:avLst/>
          </a:prstGeom>
          <a:solidFill>
            <a:srgbClr val="2B2B2B"/>
          </a:solidFill>
          <a:ln/>
        </p:spPr>
      </p:sp>
      <p:sp>
        <p:nvSpPr>
          <p:cNvPr id="6" name="Text 3"/>
          <p:cNvSpPr txBox="1"/>
          <p:nvPr/>
        </p:nvSpPr>
        <p:spPr>
          <a:xfrm>
            <a:off x="5547512" y="1783080"/>
            <a:ext cx="5181143" cy="384048"/>
          </a:xfrm>
          <a:prstGeom prst="rect">
            <a:avLst/>
          </a:prstGeom>
          <a:noFill/>
          <a:ln/>
        </p:spPr>
        <p:txBody>
          <a:bodyPr wrap="square" lIns="0" tIns="0" rIns="0" bIns="0" rtlCol="0" anchor="ctr"/>
          <a:lstStyle/>
          <a:p>
            <a:pPr marL="0" indent="0">
              <a:buNone/>
            </a:pPr>
            <a:r>
              <a:rPr lang="en-US" sz="1400" dirty="0">
                <a:solidFill>
                  <a:schemeClr val="tx1"/>
                </a:solidFill>
              </a:rPr>
              <a:t>Faster by more than 2 mph</a:t>
            </a:r>
            <a:endParaRPr lang="en-US" sz="1400" dirty="0"/>
          </a:p>
        </p:txBody>
      </p:sp>
      <p:sp>
        <p:nvSpPr>
          <p:cNvPr id="7" name="Text 4"/>
          <p:cNvSpPr txBox="1"/>
          <p:nvPr/>
        </p:nvSpPr>
        <p:spPr>
          <a:xfrm>
            <a:off x="10454335" y="1783080"/>
            <a:ext cx="1188720" cy="384048"/>
          </a:xfrm>
          <a:prstGeom prst="rect">
            <a:avLst/>
          </a:prstGeom>
          <a:noFill/>
          <a:ln/>
        </p:spPr>
        <p:txBody>
          <a:bodyPr wrap="square" lIns="0" tIns="0" rIns="0" bIns="0" rtlCol="0" anchor="ctr"/>
          <a:lstStyle/>
          <a:p>
            <a:pPr marL="0" indent="0" algn="r">
              <a:buNone/>
            </a:pPr>
            <a:r>
              <a:rPr lang="en-US" sz="1700" b="1" dirty="0">
                <a:solidFill>
                  <a:schemeClr val="tx1"/>
                </a:solidFill>
              </a:rPr>
              <a:t>13 links</a:t>
            </a:r>
            <a:endParaRPr lang="en-US" sz="1700" dirty="0"/>
          </a:p>
        </p:txBody>
      </p:sp>
      <p:sp>
        <p:nvSpPr>
          <p:cNvPr id="8" name="track"/>
          <p:cNvSpPr/>
          <p:nvPr/>
        </p:nvSpPr>
        <p:spPr>
          <a:xfrm>
            <a:off x="5547512" y="2221992"/>
            <a:ext cx="6095543" cy="73152"/>
          </a:xfrm>
          <a:prstGeom prst="rect">
            <a:avLst/>
          </a:prstGeom>
          <a:solidFill>
            <a:srgbClr val="E6E6E6"/>
          </a:solidFill>
          <a:ln/>
        </p:spPr>
      </p:sp>
      <p:sp>
        <p:nvSpPr>
          <p:cNvPr id="9" name="fill"/>
          <p:cNvSpPr/>
          <p:nvPr/>
        </p:nvSpPr>
        <p:spPr>
          <a:xfrm>
            <a:off x="5547512" y="2221992"/>
            <a:ext cx="990526" cy="73152"/>
          </a:xfrm>
          <a:prstGeom prst="rect">
            <a:avLst/>
          </a:prstGeom>
          <a:solidFill>
            <a:srgbClr val="2B2B2B"/>
          </a:solidFill>
          <a:ln/>
        </p:spPr>
      </p:sp>
      <p:sp>
        <p:nvSpPr>
          <p:cNvPr id="10" name="key"/>
          <p:cNvSpPr/>
          <p:nvPr/>
        </p:nvSpPr>
        <p:spPr>
          <a:xfrm>
            <a:off x="5181752" y="2542032"/>
            <a:ext cx="182880" cy="182880"/>
          </a:xfrm>
          <a:prstGeom prst="rect">
            <a:avLst/>
          </a:prstGeom>
          <a:solidFill>
            <a:srgbClr val="B8B8B8"/>
          </a:solidFill>
          <a:ln/>
        </p:spPr>
      </p:sp>
      <p:sp>
        <p:nvSpPr>
          <p:cNvPr id="11" name="Text 8"/>
          <p:cNvSpPr txBox="1"/>
          <p:nvPr/>
        </p:nvSpPr>
        <p:spPr>
          <a:xfrm>
            <a:off x="5547512" y="2441448"/>
            <a:ext cx="5181143" cy="384048"/>
          </a:xfrm>
          <a:prstGeom prst="rect">
            <a:avLst/>
          </a:prstGeom>
          <a:noFill/>
          <a:ln/>
        </p:spPr>
        <p:txBody>
          <a:bodyPr wrap="square" lIns="0" tIns="0" rIns="0" bIns="0" rtlCol="0" anchor="ctr"/>
          <a:lstStyle/>
          <a:p>
            <a:pPr marL="0" indent="0">
              <a:buNone/>
            </a:pPr>
            <a:r>
              <a:rPr lang="en-US" sz="1400" dirty="0">
                <a:solidFill>
                  <a:schemeClr val="tx1"/>
                </a:solidFill>
              </a:rPr>
              <a:t>Little change (within 2 mph)</a:t>
            </a:r>
            <a:endParaRPr lang="en-US" sz="1400" dirty="0"/>
          </a:p>
        </p:txBody>
      </p:sp>
      <p:sp>
        <p:nvSpPr>
          <p:cNvPr id="12" name="Text 9"/>
          <p:cNvSpPr txBox="1"/>
          <p:nvPr/>
        </p:nvSpPr>
        <p:spPr>
          <a:xfrm>
            <a:off x="10454335" y="2441448"/>
            <a:ext cx="1188720" cy="384048"/>
          </a:xfrm>
          <a:prstGeom prst="rect">
            <a:avLst/>
          </a:prstGeom>
          <a:noFill/>
          <a:ln/>
        </p:spPr>
        <p:txBody>
          <a:bodyPr wrap="square" lIns="0" tIns="0" rIns="0" bIns="0" rtlCol="0" anchor="ctr"/>
          <a:lstStyle/>
          <a:p>
            <a:pPr marL="0" indent="0" algn="r">
              <a:buNone/>
            </a:pPr>
            <a:r>
              <a:rPr lang="en-US" sz="1700" b="1" dirty="0">
                <a:solidFill>
                  <a:schemeClr val="tx1"/>
                </a:solidFill>
              </a:rPr>
              <a:t>45 links</a:t>
            </a:r>
            <a:endParaRPr lang="en-US" sz="1700" dirty="0"/>
          </a:p>
        </p:txBody>
      </p:sp>
      <p:sp>
        <p:nvSpPr>
          <p:cNvPr id="13" name="track"/>
          <p:cNvSpPr/>
          <p:nvPr/>
        </p:nvSpPr>
        <p:spPr>
          <a:xfrm>
            <a:off x="5547512" y="2880360"/>
            <a:ext cx="6095543" cy="73152"/>
          </a:xfrm>
          <a:prstGeom prst="rect">
            <a:avLst/>
          </a:prstGeom>
          <a:solidFill>
            <a:srgbClr val="E6E6E6"/>
          </a:solidFill>
          <a:ln/>
        </p:spPr>
      </p:sp>
      <p:sp>
        <p:nvSpPr>
          <p:cNvPr id="14" name="fill"/>
          <p:cNvSpPr/>
          <p:nvPr/>
        </p:nvSpPr>
        <p:spPr>
          <a:xfrm>
            <a:off x="5547512" y="2880360"/>
            <a:ext cx="3428743" cy="73152"/>
          </a:xfrm>
          <a:prstGeom prst="rect">
            <a:avLst/>
          </a:prstGeom>
          <a:solidFill>
            <a:srgbClr val="B8B8B8"/>
          </a:solidFill>
          <a:ln/>
        </p:spPr>
      </p:sp>
      <p:sp>
        <p:nvSpPr>
          <p:cNvPr id="15" name="key"/>
          <p:cNvSpPr/>
          <p:nvPr/>
        </p:nvSpPr>
        <p:spPr>
          <a:xfrm>
            <a:off x="5181752" y="3200400"/>
            <a:ext cx="182880" cy="182880"/>
          </a:xfrm>
          <a:prstGeom prst="rect">
            <a:avLst/>
          </a:prstGeom>
          <a:solidFill>
            <a:srgbClr val="C8532A"/>
          </a:solidFill>
          <a:ln/>
        </p:spPr>
      </p:sp>
      <p:sp>
        <p:nvSpPr>
          <p:cNvPr id="16" name="Text 13"/>
          <p:cNvSpPr txBox="1"/>
          <p:nvPr/>
        </p:nvSpPr>
        <p:spPr>
          <a:xfrm>
            <a:off x="5547512" y="3099816"/>
            <a:ext cx="5181143" cy="384048"/>
          </a:xfrm>
          <a:prstGeom prst="rect">
            <a:avLst/>
          </a:prstGeom>
          <a:noFill/>
          <a:ln/>
        </p:spPr>
        <p:txBody>
          <a:bodyPr wrap="square" lIns="0" tIns="0" rIns="0" bIns="0" rtlCol="0" anchor="ctr"/>
          <a:lstStyle/>
          <a:p>
            <a:pPr marL="0" indent="0">
              <a:buNone/>
            </a:pPr>
            <a:r>
              <a:rPr lang="en-US" sz="1400" dirty="0">
                <a:solidFill>
                  <a:schemeClr val="tx1"/>
                </a:solidFill>
              </a:rPr>
              <a:t>Slower by more than 2 mph</a:t>
            </a:r>
            <a:endParaRPr lang="en-US" sz="1400" dirty="0"/>
          </a:p>
        </p:txBody>
      </p:sp>
      <p:sp>
        <p:nvSpPr>
          <p:cNvPr id="17" name="Text 14"/>
          <p:cNvSpPr txBox="1"/>
          <p:nvPr/>
        </p:nvSpPr>
        <p:spPr>
          <a:xfrm>
            <a:off x="10454335" y="3099816"/>
            <a:ext cx="1188720" cy="384048"/>
          </a:xfrm>
          <a:prstGeom prst="rect">
            <a:avLst/>
          </a:prstGeom>
          <a:noFill/>
          <a:ln/>
        </p:spPr>
        <p:txBody>
          <a:bodyPr wrap="square" lIns="0" tIns="0" rIns="0" bIns="0" rtlCol="0" anchor="ctr"/>
          <a:lstStyle/>
          <a:p>
            <a:pPr marL="0" indent="0" algn="r">
              <a:buNone/>
            </a:pPr>
            <a:r>
              <a:rPr lang="en-US" sz="1700" b="1" dirty="0">
                <a:solidFill>
                  <a:schemeClr val="tx1"/>
                </a:solidFill>
              </a:rPr>
              <a:t>22 links</a:t>
            </a:r>
            <a:endParaRPr lang="en-US" sz="1700" dirty="0"/>
          </a:p>
        </p:txBody>
      </p:sp>
      <p:sp>
        <p:nvSpPr>
          <p:cNvPr id="18" name="track"/>
          <p:cNvSpPr/>
          <p:nvPr/>
        </p:nvSpPr>
        <p:spPr>
          <a:xfrm>
            <a:off x="5547512" y="3538728"/>
            <a:ext cx="6095543" cy="73152"/>
          </a:xfrm>
          <a:prstGeom prst="rect">
            <a:avLst/>
          </a:prstGeom>
          <a:solidFill>
            <a:srgbClr val="E6E6E6"/>
          </a:solidFill>
          <a:ln/>
        </p:spPr>
      </p:sp>
      <p:sp>
        <p:nvSpPr>
          <p:cNvPr id="19" name="fill"/>
          <p:cNvSpPr/>
          <p:nvPr/>
        </p:nvSpPr>
        <p:spPr>
          <a:xfrm>
            <a:off x="5547512" y="3538728"/>
            <a:ext cx="1676274" cy="73152"/>
          </a:xfrm>
          <a:prstGeom prst="rect">
            <a:avLst/>
          </a:prstGeom>
          <a:solidFill>
            <a:srgbClr val="C8532A"/>
          </a:solidFill>
          <a:ln/>
        </p:spPr>
      </p:sp>
      <p:sp>
        <p:nvSpPr>
          <p:cNvPr id="20" name="Text 17"/>
          <p:cNvSpPr txBox="1"/>
          <p:nvPr/>
        </p:nvSpPr>
        <p:spPr>
          <a:xfrm>
            <a:off x="5181752" y="3794760"/>
            <a:ext cx="6461303" cy="457200"/>
          </a:xfrm>
          <a:prstGeom prst="rect">
            <a:avLst/>
          </a:prstGeom>
          <a:noFill/>
          <a:ln/>
        </p:spPr>
        <p:txBody>
          <a:bodyPr wrap="square" lIns="0" tIns="0" rIns="0" bIns="0" rtlCol="0" anchor="ctr"/>
          <a:lstStyle/>
          <a:p>
            <a:pPr marL="0" indent="0">
              <a:buNone/>
            </a:pPr>
            <a:r>
              <a:rPr lang="en-US" sz="2200" b="1" dirty="0">
                <a:solidFill>
                  <a:srgbClr val="1A1A1A"/>
                </a:solidFill>
              </a:rPr>
              <a:t>−0.37 mph  </a:t>
            </a:r>
            <a:r>
              <a:rPr lang="en-US" sz="1400" dirty="0">
                <a:solidFill>
                  <a:srgbClr val="1A1A1A"/>
                </a:solidFill>
              </a:rPr>
              <a:t>median change across the 80 links</a:t>
            </a:r>
            <a:endParaRPr lang="en-US" sz="2200" dirty="0"/>
          </a:p>
        </p:txBody>
      </p:sp>
      <p:sp>
        <p:nvSpPr>
          <p:cNvPr id="21" name="panel"/>
          <p:cNvSpPr/>
          <p:nvPr/>
        </p:nvSpPr>
        <p:spPr>
          <a:xfrm>
            <a:off x="5181752" y="4434840"/>
            <a:ext cx="6461303" cy="777240"/>
          </a:xfrm>
          <a:prstGeom prst="rect">
            <a:avLst/>
          </a:prstGeom>
          <a:solidFill>
            <a:schemeClr val="bg2"/>
          </a:solidFill>
          <a:ln/>
        </p:spPr>
      </p:sp>
      <p:sp>
        <p:nvSpPr>
          <p:cNvPr id="22" name="Text 19"/>
          <p:cNvSpPr txBox="1"/>
          <p:nvPr/>
        </p:nvSpPr>
        <p:spPr>
          <a:xfrm>
            <a:off x="5410352" y="4526280"/>
            <a:ext cx="6004103" cy="594360"/>
          </a:xfrm>
          <a:prstGeom prst="rect">
            <a:avLst/>
          </a:prstGeom>
          <a:noFill/>
          <a:ln/>
        </p:spPr>
        <p:txBody>
          <a:bodyPr wrap="square" lIns="0" tIns="0" rIns="0" bIns="0" rtlCol="0" anchor="ctr"/>
          <a:lstStyle/>
          <a:p>
            <a:pPr marL="0" indent="0">
              <a:buNone/>
            </a:pPr>
            <a:r>
              <a:rPr lang="en-US" sz="1300" b="1" dirty="0">
                <a:solidFill>
                  <a:schemeClr val="tx1"/>
                </a:solidFill>
              </a:rPr>
              <a:t>BQE southbound: </a:t>
            </a:r>
            <a:r>
              <a:rPr lang="en-US" sz="1300" dirty="0">
                <a:solidFill>
                  <a:schemeClr val="tx1"/>
                </a:solidFill>
              </a:rPr>
              <a:t>42.2 → 21.5 mph (−49%) during deck repairs and lane closures. Not proven to be drivers avoiding the toll.</a:t>
            </a:r>
            <a:endParaRPr lang="en-US" sz="1300" dirty="0"/>
          </a:p>
        </p:txBody>
      </p:sp>
      <p:sp>
        <p:nvSpPr>
          <p:cNvPr id="23" name="Text 20"/>
          <p:cNvSpPr txBox="1"/>
          <p:nvPr/>
        </p:nvSpPr>
        <p:spPr>
          <a:xfrm>
            <a:off x="5181752" y="5440680"/>
            <a:ext cx="6461303" cy="365760"/>
          </a:xfrm>
          <a:prstGeom prst="rect">
            <a:avLst/>
          </a:prstGeom>
          <a:noFill/>
          <a:ln/>
        </p:spPr>
        <p:txBody>
          <a:bodyPr wrap="square" lIns="0" tIns="0" rIns="0" bIns="0" rtlCol="0" anchor="t"/>
          <a:lstStyle/>
          <a:p>
            <a:pPr marL="0" indent="0">
              <a:buNone/>
            </a:pPr>
            <a:r>
              <a:rPr lang="en-US" sz="1400" b="1" dirty="0">
                <a:solidFill>
                  <a:schemeClr val="tx1"/>
                </a:solidFill>
              </a:rPr>
              <a:t>No citywide gridlock, and no fix for local bottlenecks.</a:t>
            </a:r>
            <a:endParaRPr lang="en-US" sz="1400" dirty="0"/>
          </a:p>
        </p:txBody>
      </p:sp>
      <p:sp>
        <p:nvSpPr>
          <p:cNvPr id="24" name="source"/>
          <p:cNvSpPr txBox="1"/>
          <p:nvPr/>
        </p:nvSpPr>
        <p:spPr>
          <a:xfrm>
            <a:off x="548640" y="6272784"/>
            <a:ext cx="7863840" cy="411480"/>
          </a:xfrm>
          <a:prstGeom prst="rect">
            <a:avLst/>
          </a:prstGeom>
          <a:noFill/>
          <a:ln/>
        </p:spPr>
        <p:txBody>
          <a:bodyPr wrap="square" lIns="0" tIns="0" rIns="0" bIns="0" rtlCol="0" anchor="t"/>
          <a:lstStyle/>
          <a:p>
            <a:pPr marL="0" indent="0">
              <a:buNone/>
            </a:pPr>
            <a:r>
              <a:rPr lang="en-US" sz="900" dirty="0">
                <a:solidFill>
                  <a:schemeClr val="accent4"/>
                </a:solidFill>
              </a:rPr>
              <a:t>Source: NYC DOT traffic speed data (Socrata i4gi-tjb9), 86 weekdays per year; links kept only with at least 65 good days in both years.</a:t>
            </a:r>
            <a:endParaRPr lang="en-US" sz="900" dirty="0"/>
          </a:p>
        </p:txBody>
      </p:sp>
      <p:sp>
        <p:nvSpPr>
          <p:cNvPr id="25" name="exhibit link">
            <a:hlinkClick r:id="rId4" tooltip="Exhibit 2: highway speeds"/>
          </p:cNvPr>
          <p:cNvSpPr/>
          <p:nvPr/>
        </p:nvSpPr>
        <p:spPr>
          <a:xfrm>
            <a:off x="8641080" y="6291072"/>
            <a:ext cx="2514600" cy="310896"/>
          </a:xfrm>
          <a:prstGeom prst="rect">
            <a:avLst/>
          </a:prstGeom>
          <a:solidFill>
            <a:schemeClr val="accent1"/>
          </a:solidFill>
          <a:ln/>
        </p:spPr>
        <p:txBody>
          <a:bodyPr wrap="square" lIns="0" tIns="0" rIns="0" bIns="0" rtlCol="0" anchor="ctr"/>
          <a:lstStyle/>
          <a:p>
            <a:pPr marL="0" indent="0" algn="ctr">
              <a:buNone/>
            </a:pPr>
            <a:r>
              <a:rPr lang="en-US" sz="1100" b="1" u="sng" dirty="0">
                <a:solidFill>
                  <a:schemeClr val="bg1"/>
                </a:solidFill>
                <a:hlinkClick r:id="rId4" tooltip="Exhibit 2: highway speeds">
                  <a:extLst>
                    <a:ext uri="{A12FA001-AC4F-418D-AE19-62706E023703}">
                      <ahyp:hlinkClr xmlns:ahyp="http://schemas.microsoft.com/office/drawing/2018/hyperlinkcolor" val="tx"/>
                    </a:ext>
                  </a:extLst>
                </a:hlinkClick>
              </a:rPr>
              <a:t>Open interactive exhibit  ↗</a:t>
            </a:r>
            <a:endParaRPr lang="en-US" sz="1100" dirty="0"/>
          </a:p>
        </p:txBody>
      </p:sp>
      <p:sp>
        <p:nvSpPr>
          <p:cNvPr id="26" name="Slide Number Placeholder 0"/>
          <p:cNvSpPr>
            <a:spLocks noGrp="1"/>
          </p:cNvSpPr>
          <p:nvPr>
            <p:ph type="sldNum" sz="quarter" idx="4294967295"/>
          </p:nvPr>
        </p:nvSpPr>
        <p:spPr>
          <a:xfrm>
            <a:off x="11274552" y="6327648"/>
            <a:ext cx="36576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rgbClr val="5C5C5C"/>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NYC Mobility">
  <a:themeElements>
    <a:clrScheme name="NYC Mobility">
      <a:dk1>
        <a:srgbClr val="1A1A1A"/>
      </a:dk1>
      <a:lt1>
        <a:srgbClr val="FFFFFF"/>
      </a:lt1>
      <a:dk2>
        <a:srgbClr val="2B2B2B"/>
      </a:dk2>
      <a:lt2>
        <a:srgbClr val="F2F2F2"/>
      </a:lt2>
      <a:accent1>
        <a:srgbClr val="2B2B2B"/>
      </a:accent1>
      <a:accent2>
        <a:srgbClr val="C8532A"/>
      </a:accent2>
      <a:accent3>
        <a:srgbClr val="A8441F"/>
      </a:accent3>
      <a:accent4>
        <a:srgbClr val="5C5C5C"/>
      </a:accent4>
      <a:accent5>
        <a:srgbClr val="8A8A8A"/>
      </a:accent5>
      <a:accent6>
        <a:srgbClr val="B8B8B8"/>
      </a:accent6>
      <a:hlink>
        <a:srgbClr val="C8532A"/>
      </a:hlink>
      <a:folHlink>
        <a:srgbClr val="5C5C5C"/>
      </a:folHlink>
    </a:clrScheme>
    <a:fontScheme name="NYC Mo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2435</Words>
  <Application>Microsoft Office PowerPoint</Application>
  <PresentationFormat>Widescreen</PresentationFormat>
  <Paragraphs>216</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NYC Mobility</vt:lpstr>
      <vt:lpstr>NYC congestion pricing: where transit should improve next</vt:lpstr>
      <vt:lpstr>Four questions this briefing answers</vt:lpstr>
      <vt:lpstr>Congestion pricing is working; the next step is a phased transit pilot, starting in Eastern Queens</vt:lpstr>
      <vt:lpstr>Congestion pricing cut daily vehicle entries into the zone by about 11% in its first six months</vt:lpstr>
      <vt:lpstr>Brooklyn and Queens hold most Manhattan jobs, but the Bronx makes the most car trips into Manhattan</vt:lpstr>
      <vt:lpstr>Three areas combine car use, Manhattan jobs and slow transit; Eastern Queens has the most jobs, the East Bronx the most driving</vt:lpstr>
      <vt:lpstr>Transit trips take about an hour, and walking and waiting take 13–22 minutes of each one</vt:lpstr>
      <vt:lpstr>The two feeder buses that matter most, the Q30 and Bx8, have never been measured</vt:lpstr>
      <vt:lpstr>Each area needs a different fix; the two Eastern Queens projects are ready to start first</vt:lpstr>
      <vt:lpstr>On Union Turnpike, faster buses and easier transfers would save 6–12.5 minutes a trip in a model test</vt:lpstr>
      <vt:lpstr>Three decisions today would let work start within 90 days</vt:lpstr>
      <vt:lpstr>Highway speeds barely changed overall; the biggest slowdown came during roadwork</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Mobility Strategy</dc:title>
  <dc:subject>PptxGenJS Presentation</dc:subject>
  <dc:creator>PptxGenJS</dc:creator>
  <cp:lastModifiedBy>LENOVO</cp:lastModifiedBy>
  <cp:revision>2</cp:revision>
  <dcterms:created xsi:type="dcterms:W3CDTF">2026-10-15T13:17:09Z</dcterms:created>
  <dcterms:modified xsi:type="dcterms:W3CDTF">2026-10-15T15:29:53Z</dcterms:modified>
</cp:coreProperties>
</file>